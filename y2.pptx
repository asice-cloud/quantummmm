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26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5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s/slide13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22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23.xml" ContentType="application/vnd.openxmlformats-officedocument.presentationml.slide+xml"/>
  <Override PartName="/ppt/slides/slide26.xml" ContentType="application/vnd.openxmlformats-officedocument.presentationml.slide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30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12192000" cy="6858000"/>
  <p:notesSz cx="6858000" cy="9144000"/>
  <p:defaultTextStyle>
    <a:defPPr>
      <a:defRPr lang="zh-CN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86" d="100"/>
          <a:sy n="86" d="100"/>
        </p:scale>
        <p:origin x="562" y="67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 /><Relationship Id="rId32" Type="http://schemas.openxmlformats.org/officeDocument/2006/relationships/tableStyles" Target="tableStyles.xml" /><Relationship Id="rId33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7690883" name="页眉占位符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2036860359" name="日期占位符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6382FE30-D1CB-4640-A759-810F00360910}" type="datetimeFigureOut">
              <a:rPr lang="zh-CN"/>
              <a:t>2022/6/24</a:t>
            </a:fld>
            <a:endParaRPr lang="zh-CN"/>
          </a:p>
        </p:txBody>
      </p:sp>
      <p:sp>
        <p:nvSpPr>
          <p:cNvPr id="728414178" name="幻灯片图像占位符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zh-CN"/>
          </a:p>
        </p:txBody>
      </p:sp>
      <p:sp>
        <p:nvSpPr>
          <p:cNvPr id="1245821909" name="备注占位符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zh-CN"/>
              <a:t>编辑母版文本样式</a:t>
            </a:r>
            <a:endParaRPr/>
          </a:p>
          <a:p>
            <a:pPr lvl="1">
              <a:defRPr/>
            </a:pPr>
            <a:r>
              <a:rPr lang="zh-CN"/>
              <a:t>第二级</a:t>
            </a:r>
            <a:endParaRPr/>
          </a:p>
          <a:p>
            <a:pPr lvl="2">
              <a:defRPr/>
            </a:pPr>
            <a:r>
              <a:rPr lang="zh-CN"/>
              <a:t>第三级</a:t>
            </a:r>
            <a:endParaRPr/>
          </a:p>
          <a:p>
            <a:pPr lvl="3">
              <a:defRPr/>
            </a:pPr>
            <a:r>
              <a:rPr lang="zh-CN"/>
              <a:t>第四级</a:t>
            </a:r>
            <a:endParaRPr/>
          </a:p>
          <a:p>
            <a:pPr lvl="4">
              <a:defRPr/>
            </a:pPr>
            <a:r>
              <a:rPr lang="zh-CN"/>
              <a:t>第五级</a:t>
            </a:r>
            <a:endParaRPr/>
          </a:p>
        </p:txBody>
      </p:sp>
      <p:sp>
        <p:nvSpPr>
          <p:cNvPr id="482495557" name="页脚占位符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181592083" name="灯片编号占位符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024435C-6EC0-481B-A838-74E1A0E375B9}" type="slidenum">
              <a:rPr lang="zh-CN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 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 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14021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686194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97584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BAEE65-8045-A9B3-FD2E-2F89AA941D8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9163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946791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52120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C37281-EDF7-3A5F-D467-6A2C92C0A79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23819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8850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2947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7B2519-3C56-F9A9-3951-EEE60B8259C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01308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886753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7597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03C45F-358F-6D6D-FCC7-4B5FD4D51A7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625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959902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939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D0071E-26B0-1959-20F5-4F813143B59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904214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64765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7068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7A5858-B282-1531-0FB3-E460877B49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29938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280927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8715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75DE5D1-20B4-5255-B211-67DDCA7677B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98637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70776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9805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4AB0D4-CC30-9396-13D3-DF7F9DF55BF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82526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92865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48970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E267DC9-2837-32EE-1ABC-E67EC3694ED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96269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584507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66365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E103DA7-9DB3-3B02-6ABD-4F6904C4B49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5153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983404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29182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E8F061-323E-9348-A1A2-F9DFC0B5AF2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39728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006533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214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17DCCC-11E1-DB6F-3C8D-FEFE53AA95F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90881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046125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38277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3605F4-1AF2-E27F-EEFD-D067B5AC135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8267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47682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583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CC27D5-5D22-EECF-C31F-E7333DC8101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64883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109434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20676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032C3B-1BD9-27BA-EA21-086304F1511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57067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47801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08686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D2645-33AF-77F3-C743-AACE7727C8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4121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382561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92797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9744E73-1F52-B22C-55CF-4682888914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99721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55336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2425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E0EF37-8CED-B8D6-2726-67713AE9A78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00331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811073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34003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7DA659-02E4-C9F6-2ABC-C7A748861D4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30572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458477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0535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98415-3EE0-9F38-6CCC-138E6CFD48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2567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442353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1718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21A61B-4CB7-194F-752D-5FE1D5A94BF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5914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13865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6971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F79425-5F70-D646-6A3A-CED647B7860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01874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15101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810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9A30FA-05AE-F1BC-6582-9F22F9F31D6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46736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684541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22031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6BDE0A-F97B-9D77-8572-B551FBA7416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17933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419376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353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A83F18-9D26-97D3-D408-0CCFE17B9C8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27003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011086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9428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AFF81C-1241-BD30-9D38-F0DE66F39E5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标题幻灯片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0067265" name="矩形 1"/>
          <p:cNvSpPr/>
          <p:nvPr userDrawn="1"/>
        </p:nvSpPr>
        <p:spPr bwMode="auto">
          <a:xfrm>
            <a:off x="3835400" y="0"/>
            <a:ext cx="4521200" cy="182880"/>
          </a:xfrm>
          <a:prstGeom prst="rect">
            <a:avLst/>
          </a:prstGeom>
          <a:solidFill>
            <a:srgbClr val="2B77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自定义版式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4330354" name="矩形 17"/>
          <p:cNvSpPr/>
          <p:nvPr/>
        </p:nvSpPr>
        <p:spPr bwMode="auto">
          <a:xfrm>
            <a:off x="0" y="0"/>
            <a:ext cx="4793942" cy="6858000"/>
          </a:xfrm>
          <a:prstGeom prst="rect">
            <a:avLst/>
          </a:prstGeom>
          <a:blipFill rotWithShape="1">
            <a:blip r:embed="rId3"/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/>
          </a:p>
        </p:txBody>
      </p:sp>
      <p:sp>
        <p:nvSpPr>
          <p:cNvPr id="1134197688" name="矩形 22"/>
          <p:cNvSpPr/>
          <p:nvPr/>
        </p:nvSpPr>
        <p:spPr bwMode="auto">
          <a:xfrm>
            <a:off x="0" y="1"/>
            <a:ext cx="4793942" cy="6857999"/>
          </a:xfrm>
          <a:prstGeom prst="rect">
            <a:avLst/>
          </a:prstGeom>
          <a:blipFill rotWithShape="1">
            <a:blip r:embed="rId4">
              <a:alphaModFix amt="86000"/>
            </a:blip>
            <a:stretch>
              <a:fillRect l="-52412" t="0" r="-142586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sz="1800" b="1" i="0" u="none" strike="noStrike" cap="none" spc="0">
              <a:ln>
                <a:noFill/>
              </a:ln>
              <a:solidFill>
                <a:srgbClr val="0070C0"/>
              </a:solidFill>
              <a:latin typeface="微软雅黑"/>
              <a:ea typeface="微软雅黑"/>
              <a:cs typeface="+mn-cs"/>
            </a:endParaRPr>
          </a:p>
        </p:txBody>
      </p:sp>
      <p:grpSp>
        <p:nvGrpSpPr>
          <p:cNvPr id="804525007" name="组合 2"/>
          <p:cNvGrpSpPr/>
          <p:nvPr/>
        </p:nvGrpSpPr>
        <p:grpSpPr bwMode="auto">
          <a:xfrm>
            <a:off x="488304" y="1569098"/>
            <a:ext cx="3455807" cy="3408168"/>
            <a:chOff x="-9050" y="2167639"/>
            <a:chExt cx="3455807" cy="3408168"/>
          </a:xfrm>
          <a:solidFill>
            <a:schemeClr val="bg1"/>
          </a:solidFill>
        </p:grpSpPr>
        <p:grpSp>
          <p:nvGrpSpPr>
            <p:cNvPr id="4" name="组合 3"/>
            <p:cNvGrpSpPr/>
            <p:nvPr/>
          </p:nvGrpSpPr>
          <p:grpSpPr bwMode="auto">
            <a:xfrm>
              <a:off x="734486" y="2167639"/>
              <a:ext cx="2487741" cy="2288124"/>
              <a:chOff x="8374817" y="3976831"/>
              <a:chExt cx="719115" cy="661413"/>
            </a:xfrm>
            <a:grpFill/>
          </p:grpSpPr>
          <p:sp>
            <p:nvSpPr>
              <p:cNvPr id="6" name="Freeform 44"/>
              <p:cNvSpPr/>
              <p:nvPr/>
            </p:nvSpPr>
            <p:spPr bwMode="auto">
              <a:xfrm>
                <a:off x="9018919" y="4072040"/>
                <a:ext cx="75013" cy="68522"/>
              </a:xfrm>
              <a:custGeom>
                <a:avLst/>
                <a:gdLst>
                  <a:gd name="T0" fmla="*/ 28 w 44"/>
                  <a:gd name="T1" fmla="*/ 11 h 40"/>
                  <a:gd name="T2" fmla="*/ 0 w 44"/>
                  <a:gd name="T3" fmla="*/ 18 h 40"/>
                  <a:gd name="T4" fmla="*/ 31 w 44"/>
                  <a:gd name="T5" fmla="*/ 40 h 40"/>
                  <a:gd name="T6" fmla="*/ 28 w 44"/>
                  <a:gd name="T7" fmla="*/ 11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0" fill="norm" stroke="1" extrusionOk="0">
                    <a:moveTo>
                      <a:pt x="28" y="11"/>
                    </a:moveTo>
                    <a:cubicBezTo>
                      <a:pt x="13" y="0"/>
                      <a:pt x="0" y="18"/>
                      <a:pt x="0" y="18"/>
                    </a:cubicBezTo>
                    <a:cubicBezTo>
                      <a:pt x="31" y="40"/>
                      <a:pt x="31" y="40"/>
                      <a:pt x="31" y="40"/>
                    </a:cubicBezTo>
                    <a:cubicBezTo>
                      <a:pt x="31" y="40"/>
                      <a:pt x="44" y="22"/>
                      <a:pt x="28" y="1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7" name="Freeform 45"/>
              <p:cNvSpPr/>
              <p:nvPr/>
            </p:nvSpPr>
            <p:spPr bwMode="auto">
              <a:xfrm>
                <a:off x="8831387" y="4116759"/>
                <a:ext cx="230088" cy="284184"/>
              </a:xfrm>
              <a:custGeom>
                <a:avLst/>
                <a:gdLst>
                  <a:gd name="T0" fmla="*/ 187 w 319"/>
                  <a:gd name="T1" fmla="*/ 85 h 394"/>
                  <a:gd name="T2" fmla="*/ 156 w 319"/>
                  <a:gd name="T3" fmla="*/ 125 h 394"/>
                  <a:gd name="T4" fmla="*/ 104 w 319"/>
                  <a:gd name="T5" fmla="*/ 198 h 394"/>
                  <a:gd name="T6" fmla="*/ 0 w 319"/>
                  <a:gd name="T7" fmla="*/ 342 h 394"/>
                  <a:gd name="T8" fmla="*/ 74 w 319"/>
                  <a:gd name="T9" fmla="*/ 394 h 394"/>
                  <a:gd name="T10" fmla="*/ 104 w 319"/>
                  <a:gd name="T11" fmla="*/ 352 h 394"/>
                  <a:gd name="T12" fmla="*/ 130 w 319"/>
                  <a:gd name="T13" fmla="*/ 314 h 394"/>
                  <a:gd name="T14" fmla="*/ 156 w 319"/>
                  <a:gd name="T15" fmla="*/ 276 h 394"/>
                  <a:gd name="T16" fmla="*/ 319 w 319"/>
                  <a:gd name="T17" fmla="*/ 52 h 394"/>
                  <a:gd name="T18" fmla="*/ 248 w 319"/>
                  <a:gd name="T19" fmla="*/ 0 h 394"/>
                  <a:gd name="T20" fmla="*/ 187 w 319"/>
                  <a:gd name="T21" fmla="*/ 85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319" h="394" fill="norm" stroke="1" extrusionOk="0">
                    <a:moveTo>
                      <a:pt x="187" y="85"/>
                    </a:moveTo>
                    <a:lnTo>
                      <a:pt x="156" y="125"/>
                    </a:lnTo>
                    <a:lnTo>
                      <a:pt x="104" y="198"/>
                    </a:lnTo>
                    <a:lnTo>
                      <a:pt x="0" y="342"/>
                    </a:lnTo>
                    <a:lnTo>
                      <a:pt x="74" y="394"/>
                    </a:lnTo>
                    <a:lnTo>
                      <a:pt x="104" y="352"/>
                    </a:lnTo>
                    <a:lnTo>
                      <a:pt x="130" y="314"/>
                    </a:lnTo>
                    <a:lnTo>
                      <a:pt x="156" y="276"/>
                    </a:lnTo>
                    <a:lnTo>
                      <a:pt x="319" y="52"/>
                    </a:lnTo>
                    <a:lnTo>
                      <a:pt x="248" y="0"/>
                    </a:lnTo>
                    <a:lnTo>
                      <a:pt x="187" y="85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8" name="Freeform 46"/>
              <p:cNvSpPr/>
              <p:nvPr/>
            </p:nvSpPr>
            <p:spPr bwMode="auto">
              <a:xfrm>
                <a:off x="8374817" y="3976831"/>
                <a:ext cx="569090" cy="661413"/>
              </a:xfrm>
              <a:custGeom>
                <a:avLst/>
                <a:gdLst>
                  <a:gd name="T0" fmla="*/ 312 w 334"/>
                  <a:gd name="T1" fmla="*/ 348 h 388"/>
                  <a:gd name="T2" fmla="*/ 293 w 334"/>
                  <a:gd name="T3" fmla="*/ 366 h 388"/>
                  <a:gd name="T4" fmla="*/ 40 w 334"/>
                  <a:gd name="T5" fmla="*/ 366 h 388"/>
                  <a:gd name="T6" fmla="*/ 22 w 334"/>
                  <a:gd name="T7" fmla="*/ 348 h 388"/>
                  <a:gd name="T8" fmla="*/ 22 w 334"/>
                  <a:gd name="T9" fmla="*/ 41 h 388"/>
                  <a:gd name="T10" fmla="*/ 40 w 334"/>
                  <a:gd name="T11" fmla="*/ 23 h 388"/>
                  <a:gd name="T12" fmla="*/ 293 w 334"/>
                  <a:gd name="T13" fmla="*/ 23 h 388"/>
                  <a:gd name="T14" fmla="*/ 312 w 334"/>
                  <a:gd name="T15" fmla="*/ 41 h 388"/>
                  <a:gd name="T16" fmla="*/ 312 w 334"/>
                  <a:gd name="T17" fmla="*/ 140 h 388"/>
                  <a:gd name="T18" fmla="*/ 334 w 334"/>
                  <a:gd name="T19" fmla="*/ 109 h 388"/>
                  <a:gd name="T20" fmla="*/ 334 w 334"/>
                  <a:gd name="T21" fmla="*/ 21 h 388"/>
                  <a:gd name="T22" fmla="*/ 313 w 334"/>
                  <a:gd name="T23" fmla="*/ 0 h 388"/>
                  <a:gd name="T24" fmla="*/ 21 w 334"/>
                  <a:gd name="T25" fmla="*/ 0 h 388"/>
                  <a:gd name="T26" fmla="*/ 0 w 334"/>
                  <a:gd name="T27" fmla="*/ 21 h 388"/>
                  <a:gd name="T28" fmla="*/ 0 w 334"/>
                  <a:gd name="T29" fmla="*/ 368 h 388"/>
                  <a:gd name="T30" fmla="*/ 21 w 334"/>
                  <a:gd name="T31" fmla="*/ 388 h 388"/>
                  <a:gd name="T32" fmla="*/ 313 w 334"/>
                  <a:gd name="T33" fmla="*/ 388 h 388"/>
                  <a:gd name="T34" fmla="*/ 334 w 334"/>
                  <a:gd name="T35" fmla="*/ 368 h 388"/>
                  <a:gd name="T36" fmla="*/ 334 w 334"/>
                  <a:gd name="T37" fmla="*/ 223 h 388"/>
                  <a:gd name="T38" fmla="*/ 312 w 334"/>
                  <a:gd name="T39" fmla="*/ 254 h 388"/>
                  <a:gd name="T40" fmla="*/ 312 w 334"/>
                  <a:gd name="T41" fmla="*/ 348 h 3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334" h="388" fill="norm" stroke="1" extrusionOk="0">
                    <a:moveTo>
                      <a:pt x="312" y="348"/>
                    </a:moveTo>
                    <a:cubicBezTo>
                      <a:pt x="312" y="358"/>
                      <a:pt x="303" y="366"/>
                      <a:pt x="293" y="366"/>
                    </a:cubicBezTo>
                    <a:cubicBezTo>
                      <a:pt x="40" y="366"/>
                      <a:pt x="40" y="366"/>
                      <a:pt x="40" y="366"/>
                    </a:cubicBezTo>
                    <a:cubicBezTo>
                      <a:pt x="30" y="366"/>
                      <a:pt x="22" y="358"/>
                      <a:pt x="22" y="348"/>
                    </a:cubicBezTo>
                    <a:cubicBezTo>
                      <a:pt x="22" y="41"/>
                      <a:pt x="22" y="41"/>
                      <a:pt x="22" y="41"/>
                    </a:cubicBezTo>
                    <a:cubicBezTo>
                      <a:pt x="22" y="31"/>
                      <a:pt x="30" y="23"/>
                      <a:pt x="40" y="23"/>
                    </a:cubicBezTo>
                    <a:cubicBezTo>
                      <a:pt x="293" y="23"/>
                      <a:pt x="293" y="23"/>
                      <a:pt x="293" y="23"/>
                    </a:cubicBezTo>
                    <a:cubicBezTo>
                      <a:pt x="303" y="23"/>
                      <a:pt x="312" y="31"/>
                      <a:pt x="312" y="41"/>
                    </a:cubicBezTo>
                    <a:cubicBezTo>
                      <a:pt x="312" y="140"/>
                      <a:pt x="312" y="140"/>
                      <a:pt x="312" y="140"/>
                    </a:cubicBezTo>
                    <a:cubicBezTo>
                      <a:pt x="334" y="109"/>
                      <a:pt x="334" y="109"/>
                      <a:pt x="334" y="109"/>
                    </a:cubicBezTo>
                    <a:cubicBezTo>
                      <a:pt x="334" y="21"/>
                      <a:pt x="334" y="21"/>
                      <a:pt x="334" y="21"/>
                    </a:cubicBezTo>
                    <a:cubicBezTo>
                      <a:pt x="334" y="10"/>
                      <a:pt x="325" y="0"/>
                      <a:pt x="313" y="0"/>
                    </a:cubicBezTo>
                    <a:cubicBezTo>
                      <a:pt x="21" y="0"/>
                      <a:pt x="21" y="0"/>
                      <a:pt x="21" y="0"/>
                    </a:cubicBezTo>
                    <a:cubicBezTo>
                      <a:pt x="9" y="0"/>
                      <a:pt x="0" y="10"/>
                      <a:pt x="0" y="21"/>
                    </a:cubicBezTo>
                    <a:cubicBezTo>
                      <a:pt x="0" y="368"/>
                      <a:pt x="0" y="368"/>
                      <a:pt x="0" y="368"/>
                    </a:cubicBezTo>
                    <a:cubicBezTo>
                      <a:pt x="0" y="379"/>
                      <a:pt x="9" y="388"/>
                      <a:pt x="21" y="388"/>
                    </a:cubicBezTo>
                    <a:cubicBezTo>
                      <a:pt x="313" y="388"/>
                      <a:pt x="313" y="388"/>
                      <a:pt x="313" y="388"/>
                    </a:cubicBezTo>
                    <a:cubicBezTo>
                      <a:pt x="325" y="388"/>
                      <a:pt x="334" y="379"/>
                      <a:pt x="334" y="368"/>
                    </a:cubicBezTo>
                    <a:cubicBezTo>
                      <a:pt x="334" y="223"/>
                      <a:pt x="334" y="223"/>
                      <a:pt x="334" y="223"/>
                    </a:cubicBezTo>
                    <a:cubicBezTo>
                      <a:pt x="312" y="254"/>
                      <a:pt x="312" y="254"/>
                      <a:pt x="312" y="254"/>
                    </a:cubicBezTo>
                    <a:lnTo>
                      <a:pt x="312" y="348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9" name="Freeform 47"/>
              <p:cNvSpPr/>
              <p:nvPr/>
            </p:nvSpPr>
            <p:spPr bwMode="auto">
              <a:xfrm>
                <a:off x="8806142" y="4377142"/>
                <a:ext cx="67800" cy="77177"/>
              </a:xfrm>
              <a:custGeom>
                <a:avLst/>
                <a:gdLst>
                  <a:gd name="T0" fmla="*/ 21 w 94"/>
                  <a:gd name="T1" fmla="*/ 0 h 107"/>
                  <a:gd name="T2" fmla="*/ 0 w 94"/>
                  <a:gd name="T3" fmla="*/ 107 h 107"/>
                  <a:gd name="T4" fmla="*/ 94 w 94"/>
                  <a:gd name="T5" fmla="*/ 52 h 107"/>
                  <a:gd name="T6" fmla="*/ 21 w 94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107" fill="norm" stroke="1" extrusionOk="0">
                    <a:moveTo>
                      <a:pt x="21" y="0"/>
                    </a:moveTo>
                    <a:lnTo>
                      <a:pt x="0" y="107"/>
                    </a:lnTo>
                    <a:lnTo>
                      <a:pt x="94" y="52"/>
                    </a:lnTo>
                    <a:lnTo>
                      <a:pt x="21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0" name="Rectangle 48"/>
              <p:cNvSpPr>
                <a:spLocks noChangeArrowheads="1"/>
              </p:cNvSpPr>
              <p:nvPr/>
            </p:nvSpPr>
            <p:spPr bwMode="auto">
              <a:xfrm>
                <a:off x="8459928" y="4504808"/>
                <a:ext cx="296223" cy="34621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1" name="Rectangle 49"/>
              <p:cNvSpPr>
                <a:spLocks noChangeArrowheads="1"/>
              </p:cNvSpPr>
              <p:nvPr/>
            </p:nvSpPr>
            <p:spPr bwMode="auto">
              <a:xfrm>
                <a:off x="8459928" y="4428352"/>
                <a:ext cx="296223" cy="3390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2" name="Rectangle 50"/>
              <p:cNvSpPr>
                <a:spLocks noChangeArrowheads="1"/>
              </p:cNvSpPr>
              <p:nvPr/>
            </p:nvSpPr>
            <p:spPr bwMode="auto">
              <a:xfrm>
                <a:off x="8459928" y="4354782"/>
                <a:ext cx="296223" cy="32458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3" name="Rectangle 51"/>
              <p:cNvSpPr>
                <a:spLocks noChangeArrowheads="1"/>
              </p:cNvSpPr>
              <p:nvPr/>
            </p:nvSpPr>
            <p:spPr bwMode="auto">
              <a:xfrm>
                <a:off x="8459928" y="4278326"/>
                <a:ext cx="296223" cy="32458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4" name="Rectangle 52"/>
              <p:cNvSpPr>
                <a:spLocks noChangeArrowheads="1"/>
              </p:cNvSpPr>
              <p:nvPr/>
            </p:nvSpPr>
            <p:spPr bwMode="auto">
              <a:xfrm>
                <a:off x="8459928" y="4201870"/>
                <a:ext cx="296223" cy="3390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5" name="Rectangle 53"/>
              <p:cNvSpPr>
                <a:spLocks noChangeArrowheads="1"/>
              </p:cNvSpPr>
              <p:nvPr/>
            </p:nvSpPr>
            <p:spPr bwMode="auto">
              <a:xfrm>
                <a:off x="8459928" y="4124694"/>
                <a:ext cx="296223" cy="34621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</p:grpSp>
        <p:sp>
          <p:nvSpPr>
            <p:cNvPr id="5" name="TextBox 59"/>
            <p:cNvSpPr>
              <a:spLocks noChangeArrowheads="1"/>
            </p:cNvSpPr>
            <p:nvPr/>
          </p:nvSpPr>
          <p:spPr bwMode="auto">
            <a:xfrm flipH="1">
              <a:off x="-9050" y="4652477"/>
              <a:ext cx="3455807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/>
                  <a:ea typeface="宋体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/>
                  <a:ea typeface="宋体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/>
                  <a:ea typeface="宋体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/>
                  <a:ea typeface="宋体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/>
                  <a:ea typeface="宋体"/>
                </a:defRPr>
              </a:lvl5pPr>
              <a:lvl6pPr marL="2514600" indent="-228600">
                <a:spcBef>
                  <a:spcPts val="0"/>
                </a:spcBef>
                <a:spcAft>
                  <a:spcPts val="0"/>
                </a:spcAft>
                <a:buFont typeface="Arial"/>
                <a:defRPr>
                  <a:solidFill>
                    <a:schemeClr val="tx1"/>
                  </a:solidFill>
                  <a:latin typeface="Arial"/>
                  <a:ea typeface="宋体"/>
                </a:defRPr>
              </a:lvl6pPr>
              <a:lvl7pPr marL="2971800" indent="-228600">
                <a:spcBef>
                  <a:spcPts val="0"/>
                </a:spcBef>
                <a:spcAft>
                  <a:spcPts val="0"/>
                </a:spcAft>
                <a:buFont typeface="Arial"/>
                <a:defRPr>
                  <a:solidFill>
                    <a:schemeClr val="tx1"/>
                  </a:solidFill>
                  <a:latin typeface="Arial"/>
                  <a:ea typeface="宋体"/>
                </a:defRPr>
              </a:lvl7pPr>
              <a:lvl8pPr marL="3429000" indent="-228600">
                <a:spcBef>
                  <a:spcPts val="0"/>
                </a:spcBef>
                <a:spcAft>
                  <a:spcPts val="0"/>
                </a:spcAft>
                <a:buFont typeface="Arial"/>
                <a:defRPr>
                  <a:solidFill>
                    <a:schemeClr val="tx1"/>
                  </a:solidFill>
                  <a:latin typeface="Arial"/>
                  <a:ea typeface="宋体"/>
                </a:defRPr>
              </a:lvl8pPr>
              <a:lvl9pPr marL="3886200" indent="-228600">
                <a:spcBef>
                  <a:spcPts val="0"/>
                </a:spcBef>
                <a:spcAft>
                  <a:spcPts val="0"/>
                </a:spcAft>
                <a:buFont typeface="Arial"/>
                <a:defRPr>
                  <a:solidFill>
                    <a:schemeClr val="tx1"/>
                  </a:solidFill>
                  <a:latin typeface="Arial"/>
                  <a:ea typeface="宋体"/>
                </a:defRPr>
              </a:lvl9pPr>
            </a:lstStyle>
            <a:p>
              <a:pPr marL="0" marR="0" lvl="0" indent="0" algn="ctr" defTabSz="91440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5400" b="1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David"/>
                </a:rPr>
                <a:t>CONTENTS </a:t>
              </a:r>
              <a:endParaRPr/>
            </a:p>
          </p:txBody>
        </p:sp>
      </p:grpSp>
      <p:sp>
        <p:nvSpPr>
          <p:cNvPr id="1527126688" name="Oval 4"/>
          <p:cNvSpPr/>
          <p:nvPr/>
        </p:nvSpPr>
        <p:spPr bwMode="auto">
          <a:xfrm>
            <a:off x="6595515" y="1925393"/>
            <a:ext cx="749367" cy="749367"/>
          </a:xfrm>
          <a:prstGeom prst="ellipse">
            <a:avLst/>
          </a:prstGeo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prstClr val="white"/>
                </a:solidFill>
                <a:latin typeface="Arial Black"/>
                <a:ea typeface="字魂59号-创粗黑"/>
                <a:cs typeface="+mn-cs"/>
              </a:rPr>
              <a:t>1</a:t>
            </a:r>
            <a:endParaRPr lang="id-ID" sz="3200" b="1" i="0" u="none" strike="noStrike" cap="none" spc="0">
              <a:ln>
                <a:noFill/>
              </a:ln>
              <a:solidFill>
                <a:prstClr val="white"/>
              </a:solidFill>
              <a:latin typeface="Arial Black"/>
              <a:ea typeface="字魂59号-创粗黑"/>
              <a:cs typeface="+mn-cs"/>
            </a:endParaRPr>
          </a:p>
        </p:txBody>
      </p:sp>
      <p:sp>
        <p:nvSpPr>
          <p:cNvPr id="2128327035" name="Oval 4"/>
          <p:cNvSpPr/>
          <p:nvPr/>
        </p:nvSpPr>
        <p:spPr bwMode="auto">
          <a:xfrm>
            <a:off x="6595515" y="3103973"/>
            <a:ext cx="749367" cy="749367"/>
          </a:xfrm>
          <a:prstGeom prst="ellipse">
            <a:avLst/>
          </a:prstGeo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prstClr val="white"/>
                </a:solidFill>
                <a:latin typeface="Arial Black"/>
                <a:ea typeface="字魂59号-创粗黑"/>
                <a:cs typeface="+mn-cs"/>
              </a:rPr>
              <a:t>2</a:t>
            </a:r>
            <a:endParaRPr lang="id-ID" sz="3200" b="1" i="0" u="none" strike="noStrike" cap="none" spc="0">
              <a:ln>
                <a:noFill/>
              </a:ln>
              <a:solidFill>
                <a:prstClr val="white"/>
              </a:solidFill>
              <a:latin typeface="Arial Black"/>
              <a:ea typeface="字魂59号-创粗黑"/>
              <a:cs typeface="+mn-cs"/>
            </a:endParaRPr>
          </a:p>
        </p:txBody>
      </p:sp>
      <p:sp>
        <p:nvSpPr>
          <p:cNvPr id="2030656954" name="Oval 4"/>
          <p:cNvSpPr/>
          <p:nvPr/>
        </p:nvSpPr>
        <p:spPr bwMode="auto">
          <a:xfrm>
            <a:off x="6595515" y="4282553"/>
            <a:ext cx="749367" cy="749367"/>
          </a:xfrm>
          <a:prstGeom prst="ellipse">
            <a:avLst/>
          </a:prstGeo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prstClr val="white"/>
                </a:solidFill>
                <a:latin typeface="Arial Black"/>
                <a:ea typeface="字魂59号-创粗黑"/>
                <a:cs typeface="+mn-cs"/>
              </a:rPr>
              <a:t>3</a:t>
            </a:r>
            <a:endParaRPr lang="id-ID" sz="3200" b="1" i="0" u="none" strike="noStrike" cap="none" spc="0">
              <a:ln>
                <a:noFill/>
              </a:ln>
              <a:solidFill>
                <a:prstClr val="white"/>
              </a:solidFill>
              <a:latin typeface="Arial Black"/>
              <a:ea typeface="字魂59号-创粗黑"/>
              <a:cs typeface="+mn-cs"/>
            </a:endParaRPr>
          </a:p>
        </p:txBody>
      </p:sp>
      <p:sp>
        <p:nvSpPr>
          <p:cNvPr id="2088162298" name="Text Box 17"/>
          <p:cNvSpPr txBox="1">
            <a:spLocks noChangeArrowheads="1"/>
          </p:cNvSpPr>
          <p:nvPr/>
        </p:nvSpPr>
        <p:spPr bwMode="auto">
          <a:xfrm>
            <a:off x="7508667" y="2007689"/>
            <a:ext cx="3193305" cy="57947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黑体"/>
                <a:ea typeface="宋体"/>
              </a:defRPr>
            </a:lvl1pPr>
            <a:lvl2pPr marL="742950" indent="-285750">
              <a:defRPr b="1">
                <a:solidFill>
                  <a:schemeClr val="bg1"/>
                </a:solidFill>
                <a:latin typeface="黑体"/>
                <a:ea typeface="宋体"/>
              </a:defRPr>
            </a:lvl2pPr>
            <a:lvl3pPr marL="11430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3pPr>
            <a:lvl4pPr marL="16002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4pPr>
            <a:lvl5pPr marL="20574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r>
              <a:rPr lang="zh-CN" sz="3200" b="1" i="0" u="none" strike="noStrike" cap="none" spc="0">
                <a:ln>
                  <a:noFill/>
                </a:ln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总览</a:t>
            </a:r>
            <a:endParaRPr/>
          </a:p>
        </p:txBody>
      </p:sp>
      <p:sp>
        <p:nvSpPr>
          <p:cNvPr id="986439823" name="Text Box 17"/>
          <p:cNvSpPr txBox="1">
            <a:spLocks noChangeArrowheads="1"/>
          </p:cNvSpPr>
          <p:nvPr/>
        </p:nvSpPr>
        <p:spPr bwMode="auto">
          <a:xfrm flipH="0" flipV="0">
            <a:off x="7479810" y="3230288"/>
            <a:ext cx="4155643" cy="58853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黑体"/>
                <a:ea typeface="宋体"/>
              </a:defRPr>
            </a:lvl1pPr>
            <a:lvl2pPr marL="742950" indent="-285750">
              <a:defRPr b="1">
                <a:solidFill>
                  <a:schemeClr val="bg1"/>
                </a:solidFill>
                <a:latin typeface="黑体"/>
                <a:ea typeface="宋体"/>
              </a:defRPr>
            </a:lvl2pPr>
            <a:lvl3pPr marL="11430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3pPr>
            <a:lvl4pPr marL="16002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4pPr>
            <a:lvl5pPr marL="20574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投影子空间视角</a:t>
            </a:r>
            <a:endParaRPr/>
          </a:p>
        </p:txBody>
      </p:sp>
      <p:sp>
        <p:nvSpPr>
          <p:cNvPr id="615773934" name="Text Box 17"/>
          <p:cNvSpPr txBox="1">
            <a:spLocks noChangeArrowheads="1"/>
          </p:cNvSpPr>
          <p:nvPr/>
        </p:nvSpPr>
        <p:spPr bwMode="auto">
          <a:xfrm flipH="0" flipV="0">
            <a:off x="7479810" y="4485934"/>
            <a:ext cx="4168716" cy="58853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黑体"/>
                <a:ea typeface="宋体"/>
              </a:defRPr>
            </a:lvl1pPr>
            <a:lvl2pPr marL="742950" indent="-285750">
              <a:defRPr b="1">
                <a:solidFill>
                  <a:schemeClr val="bg1"/>
                </a:solidFill>
                <a:latin typeface="黑体"/>
                <a:ea typeface="宋体"/>
              </a:defRPr>
            </a:lvl2pPr>
            <a:lvl3pPr marL="11430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3pPr>
            <a:lvl4pPr marL="16002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4pPr>
            <a:lvl5pPr marL="20574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r>
              <a:rPr lang="zh-CN" sz="3200"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量化非阿贝尔性</a:t>
            </a:r>
            <a:endParaRPr lang="zh-CN" sz="3200" b="1" i="0" u="none" strike="noStrike" cap="none" spc="0">
              <a:ln>
                <a:noFill/>
              </a:ln>
              <a:solidFill>
                <a:srgbClr val="0070C0"/>
              </a:solidFill>
              <a:latin typeface="微软雅黑"/>
              <a:ea typeface="微软雅黑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98609297" name="图片 5"/>
          <p:cNvPicPr>
            <a:picLocks noChangeAspect="1"/>
          </p:cNvPicPr>
          <p:nvPr/>
        </p:nvPicPr>
        <p:blipFill rotWithShape="1">
          <a:blip r:embed="rId3"/>
          <a:srcRect l="0" t="44074" r="0" b="0"/>
          <a:stretch/>
        </p:blipFill>
        <p:spPr bwMode="auto">
          <a:xfrm flipH="1">
            <a:off x="0" y="2529838"/>
            <a:ext cx="5516879" cy="1717039"/>
          </a:xfrm>
          <a:custGeom>
            <a:avLst/>
            <a:gdLst>
              <a:gd name="connsiteX0" fmla="*/ 0 w 10274591"/>
              <a:gd name="connsiteY0" fmla="*/ 0 h 3835400"/>
              <a:gd name="connsiteX1" fmla="*/ 10274591 w 10274591"/>
              <a:gd name="connsiteY1" fmla="*/ 0 h 3835400"/>
              <a:gd name="connsiteX2" fmla="*/ 10274591 w 10274591"/>
              <a:gd name="connsiteY2" fmla="*/ 3835400 h 3835400"/>
              <a:gd name="connsiteX3" fmla="*/ 0 w 10274591"/>
              <a:gd name="connsiteY3" fmla="*/ 3835400 h 383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74591" h="3835400" fill="norm" stroke="1" extrusionOk="0">
                <a:moveTo>
                  <a:pt x="0" y="0"/>
                </a:moveTo>
                <a:lnTo>
                  <a:pt x="10274591" y="0"/>
                </a:lnTo>
                <a:lnTo>
                  <a:pt x="10274591" y="3835400"/>
                </a:lnTo>
                <a:lnTo>
                  <a:pt x="0" y="3835400"/>
                </a:lnTo>
                <a:close/>
              </a:path>
            </a:pathLst>
          </a:custGeom>
        </p:spPr>
      </p:pic>
      <p:grpSp>
        <p:nvGrpSpPr>
          <p:cNvPr id="1795768465" name="组合 15"/>
          <p:cNvGrpSpPr/>
          <p:nvPr/>
        </p:nvGrpSpPr>
        <p:grpSpPr bwMode="auto">
          <a:xfrm>
            <a:off x="0" y="2529838"/>
            <a:ext cx="12192000" cy="1757679"/>
            <a:chOff x="0" y="2529838"/>
            <a:chExt cx="12192000" cy="1757679"/>
          </a:xfr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</p:grpSpPr>
        <p:sp>
          <p:nvSpPr>
            <p:cNvPr id="72983156" name="矩形 1"/>
            <p:cNvSpPr/>
            <p:nvPr/>
          </p:nvSpPr>
          <p:spPr bwMode="auto">
            <a:xfrm>
              <a:off x="0" y="2529838"/>
              <a:ext cx="5516879" cy="1717039"/>
            </a:xfrm>
            <a:prstGeom prst="rect">
              <a:avLst/>
            </a:prstGeom>
            <a:gradFill>
              <a:gsLst>
                <a:gs pos="0">
                  <a:srgbClr val="0070C0">
                    <a:alpha val="54000"/>
                  </a:srgbClr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>
                <a:defRPr/>
              </a:pPr>
              <a:endParaRPr lang="zh-CN"/>
            </a:p>
          </p:txBody>
        </p:sp>
        <p:sp>
          <p:nvSpPr>
            <p:cNvPr id="1800304686" name="矩形 12"/>
            <p:cNvSpPr/>
            <p:nvPr/>
          </p:nvSpPr>
          <p:spPr bwMode="auto">
            <a:xfrm>
              <a:off x="11348719" y="2529838"/>
              <a:ext cx="843279" cy="1757679"/>
            </a:xfrm>
            <a:prstGeom prst="rect">
              <a:avLst/>
            </a:prstGeom>
            <a:gradFill>
              <a:gsLst>
                <a:gs pos="0">
                  <a:srgbClr val="0070C0"/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zh-CN"/>
            </a:p>
          </p:txBody>
        </p:sp>
      </p:grpSp>
      <p:sp>
        <p:nvSpPr>
          <p:cNvPr id="450469665" name="矩形 7"/>
          <p:cNvSpPr/>
          <p:nvPr/>
        </p:nvSpPr>
        <p:spPr bwMode="auto">
          <a:xfrm>
            <a:off x="1630065" y="3046550"/>
            <a:ext cx="3856889" cy="1200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200">
                <a:solidFill>
                  <a:schemeClr val="bg1"/>
                </a:solidFill>
                <a:latin typeface="Arial Black"/>
                <a:ea typeface="微软雅黑"/>
                <a:cs typeface="Times New Roman"/>
              </a:rPr>
              <a:t>Part 01</a:t>
            </a:r>
            <a:endParaRPr lang="zh-CN" sz="7200" b="1">
              <a:solidFill>
                <a:schemeClr val="bg1"/>
              </a:solidFill>
              <a:latin typeface="Arial Black"/>
              <a:ea typeface="微软雅黑"/>
              <a:cs typeface="Times New Roman"/>
            </a:endParaRPr>
          </a:p>
        </p:txBody>
      </p:sp>
      <p:sp>
        <p:nvSpPr>
          <p:cNvPr id="905572428" name="矩形 8"/>
          <p:cNvSpPr/>
          <p:nvPr/>
        </p:nvSpPr>
        <p:spPr bwMode="auto">
          <a:xfrm>
            <a:off x="5959117" y="2875001"/>
            <a:ext cx="4923919" cy="1097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spcBef>
                <a:spcPts val="0"/>
              </a:spcBef>
              <a:spcAft>
                <a:spcPts val="0"/>
              </a:spcAft>
              <a:defRPr/>
            </a:pPr>
            <a:r>
              <a:rPr lang="zh-CN" sz="6600" b="1"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总览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5026758" name=""/>
          <p:cNvSpPr txBox="1"/>
          <p:nvPr/>
        </p:nvSpPr>
        <p:spPr bwMode="auto">
          <a:xfrm rot="0" flipH="0" flipV="0">
            <a:off x="667082" y="3312034"/>
            <a:ext cx="2927492" cy="3965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</p:txBody>
      </p:sp>
      <p:sp>
        <p:nvSpPr>
          <p:cNvPr id="1765227230" name=""/>
          <p:cNvSpPr txBox="1"/>
          <p:nvPr/>
        </p:nvSpPr>
        <p:spPr bwMode="auto">
          <a:xfrm rot="0" flipH="0" flipV="0">
            <a:off x="5144874" y="4036211"/>
            <a:ext cx="1777614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JW 映射</a:t>
            </a:r>
            <a:endParaRPr/>
          </a:p>
        </p:txBody>
      </p:sp>
      <p:sp>
        <p:nvSpPr>
          <p:cNvPr id="399361481" name=""/>
          <p:cNvSpPr txBox="1"/>
          <p:nvPr/>
        </p:nvSpPr>
        <p:spPr bwMode="auto">
          <a:xfrm rot="0" flipH="0" flipV="0">
            <a:off x="7940719" y="3183732"/>
            <a:ext cx="3131274" cy="5972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H(u)=</m:t>
                      </m:r>
                      <m:nary>
                        <m:naryPr>
                          <m:chr m:val="∑"/>
                          <m:grow m:val="off"/>
                          <m:limLoc m:val="subSup"/>
                          <m:supHide m:val="on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ab</m:t>
                              </m:r>
                            </m:sub>
                          </m:s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(u)</m:t>
                          </m:r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1907876996" name=""/>
          <p:cNvSpPr txBox="1"/>
          <p:nvPr/>
        </p:nvSpPr>
        <p:spPr bwMode="auto">
          <a:xfrm rot="0" flipH="0" flipV="0">
            <a:off x="-244488" y="935901"/>
            <a:ext cx="5190223" cy="72825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R(u)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exp(-i 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  <m:nary>
                        <m:naryPr>
                          <m:chr m:val="∫"/>
                          <m:grow m:val="off"/>
                          <m:limLoc m:val="subSup"/>
                          <m:ctrlPr>
                            <a:rPr lang="en-US" sz="18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p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</m:d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ds 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549324624" name=""/>
          <p:cNvSpPr txBox="1"/>
          <p:nvPr/>
        </p:nvSpPr>
        <p:spPr bwMode="auto">
          <a:xfrm rot="0" flipH="0" flipV="0">
            <a:off x="7387520" y="1056576"/>
            <a:ext cx="4679072" cy="37722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 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  <m:sup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782719007" name=""/>
          <p:cNvSpPr/>
          <p:nvPr/>
        </p:nvSpPr>
        <p:spPr bwMode="auto">
          <a:xfrm rot="0" flipH="0" flipV="0">
            <a:off x="9370909" y="1730099"/>
            <a:ext cx="294409" cy="1283263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7260626" name=""/>
          <p:cNvSpPr/>
          <p:nvPr/>
        </p:nvSpPr>
        <p:spPr bwMode="auto">
          <a:xfrm rot="0" flipH="0" flipV="0">
            <a:off x="3628491" y="3361134"/>
            <a:ext cx="4312227" cy="347500"/>
          </a:xfrm>
          <a:prstGeom prst="left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1371936" name=""/>
          <p:cNvSpPr/>
          <p:nvPr/>
        </p:nvSpPr>
        <p:spPr bwMode="auto">
          <a:xfrm rot="0" flipH="0" flipV="0">
            <a:off x="4348636" y="1149940"/>
            <a:ext cx="3099954" cy="190499"/>
          </a:xfrm>
          <a:prstGeom prst="left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10883324" name=""/>
          <p:cNvSpPr/>
          <p:nvPr/>
        </p:nvSpPr>
        <p:spPr bwMode="auto">
          <a:xfrm rot="0" flipH="0" flipV="0">
            <a:off x="1924090" y="1816690"/>
            <a:ext cx="242454" cy="1196672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50649744" name=""/>
          <p:cNvSpPr txBox="1"/>
          <p:nvPr/>
        </p:nvSpPr>
        <p:spPr bwMode="auto">
          <a:xfrm rot="0" flipH="0" flipV="0">
            <a:off x="1095736" y="399038"/>
            <a:ext cx="1899163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谱参数YBE的解</a:t>
            </a:r>
            <a:endParaRPr/>
          </a:p>
        </p:txBody>
      </p:sp>
      <p:sp>
        <p:nvSpPr>
          <p:cNvPr id="776827941" name=""/>
          <p:cNvSpPr txBox="1"/>
          <p:nvPr/>
        </p:nvSpPr>
        <p:spPr bwMode="auto">
          <a:xfrm rot="0" flipH="0" flipV="0">
            <a:off x="8712817" y="569781"/>
            <a:ext cx="1692103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求解哈密顿</a:t>
            </a:r>
            <a:endParaRPr/>
          </a:p>
        </p:txBody>
      </p:sp>
      <p:sp>
        <p:nvSpPr>
          <p:cNvPr id="546452056" name=""/>
          <p:cNvSpPr txBox="1"/>
          <p:nvPr/>
        </p:nvSpPr>
        <p:spPr bwMode="auto">
          <a:xfrm rot="0" flipH="0" flipV="0">
            <a:off x="667082" y="3777806"/>
            <a:ext cx="2633841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以majorana算符的表示</a:t>
            </a:r>
            <a:endParaRPr/>
          </a:p>
        </p:txBody>
      </p:sp>
      <p:sp>
        <p:nvSpPr>
          <p:cNvPr id="1950722480" name=""/>
          <p:cNvSpPr txBox="1"/>
          <p:nvPr/>
        </p:nvSpPr>
        <p:spPr bwMode="auto">
          <a:xfrm rot="0" flipH="0" flipV="0">
            <a:off x="8504999" y="3847078"/>
            <a:ext cx="3152629" cy="37826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pauli张量积</a:t>
            </a:r>
            <a:r>
              <a:rPr lang="en-US"/>
              <a:t>，二体算符表示</a:t>
            </a:r>
            <a:endParaRPr/>
          </a:p>
        </p:txBody>
      </p:sp>
      <p:sp>
        <p:nvSpPr>
          <p:cNvPr id="673763116" name=""/>
          <p:cNvSpPr/>
          <p:nvPr/>
        </p:nvSpPr>
        <p:spPr bwMode="auto">
          <a:xfrm rot="0" flipH="0" flipV="0">
            <a:off x="9575203" y="4287468"/>
            <a:ext cx="121227" cy="1150439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79426263" name=""/>
          <p:cNvSpPr txBox="1"/>
          <p:nvPr/>
        </p:nvSpPr>
        <p:spPr bwMode="auto">
          <a:xfrm rot="0" flipH="0" flipV="0">
            <a:off x="7250105" y="5474983"/>
            <a:ext cx="4771423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=d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⋅σ</m:t>
                      </m:r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874324848" name=""/>
          <p:cNvSpPr txBox="1"/>
          <p:nvPr/>
        </p:nvSpPr>
        <p:spPr bwMode="auto">
          <a:xfrm rot="0" flipH="0" flipV="0">
            <a:off x="8163769" y="5994527"/>
            <a:ext cx="3441521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投影子空间上的SU(2)表示</a:t>
            </a:r>
            <a:endParaRPr/>
          </a:p>
        </p:txBody>
      </p:sp>
      <p:sp>
        <p:nvSpPr>
          <p:cNvPr id="1744220950" name=""/>
          <p:cNvSpPr/>
          <p:nvPr/>
        </p:nvSpPr>
        <p:spPr bwMode="auto">
          <a:xfrm rot="0" flipH="0" flipV="0">
            <a:off x="1924090" y="4329545"/>
            <a:ext cx="45720" cy="1108363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94377259" name=""/>
          <p:cNvSpPr txBox="1"/>
          <p:nvPr/>
        </p:nvSpPr>
        <p:spPr bwMode="auto">
          <a:xfrm rot="0" flipH="0" flipV="0">
            <a:off x="226870" y="5489863"/>
            <a:ext cx="344556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=iγ⋅(δ⋅γ)</m:t>
                      </m:r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600400974" name=""/>
          <p:cNvSpPr txBox="1"/>
          <p:nvPr/>
        </p:nvSpPr>
        <p:spPr bwMode="auto">
          <a:xfrm rot="0" flipH="0" flipV="0">
            <a:off x="573272" y="5940136"/>
            <a:ext cx="3445881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bloch球旋转的形式</a:t>
            </a:r>
            <a:endParaRPr/>
          </a:p>
        </p:txBody>
      </p:sp>
      <p:sp>
        <p:nvSpPr>
          <p:cNvPr id="551456254" name=""/>
          <p:cNvSpPr txBox="1"/>
          <p:nvPr/>
        </p:nvSpPr>
        <p:spPr bwMode="auto">
          <a:xfrm rot="0" flipH="0" flipV="0">
            <a:off x="140317" y="1909954"/>
            <a:ext cx="725885" cy="1798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800">
                <a:solidFill>
                  <a:schemeClr val="accent2"/>
                </a:solidFill>
              </a:rPr>
              <a:t>论文路线</a:t>
            </a:r>
            <a:endParaRPr/>
          </a:p>
        </p:txBody>
      </p:sp>
      <p:sp>
        <p:nvSpPr>
          <p:cNvPr id="1624472003" name=""/>
          <p:cNvSpPr txBox="1"/>
          <p:nvPr/>
        </p:nvSpPr>
        <p:spPr bwMode="auto">
          <a:xfrm rot="0" flipH="0" flipV="0">
            <a:off x="11225413" y="1909954"/>
            <a:ext cx="864430" cy="1798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800">
                <a:solidFill>
                  <a:srgbClr val="7030A0"/>
                </a:solidFill>
              </a:rPr>
              <a:t>模型路线</a:t>
            </a:r>
            <a:endParaRPr/>
          </a:p>
        </p:txBody>
      </p:sp>
      <p:sp>
        <p:nvSpPr>
          <p:cNvPr id="986315026" name=""/>
          <p:cNvSpPr txBox="1"/>
          <p:nvPr/>
        </p:nvSpPr>
        <p:spPr bwMode="auto">
          <a:xfrm rot="0" flipH="0" flipV="0">
            <a:off x="4868181" y="1543834"/>
            <a:ext cx="205430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在路径上编织</a:t>
            </a:r>
            <a:endParaRPr/>
          </a:p>
        </p:txBody>
      </p:sp>
      <p:sp>
        <p:nvSpPr>
          <p:cNvPr id="2126198316" name=""/>
          <p:cNvSpPr txBox="1"/>
          <p:nvPr/>
        </p:nvSpPr>
        <p:spPr bwMode="auto">
          <a:xfrm rot="0" flipH="0" flipV="0">
            <a:off x="4560293" y="141111"/>
            <a:ext cx="2946775" cy="46796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400">
                <a:solidFill>
                  <a:srgbClr val="00B050"/>
                </a:solidFill>
              </a:rPr>
              <a:t>1.非阿贝尔操作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6395729" name=""/>
          <p:cNvSpPr txBox="1"/>
          <p:nvPr/>
        </p:nvSpPr>
        <p:spPr bwMode="auto">
          <a:xfrm rot="0" flipH="0" flipV="0">
            <a:off x="4128543" y="822211"/>
            <a:ext cx="4059465" cy="41593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子空间代数封闭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↔PRP没有泄漏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  <p:sp>
        <p:nvSpPr>
          <p:cNvPr id="499979506" name=""/>
          <p:cNvSpPr txBox="1"/>
          <p:nvPr/>
        </p:nvSpPr>
        <p:spPr bwMode="auto">
          <a:xfrm rot="0" flipH="0" flipV="0">
            <a:off x="4618650" y="2832709"/>
            <a:ext cx="3079249" cy="71007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schur补为0,没有虚跃迁</a:t>
            </a:r>
            <a:endParaRPr lang="en-US" sz="2000"/>
          </a:p>
          <a:p>
            <a:pPr>
              <a:defRPr/>
            </a:pPr>
            <a:r>
              <a:rPr lang="en-US" sz="2000"/>
              <a:t>得到有效哈密顿</a:t>
            </a:r>
            <a:endParaRPr sz="2000"/>
          </a:p>
        </p:txBody>
      </p:sp>
      <p:sp>
        <p:nvSpPr>
          <p:cNvPr id="960607260" name=""/>
          <p:cNvSpPr/>
          <p:nvPr/>
        </p:nvSpPr>
        <p:spPr bwMode="auto">
          <a:xfrm rot="0" flipH="0" flipV="0">
            <a:off x="6051902" y="1333739"/>
            <a:ext cx="88194" cy="1040694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12374820" name=""/>
          <p:cNvSpPr/>
          <p:nvPr/>
        </p:nvSpPr>
        <p:spPr bwMode="auto">
          <a:xfrm rot="19205843" flipH="0" flipV="0">
            <a:off x="4013489" y="4281748"/>
            <a:ext cx="1571254" cy="211666"/>
          </a:xfrm>
          <a:prstGeom prst="lef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19402639" name=""/>
          <p:cNvSpPr txBox="1"/>
          <p:nvPr/>
        </p:nvSpPr>
        <p:spPr bwMode="auto">
          <a:xfrm rot="0" flipH="0" flipV="0">
            <a:off x="1559675" y="5036500"/>
            <a:ext cx="3203085" cy="13310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几何上</a:t>
            </a:r>
            <a:r>
              <a:rPr lang="en-US" sz="2000"/>
              <a:t>:</a:t>
            </a:r>
            <a:r>
              <a:rPr sz="2000"/>
              <a:t>定义出非阿贝尔曲率</a:t>
            </a:r>
            <a:r>
              <a:rPr lang="en-US" sz="2000"/>
              <a:t>,</a:t>
            </a:r>
            <a:endParaRPr sz="2000"/>
          </a:p>
          <a:p>
            <a:pPr>
              <a:defRPr/>
            </a:pPr>
            <a:r>
              <a:rPr sz="2000"/>
              <a:t>讨论schur补里面各项如何得到非阿贝尔产生</a:t>
            </a:r>
            <a:endParaRPr/>
          </a:p>
        </p:txBody>
      </p:sp>
      <p:sp>
        <p:nvSpPr>
          <p:cNvPr id="1686632430" name=""/>
          <p:cNvSpPr/>
          <p:nvPr/>
        </p:nvSpPr>
        <p:spPr bwMode="auto">
          <a:xfrm rot="13110890" flipH="0" flipV="0">
            <a:off x="6705100" y="4304443"/>
            <a:ext cx="1571254" cy="211665"/>
          </a:xfrm>
          <a:prstGeom prst="lef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51899384" name=""/>
          <p:cNvSpPr txBox="1"/>
          <p:nvPr/>
        </p:nvSpPr>
        <p:spPr bwMode="auto">
          <a:xfrm rot="0" flipH="0" flipV="0">
            <a:off x="6533842" y="4898002"/>
            <a:ext cx="3762849" cy="13283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schur补得到green函数</a:t>
            </a:r>
            <a:endParaRPr sz="2000"/>
          </a:p>
          <a:p>
            <a:pPr>
              <a:defRPr/>
            </a:pPr>
            <a:r>
              <a:rPr sz="2000"/>
              <a:t>用pauli张量积的哈密顿模型代入</a:t>
            </a:r>
            <a:endParaRPr sz="2000"/>
          </a:p>
          <a:p>
            <a:pPr>
              <a:defRPr/>
            </a:pPr>
            <a:r>
              <a:rPr sz="2000"/>
              <a:t>得到具体计算模型</a:t>
            </a:r>
            <a:endParaRPr/>
          </a:p>
        </p:txBody>
      </p:sp>
      <p:sp>
        <p:nvSpPr>
          <p:cNvPr id="2038433939" name=""/>
          <p:cNvSpPr txBox="1"/>
          <p:nvPr/>
        </p:nvSpPr>
        <p:spPr bwMode="auto">
          <a:xfrm rot="0" flipH="0" flipV="0">
            <a:off x="4449034" y="244270"/>
            <a:ext cx="4169616" cy="49931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600">
                <a:solidFill>
                  <a:srgbClr val="00B050"/>
                </a:solidFill>
              </a:rPr>
              <a:t>2.量化非阿贝尔性</a:t>
            </a:r>
            <a:endParaRPr sz="2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1151245" name="矩形 29"/>
          <p:cNvSpPr/>
          <p:nvPr/>
        </p:nvSpPr>
        <p:spPr bwMode="auto">
          <a:xfrm>
            <a:off x="1893060" y="412751"/>
            <a:ext cx="8420639" cy="930039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lnSpc>
                <a:spcPct val="150000"/>
              </a:lnSpc>
              <a:defRPr/>
            </a:pPr>
            <a:r>
              <a:rPr lang="zh-CN" sz="3600" b="1" spc="225">
                <a:solidFill>
                  <a:srgbClr val="2E6FC3"/>
                </a:solidFill>
                <a:latin typeface="微软雅黑"/>
                <a:ea typeface="微软雅黑"/>
              </a:rPr>
              <a:t>结果总览</a:t>
            </a:r>
            <a:endParaRPr lang="zh-CN" sz="2000" b="1" spc="225">
              <a:solidFill>
                <a:srgbClr val="2E6FC3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60335879" name="图片 5"/>
          <p:cNvPicPr>
            <a:picLocks noChangeAspect="1"/>
          </p:cNvPicPr>
          <p:nvPr/>
        </p:nvPicPr>
        <p:blipFill rotWithShape="1">
          <a:blip r:embed="rId3"/>
          <a:srcRect l="0" t="44074" r="0" b="0"/>
          <a:stretch/>
        </p:blipFill>
        <p:spPr bwMode="auto">
          <a:xfrm flipH="1">
            <a:off x="0" y="2529839"/>
            <a:ext cx="5516880" cy="1717040"/>
          </a:xfrm>
          <a:custGeom>
            <a:avLst/>
            <a:gdLst>
              <a:gd name="connsiteX0" fmla="*/ 0 w 10274591"/>
              <a:gd name="connsiteY0" fmla="*/ 0 h 3835400"/>
              <a:gd name="connsiteX1" fmla="*/ 10274591 w 10274591"/>
              <a:gd name="connsiteY1" fmla="*/ 0 h 3835400"/>
              <a:gd name="connsiteX2" fmla="*/ 10274591 w 10274591"/>
              <a:gd name="connsiteY2" fmla="*/ 3835400 h 3835400"/>
              <a:gd name="connsiteX3" fmla="*/ 0 w 10274591"/>
              <a:gd name="connsiteY3" fmla="*/ 3835400 h 383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74591" h="3835400" fill="norm" stroke="1" extrusionOk="0">
                <a:moveTo>
                  <a:pt x="0" y="0"/>
                </a:moveTo>
                <a:lnTo>
                  <a:pt x="10274591" y="0"/>
                </a:lnTo>
                <a:lnTo>
                  <a:pt x="10274591" y="3835400"/>
                </a:lnTo>
                <a:lnTo>
                  <a:pt x="0" y="3835400"/>
                </a:lnTo>
                <a:close/>
              </a:path>
            </a:pathLst>
          </a:custGeom>
        </p:spPr>
      </p:pic>
      <p:grpSp>
        <p:nvGrpSpPr>
          <p:cNvPr id="1762488142" name="组合 15"/>
          <p:cNvGrpSpPr/>
          <p:nvPr/>
        </p:nvGrpSpPr>
        <p:grpSpPr bwMode="auto">
          <a:xfrm>
            <a:off x="0" y="2529839"/>
            <a:ext cx="12192000" cy="1757680"/>
            <a:chOff x="0" y="2529839"/>
            <a:chExt cx="12192000" cy="1757680"/>
          </a:xfr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</p:grpSpPr>
        <p:sp>
          <p:nvSpPr>
            <p:cNvPr id="2" name="矩形 1"/>
            <p:cNvSpPr/>
            <p:nvPr/>
          </p:nvSpPr>
          <p:spPr bwMode="auto">
            <a:xfrm>
              <a:off x="0" y="2529839"/>
              <a:ext cx="5516880" cy="1717040"/>
            </a:xfrm>
            <a:prstGeom prst="rect">
              <a:avLst/>
            </a:prstGeom>
            <a:gradFill>
              <a:gsLst>
                <a:gs pos="0">
                  <a:srgbClr val="0070C0">
                    <a:alpha val="54000"/>
                  </a:srgbClr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>
                <a:defRPr/>
              </a:pPr>
              <a:endParaRPr lang="zh-CN"/>
            </a:p>
          </p:txBody>
        </p:sp>
        <p:sp>
          <p:nvSpPr>
            <p:cNvPr id="13" name="矩形 12"/>
            <p:cNvSpPr/>
            <p:nvPr/>
          </p:nvSpPr>
          <p:spPr bwMode="auto">
            <a:xfrm>
              <a:off x="11348720" y="2529839"/>
              <a:ext cx="843280" cy="1757680"/>
            </a:xfrm>
            <a:prstGeom prst="rect">
              <a:avLst/>
            </a:prstGeom>
            <a:gradFill>
              <a:gsLst>
                <a:gs pos="0">
                  <a:srgbClr val="0070C0"/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zh-CN"/>
            </a:p>
          </p:txBody>
        </p:sp>
      </p:grpSp>
      <p:sp>
        <p:nvSpPr>
          <p:cNvPr id="63937281" name="矩形 7"/>
          <p:cNvSpPr/>
          <p:nvPr/>
        </p:nvSpPr>
        <p:spPr bwMode="auto">
          <a:xfrm>
            <a:off x="1630065" y="3046550"/>
            <a:ext cx="3131726" cy="118907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200">
                <a:solidFill>
                  <a:schemeClr val="bg1"/>
                </a:solidFill>
                <a:latin typeface="Arial Black"/>
                <a:ea typeface="微软雅黑"/>
                <a:cs typeface="Times New Roman"/>
              </a:rPr>
              <a:t>Part 02</a:t>
            </a:r>
            <a:endParaRPr lang="zh-CN" sz="7200" b="1">
              <a:solidFill>
                <a:schemeClr val="bg1"/>
              </a:solidFill>
              <a:latin typeface="Arial Black"/>
              <a:ea typeface="微软雅黑"/>
              <a:cs typeface="Times New Roman"/>
            </a:endParaRPr>
          </a:p>
        </p:txBody>
      </p:sp>
      <p:sp>
        <p:nvSpPr>
          <p:cNvPr id="2087070306" name="矩形 8"/>
          <p:cNvSpPr/>
          <p:nvPr/>
        </p:nvSpPr>
        <p:spPr bwMode="auto">
          <a:xfrm flipH="0" flipV="0">
            <a:off x="5516876" y="2912369"/>
            <a:ext cx="5742827" cy="6506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b="1" i="0" u="none" strike="noStrike" cap="none" spc="0">
                <a:ln>
                  <a:noFill/>
                </a:ln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投影子空间</a:t>
            </a: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8946023" name="矩形 29"/>
          <p:cNvSpPr/>
          <p:nvPr/>
        </p:nvSpPr>
        <p:spPr bwMode="auto">
          <a:xfrm>
            <a:off x="1893060" y="412751"/>
            <a:ext cx="8415238" cy="930039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lnSpc>
                <a:spcPct val="150000"/>
              </a:lnSpc>
              <a:defRPr/>
            </a:pPr>
            <a:r>
              <a:rPr lang="zh-CN" sz="3600" b="1" spc="225">
                <a:solidFill>
                  <a:srgbClr val="2E6FC3"/>
                </a:solidFill>
                <a:latin typeface="微软雅黑"/>
                <a:ea typeface="微软雅黑"/>
              </a:rPr>
              <a:t>模型改进</a:t>
            </a:r>
            <a:endParaRPr lang="zh-CN" sz="2000" b="1" spc="225">
              <a:solidFill>
                <a:srgbClr val="2E6FC3"/>
              </a:solidFill>
              <a:latin typeface="微软雅黑"/>
              <a:ea typeface="微软雅黑"/>
            </a:endParaRPr>
          </a:p>
        </p:txBody>
      </p:sp>
      <p:sp>
        <p:nvSpPr>
          <p:cNvPr id="1767173021" name=""/>
          <p:cNvSpPr txBox="1"/>
          <p:nvPr/>
        </p:nvSpPr>
        <p:spPr bwMode="auto">
          <a:xfrm rot="0" flipH="0" flipV="0">
            <a:off x="711817" y="1697181"/>
            <a:ext cx="11554063" cy="390470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200"/>
              <a:t>上一次的模型</a:t>
            </a:r>
            <a:r>
              <a:rPr lang="en-US" sz="2200"/>
              <a:t>:</a:t>
            </a:r>
            <a:endParaRPr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R=exp(iH)</m:t>
                      </m:r>
                    </m:oMath>
                  </m:oMathPara>
                </a14:m>
              </mc:Choice>
              <mc:Fallback/>
            </mc:AlternateContent>
            <a:endParaRPr lang="en-US" sz="22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zh-CN" sz="22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a,b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ab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r>
                            <m:rPr/>
                            <a:rPr lang="zh-CN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b>
                            <m:sSubPr>
                              <m:ctrlPr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200"/>
          </a:p>
          <a:p>
            <a:pPr>
              <a:defRPr/>
            </a:pPr>
            <a:r>
              <a:rPr sz="2200"/>
              <a:t>存在如下问题</a:t>
            </a:r>
            <a:r>
              <a:rPr lang="en-US" sz="2200"/>
              <a:t>, 这是一个代数模型，对应的可以认为是一个静态的解，并不能符合一般都物理算符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U=T ∫</m:t>
                      </m:r>
                      <m:r>
                        <m:rPr>
                          <m:sty m:val="p"/>
                        </m:rPr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iH(s)ds</m:t>
                      </m:r>
                    </m:oMath>
                  </m:oMathPara>
                </a14:m>
              </mc:Choice>
              <mc:Fallback/>
            </mc:AlternateContent>
            <a:r>
              <a:rPr lang="en-US" sz="2200"/>
              <a:t> （T:路径有序算符）. 所以沿着时间路径演化对应的R应该看作一系列静态的组合，是对应的一族的解。</a:t>
            </a:r>
            <a:endParaRPr lang="en-US" sz="2200"/>
          </a:p>
          <a:p>
            <a:pPr>
              <a:defRPr/>
            </a:pPr>
            <a:endParaRPr lang="en-US" sz="2200"/>
          </a:p>
          <a:p>
            <a:pPr>
              <a:defRPr/>
            </a:pPr>
            <a:r>
              <a:rPr lang="en-US" sz="2200"/>
              <a:t>所以考虑带有谱参数的Yang Baxter方程:</a:t>
            </a:r>
            <a:endParaRPr lang="en-US"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u+v</m:t>
                          </m:r>
                        </m:e>
                      </m:d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</m:d>
                      <m:r>
                        <m:rPr/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</m:d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u+v</m:t>
                          </m:r>
                        </m:e>
                      </m:d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r>
                        <m:rPr/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104753" name=""/>
          <p:cNvSpPr txBox="1"/>
          <p:nvPr/>
        </p:nvSpPr>
        <p:spPr bwMode="auto">
          <a:xfrm rot="0" flipH="0" flipV="0">
            <a:off x="642545" y="831272"/>
            <a:ext cx="1103168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862448381" name=""/>
          <p:cNvSpPr txBox="1"/>
          <p:nvPr/>
        </p:nvSpPr>
        <p:spPr bwMode="auto">
          <a:xfrm rot="0" flipH="0" flipV="0">
            <a:off x="798409" y="1264227"/>
            <a:ext cx="10244797" cy="506635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在引入了谱参数后</a:t>
            </a:r>
            <a:r>
              <a:rPr lang="en-US" sz="2000"/>
              <a:t>，把谱参数看作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u=u(t)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 ， 则谱参数的变化就体现了时间上的演化。进一步可以把R(u)和哈密顿写为： 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R(u)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exp(-i </m:t>
                      </m:r>
                      <m:nary>
                        <m:naryPr>
                          <m:chr m:val="∫"/>
                          <m:grow m:val="off"/>
                          <m:limLoc m:val="subSup"/>
                          <m:ctrlPr>
                            <a:rPr lang="en-US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p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</m:d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ds 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可以得到生成元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：</a:t>
            </a:r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使用pauli张量积表示为</a:t>
            </a: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H(u)=</m:t>
                      </m:r>
                      <m:nary>
                        <m:naryPr>
                          <m:chr m:val="∑"/>
                          <m:grow m:val="off"/>
                          <m:limLoc m:val="subSup"/>
                          <m:supHide m:val="on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ab</m:t>
                              </m:r>
                            </m:sub>
                          </m:s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(u)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非阿贝尔性不在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本身,而在本征态随 u 的变化结构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:</a:t>
            </a:r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mn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=i〈m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n(u)〉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lang="en-US"/>
          </a:p>
          <a:p>
            <a:pPr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7058337" name=""/>
          <p:cNvSpPr txBox="1"/>
          <p:nvPr/>
        </p:nvSpPr>
        <p:spPr bwMode="auto">
          <a:xfrm rot="0" flipH="0" flipV="0">
            <a:off x="573271" y="1091044"/>
            <a:ext cx="11540873" cy="496355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参考论文的观点</a:t>
            </a:r>
            <a:r>
              <a:rPr lang="en-US" sz="2000"/>
              <a:t>，把演化写成几何项和动力学的额外项乘积：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-i∫E(t)dt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其中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/>
              <a:t>表示了几何项这个非阿贝尔演化: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=P ∫A(u)du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/>
              <a:t>或者更直观的: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-iθ</m:t>
                          </m:r>
                        </m:sup>
                      </m:s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能谱用来区分 MZM 与 ABS</a:t>
            </a:r>
            <a:r>
              <a:rPr lang="en-US" sz="2000"/>
              <a:t>：</a:t>
            </a: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MZM: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E≈0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且受拓扑/局域性保护；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ABS: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 ≠0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（或仅在有限系统中近似零能）；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trivial: 有较大能隙，无零模。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  <p:sp>
        <p:nvSpPr>
          <p:cNvPr id="1638401667" name=""/>
          <p:cNvSpPr txBox="1"/>
          <p:nvPr/>
        </p:nvSpPr>
        <p:spPr bwMode="auto">
          <a:xfrm rot="0" flipH="0" flipV="0">
            <a:off x="548610" y="5344583"/>
            <a:ext cx="10612493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如果要将之前的YBE的解</a:t>
            </a:r>
            <a:r>
              <a:rPr lang="en-US"/>
              <a:t>R(u)和具有braid项和动力学项的形式的算符联系起来,可以考虑以下变换: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9046195" name=""/>
          <p:cNvSpPr txBox="1"/>
          <p:nvPr/>
        </p:nvSpPr>
        <p:spPr bwMode="auto">
          <a:xfrm rot="0" flipH="0" flipV="0">
            <a:off x="53726" y="398317"/>
            <a:ext cx="12095966" cy="591567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定义本征态矩阵</a:t>
            </a:r>
            <a:r>
              <a:rPr lang="en-US" sz="2000"/>
              <a:t>:</a:t>
            </a:r>
            <a:endParaRPr lang="en-US"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=(|1(u)〉,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|2(u)〉...</m:t>
                      </m:r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</m:t>
                      </m:r>
                    </m:oMath>
                  </m:oMathPara>
                </a14:m>
              </mc:Choice>
              <mc:Fallback/>
            </mc:AlternateContent>
            <a:endParaRPr lang="zh-CN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1800"/>
              <a:t>有</a:t>
            </a:r>
            <a:r>
              <a:rPr lang="en-US" sz="1800"/>
              <a:t>:</a:t>
            </a:r>
            <a:endParaRPr lang="en-US"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|n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(u)|n(u)〉</m:t>
                      </m:r>
                    </m:oMath>
                  </m:oMathPara>
                </a14:m>
              </mc:Choice>
              <mc:Fallback/>
            </mc:AlternateContent>
            <a:endParaRPr lang="en-US" sz="1800"/>
          </a:p>
          <a:p>
            <a:pPr>
              <a:defRPr/>
            </a:pPr>
            <a:r>
              <a:rPr lang="en-US" sz="1800"/>
              <a:t>根据</a:t>
            </a:r>
            <a:endParaRPr lang="en-US"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则有瞬时本征分解：</a:t>
            </a:r>
            <a:endParaRPr lang="en-US"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=V(u)E(u)</m:t>
                      </m:r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 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diag{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(u),...}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把任意态写成本征基的展开：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|"/>
                          <m:endChr m:val="|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〉=V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</m:d>
                      <m:acc>
                        <m:accPr>
                          <m:chr m:val="̃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</m:t>
                      </m:r>
                    </m:oMath>
                  </m:oMathPara>
                </a14:m>
              </mc:Choice>
              <mc:Fallback/>
            </mc:AlternateContent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/>
              <a:t>代入</a:t>
            </a:r>
            <a:r>
              <a:rPr lang="en-US"/>
              <a:t>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|ψ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〉=H(u)|ψ(u)〉</m:t>
                      </m:r>
                    </m:oMath>
                  </m:oMathPara>
                </a14:m>
              </mc:Choice>
              <mc:Fallback/>
            </mc:AlternateContent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/>
              <a:t>左</a:t>
            </a:r>
            <a:r>
              <a:rPr lang="en-US"/>
              <a:t>乘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/>
              <a:t>,: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+i</m:t>
                      </m:r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V)</m:t>
                      </m:r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 E</m:t>
                      </m:r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移项得到: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E-A</m:t>
                          </m:r>
                        </m:e>
                      </m:d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  , A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sSup>
                            <m:sSup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†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/>
              <a:t>生成元为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E-A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5580228" name=""/>
          <p:cNvSpPr txBox="1"/>
          <p:nvPr/>
        </p:nvSpPr>
        <p:spPr bwMode="auto">
          <a:xfrm rot="0" flipH="0" flipV="0">
            <a:off x="330817" y="727362"/>
            <a:ext cx="11838675" cy="451206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在简并子空间</a:t>
            </a:r>
            <a:r>
              <a:rPr lang="en-US" sz="2000"/>
              <a:t>S上投影: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P(u)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a∈S</m:t>
                          </m:r>
                        </m:sub>
                        <m:sup/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|a(u)〉〈a(u)|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=P(u)H(u)P(u)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2000"/>
              <a:t>得到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-A(u)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表示能谱(对角),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A(u)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为berry connection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000"/>
              <a:t>非阿贝尔性产生的来源:</a:t>
            </a:r>
            <a:endParaRPr lang="en-US" sz="2000"/>
          </a:p>
          <a:p>
            <a:pPr>
              <a:defRPr/>
            </a:pPr>
            <a:r>
              <a:rPr lang="en-US" sz="2000"/>
              <a:t>1,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,参考下面的推导,否则出现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m:rPr>
                          <m:sty m:val="i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∞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2,</a:t>
            </a:r>
            <a:r>
              <a:rPr sz="1900" b="0" i="1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子空间内</a:t>
            </a:r>
            <a:r>
              <a:rPr lang="en-US" sz="2000"/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〈a|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β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|b〉≠0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,否则所有项都是对角,是abel</a:t>
            </a:r>
            <a:endParaRPr lang="en-US" sz="2000"/>
          </a:p>
          <a:p>
            <a:pPr>
              <a:defRPr/>
            </a:pPr>
            <a:r>
              <a:rPr lang="en-US" sz="2000"/>
              <a:t>3,路径非对易,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[H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(u)]≠0</m:t>
                      </m:r>
                    </m:oMath>
                  </m:oMathPara>
                </a14:m>
              </mc:Choice>
              <mc:Fallback/>
            </mc:AlternateContent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503192" name=""/>
          <p:cNvSpPr txBox="1"/>
          <p:nvPr/>
        </p:nvSpPr>
        <p:spPr bwMode="auto">
          <a:xfrm rot="0" flipH="0" flipV="0">
            <a:off x="566248" y="811387"/>
            <a:ext cx="10854397" cy="13547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总演化算符:</a:t>
            </a:r>
            <a:endParaRPr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U(u)=V(u) exp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-i</m:t>
                          </m:r>
                          <m:nary>
                            <m:naryPr>
                              <m:grow m:val="off"/>
                              <m:limLoc m:val="undOvr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</m:sub>
                            <m:sup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E</m:t>
                                  </m:r>
                                  <m:d>
                                    <m:dPr>
                                      <m:begChr m:val="("/>
                                      <m:endChr m:val=")"/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s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-A(s)ds</m:t>
                              </m:r>
                            </m:e>
                          </m:nary>
                        </m:e>
                      </m:d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 sz="2000"/>
          </a:p>
        </p:txBody>
      </p:sp>
      <p:sp>
        <p:nvSpPr>
          <p:cNvPr id="1543817646" name=""/>
          <p:cNvSpPr txBox="1"/>
          <p:nvPr/>
        </p:nvSpPr>
        <p:spPr bwMode="auto">
          <a:xfrm rot="0" flipH="0" flipV="0">
            <a:off x="566248" y="2434166"/>
            <a:ext cx="10768006" cy="114777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分离条件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(在下面推导)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：只有当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[D(s),A(s')]=0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（例如在本征基下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为对角）或在严格绝热极限（跨本征的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mn</m:t>
                          </m:r>
                        </m:sub>
                      </m:sSub>
                      <m:r>
                        <m:rPr>
                          <m:sty m:val="i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≪|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r>
                        <m:rPr>
                          <m:sty m:val="i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sub>
                      </m:sSub>
                      <m:r>
                        <m:rPr>
                          <m:sty m:val="i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下，动力学因子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exp(-i</m:t>
                      </m:r>
                      <m:nary>
                        <m:naryPr>
                          <m:chr m:val="∫"/>
                          <m:grow m:val="off"/>
                          <m:subHide m:val="on"/>
                          <m:supHide m:val="on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</m:nary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与几何因子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exp(</m:t>
                      </m:r>
                      <m:nary>
                        <m:naryPr>
                          <m:chr m:val="∫"/>
                          <m:grow m:val="off"/>
                          <m:subHide m:val="on"/>
                          <m:supHide m:val="on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nary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(路径有序)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可近似分离为产物形式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dyn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1281414550" name=""/>
          <p:cNvSpPr txBox="1"/>
          <p:nvPr/>
        </p:nvSpPr>
        <p:spPr bwMode="auto">
          <a:xfrm rot="0" flipH="0" flipV="0">
            <a:off x="707360" y="3986388"/>
            <a:ext cx="10313718" cy="148574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如果想要消去动力学项的影响</a:t>
            </a:r>
            <a:r>
              <a:rPr lang="en-US"/>
              <a:t>,也就是退化成全局相位,由上式容易得到: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nary>
                        <m:naryPr>
                          <m:grow m:val="off"/>
                          <m:limLoc m:val="undOvr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d>
                            <m:dPr>
                              <m:begChr m:val=""/>
                              <m:endChr m:val=")"/>
                              <m:ctrlPr>
                                <a:rPr/>
                              </m:ctrlPr>
                            </m:dPr>
                            <m:e>
                              <m:d>
                                <m:dPr>
                                  <m:begChr m:val="("/>
                                  <m:endChr m:val=""/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E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i"/>
                                        </m:rPr>
                                        <a:rPr lang="en-US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</m:t>
                              </m:r>
                              <m:sSub>
                                <m:sSubPr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E</m:t>
                                  </m:r>
                                </m:e>
                                <m:sub>
                                  <m:r>
                                    <m:rPr/>
                                    <a:rPr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-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</m:e>
                          </m:d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 ∈ 2πZ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7911494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60030" y="-51954"/>
            <a:ext cx="11386325" cy="69099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3435877" name=""/>
          <p:cNvSpPr txBox="1"/>
          <p:nvPr/>
        </p:nvSpPr>
        <p:spPr bwMode="auto">
          <a:xfrm rot="0" flipH="0" flipV="0">
            <a:off x="336943" y="370415"/>
            <a:ext cx="11737793" cy="126089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下面通过引入一个简单的例子</a:t>
            </a:r>
            <a:r>
              <a:rPr lang="en-US" sz="2000"/>
              <a:t>,说明把现在的pauli张量积投影到子空间后,会呈现出简单的SU(2)群结构.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选取子空间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span{|01〉,|10〉}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, 下面的具体模型都会选择用这个子空间为例.</a:t>
            </a:r>
            <a:r>
              <a:rPr lang="zh-CN" sz="18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若改变基序或对本征向量做非平凡局部相位变换，矩阵表示会相应改变。</a:t>
            </a:r>
            <a:endParaRPr/>
          </a:p>
        </p:txBody>
      </p:sp>
      <p:sp>
        <p:nvSpPr>
          <p:cNvPr id="1017028010" name=""/>
          <p:cNvSpPr txBox="1"/>
          <p:nvPr/>
        </p:nvSpPr>
        <p:spPr bwMode="auto">
          <a:xfrm rot="0" flipH="0" flipV="0">
            <a:off x="446187" y="1763887"/>
            <a:ext cx="11519665" cy="33245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记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, Y=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Z=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 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XX=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,YY,ZZ等同理 </a:t>
            </a:r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,利用张量积运算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A⊗B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C⊗D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=(A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C)⊗(B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 :</a:t>
            </a: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XX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|01〉=(X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|0〉)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(X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|1〉)=|1〉⊗|0〉=|10〉</m:t>
                      </m:r>
                    </m:oMath>
                  </m:oMathPara>
                </a14:m>
              </mc:Choice>
              <mc:Fallback/>
            </mc:AlternateContent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2000"/>
              <a:t>也就是说这里XX</a:t>
            </a:r>
            <a:r>
              <a:rPr sz="2000">
                <a:latin typeface="Arial"/>
                <a:ea typeface="Arial"/>
                <a:cs typeface="Arial"/>
              </a:rPr>
              <a:t>~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 , 和X门作用一致</a:t>
            </a: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以及: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X⊗Z |01〉=|1〉⊗(-</m:t>
                      </m:r>
                      <m:d>
                        <m:dPr>
                          <m:begChr m:val="|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1〉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=-|11〉</m:t>
                      </m:r>
                    </m:oMath>
                  </m:oMathPara>
                </a14:m>
              </mc:Choice>
              <mc:Fallback/>
            </mc:AlternateContent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,不在子空间.下面会记这种现象为泄漏,这里XZ投影后矩阵元在子空间里都是0</a:t>
            </a: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zh-CN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依次运算得到如下对照</a:t>
            </a:r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:</a:t>
            </a:r>
            <a:endParaRPr lang="zh-CN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zh-CN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</p:txBody>
      </p:sp>
      <p:graphicFrame>
        <p:nvGraphicFramePr>
          <p:cNvPr id="138957649" name=""/>
          <p:cNvGraphicFramePr>
            <a:graphicFrameLocks xmlns:a="http://schemas.openxmlformats.org/drawingml/2006/main"/>
          </p:cNvGraphicFramePr>
          <p:nvPr/>
        </p:nvGraphicFramePr>
        <p:xfrm rot="0">
          <a:off x="1591027" y="5419074"/>
          <a:ext cx="8127999" cy="109727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4063999"/>
                <a:gridCol w="4063999"/>
              </a:tblGrid>
              <a:tr h="36000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二次积形式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投影后形式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I⊗X, I⊗Y,X⊗I,Y⊗I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 lang="en-US" sz="1800" u="none" strike="noStrike" cap="none" spc="0">
                        <a:solidFill>
                          <a:schemeClr val="dk1"/>
                        </a:solidFill>
                        <a:latin typeface="Cambria Math"/>
                        <a:ea typeface="Cambria Math"/>
                        <a:cs typeface="Cambria Math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X⊗Z, Z⊗X,Y⊗Z, Z⊗Y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185008985" name=""/>
          <p:cNvGraphicFramePr>
            <a:graphicFrameLocks xmlns:a="http://schemas.openxmlformats.org/drawingml/2006/main"/>
          </p:cNvGraphicFramePr>
          <p:nvPr/>
        </p:nvGraphicFramePr>
        <p:xfrm rot="0">
          <a:off x="2031999" y="1371600"/>
          <a:ext cx="8127999" cy="1346088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4063999"/>
                <a:gridCol w="4063999"/>
              </a:tblGrid>
              <a:tr h="40640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二次积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投影后</a:t>
                      </a:r>
                      <a:endParaRPr/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I⊗I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 lang="zh-CN" sz="1800" u="none" strike="noStrike" cap="none" spc="0">
                        <a:solidFill>
                          <a:schemeClr val="dk1"/>
                        </a:solidFill>
                        <a:latin typeface="Cambria Math"/>
                        <a:ea typeface="Cambria Math"/>
                        <a:cs typeface="Cambria Math"/>
                      </a:endParaRPr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Z⊗Z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-I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 lang="zh-CN" sz="1800" u="none" strike="noStrike" cap="none" spc="0">
                        <a:solidFill>
                          <a:schemeClr val="dk1"/>
                        </a:solidFill>
                        <a:latin typeface="Cambria Math"/>
                        <a:ea typeface="Cambria Math"/>
                        <a:cs typeface="Cambria Math"/>
                      </a:endParaRPr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Z⊗I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z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I⊗Z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z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X⊗X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Y⊗Y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 lang="zh-CN" sz="1800" u="none" strike="noStrike" cap="none" spc="0">
                        <a:solidFill>
                          <a:schemeClr val="dk1"/>
                        </a:solidFill>
                        <a:latin typeface="Cambria Math"/>
                        <a:ea typeface="Cambria Math"/>
                        <a:cs typeface="Cambria Math"/>
                      </a:endParaRPr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X⊗Y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y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Y⊗X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y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452151" name=""/>
          <p:cNvSpPr txBox="1"/>
          <p:nvPr/>
        </p:nvSpPr>
        <p:spPr bwMode="auto">
          <a:xfrm rot="0" flipH="0" flipV="0">
            <a:off x="566248" y="793748"/>
            <a:ext cx="11326705" cy="593602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由于基底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{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I,σ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}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,也就是SU(2)基底的完备性,任何的2*2厄米矩阵都能在上面展开.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因此</a:t>
            </a:r>
            <a:r>
              <a:rPr lang="en-US" sz="2000"/>
              <a:t>,如果有哈密顿: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H=aXX+bYY+cXY+dZZ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在子空间表示下,等价于: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a+b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更一般的</a:t>
            </a:r>
            <a:r>
              <a:rPr lang="en-US" sz="2000"/>
              <a:t>,记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I+d⋅σ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sz="2000"/>
              <a:t>其中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d=(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/>
              <a:t>,具体为: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Tr(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Tr(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9387242" name=""/>
          <p:cNvSpPr txBox="1"/>
          <p:nvPr/>
        </p:nvSpPr>
        <p:spPr bwMode="auto">
          <a:xfrm rot="0" flipH="0" flipV="0">
            <a:off x="866109" y="846666"/>
            <a:ext cx="10715099" cy="41204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取一般都哈密顿形式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H(u)=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a,b ∈ I,X,Y,Z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ab</m:t>
                              </m:r>
                            </m:sub>
                          </m:s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(u)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有如下对照:(严格推导参考文件append/s1.md)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xx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yy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xy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yx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zI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Iz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II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zz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zh-CN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zh-CN"/>
              <a:t>这样</a:t>
            </a:r>
            <a:r>
              <a:rPr lang="en-US"/>
              <a:t>,在逻辑子空间里面,张量积形式就等价为了SU(2)下,也就是可以描述为SU(2)旋转的形式.</a:t>
            </a:r>
            <a:endParaRPr lang="zh-CN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0461932" name=""/>
          <p:cNvSpPr txBox="1"/>
          <p:nvPr/>
        </p:nvSpPr>
        <p:spPr bwMode="auto">
          <a:xfrm rot="0" flipH="0" flipV="0">
            <a:off x="478055" y="723194"/>
            <a:ext cx="11148497" cy="97324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I+d⋅σ</m:t>
                      </m:r>
                    </m:oMath>
                  </m:oMathPara>
                </a14:m>
              </mc:Choice>
              <mc:Fallback/>
            </mc:AlternateContent>
            <a:r>
              <a:rPr sz="2000"/>
              <a:t>的物理意义</a:t>
            </a:r>
            <a:r>
              <a:rPr lang="en-US" sz="2000"/>
              <a:t>: 在子空间里的演化对应着: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  <p:graphicFrame>
        <p:nvGraphicFramePr>
          <p:cNvPr id="1665813682" name=""/>
          <p:cNvGraphicFramePr>
            <a:graphicFrameLocks xmlns:a="http://schemas.openxmlformats.org/drawingml/2006/main"/>
          </p:cNvGraphicFramePr>
          <p:nvPr/>
        </p:nvGraphicFramePr>
        <p:xfrm rot="0">
          <a:off x="1255888" y="1442155"/>
          <a:ext cx="10052444" cy="112985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3350814"/>
                <a:gridCol w="3350814"/>
                <a:gridCol w="3350814"/>
              </a:tblGrid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分量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来源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作用</a:t>
                      </a:r>
                      <a:endParaRPr/>
                    </a:p>
                  </a:txBody>
                  <a:tcPr/>
                </a:tc>
              </a:tr>
              <a:tr h="35424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XX</a:t>
                      </a:r>
                      <a:r>
                        <a:rPr lang="en-US"/>
                        <a:t>, YY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几何旋转</a:t>
                      </a:r>
                      <a:r>
                        <a:rPr lang="en-US"/>
                        <a:t>,hopping/pairing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y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/>
                        <a:t>XY,YX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相位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z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ZI</a:t>
                      </a:r>
                      <a:r>
                        <a:rPr lang="en-US"/>
                        <a:t>,IZ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/>
                        <a:t>能量不对称,分裂等</a:t>
                      </a:r>
                      <a:endParaRPr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06854973" name=""/>
          <p:cNvSpPr txBox="1"/>
          <p:nvPr/>
        </p:nvSpPr>
        <p:spPr bwMode="auto">
          <a:xfrm rot="0" flipH="0" flipV="0">
            <a:off x="425137" y="3280833"/>
            <a:ext cx="11730590" cy="305546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注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: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这里的判断是针对投影后的逻辑子空间低能演化，而不是直接给出整个链的全局拓扑结论。因为现在给出的都是子空间的瞬时的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,并不能代表全局.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具体分析各个分量的物理意义: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在基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{|01〉,|10〉}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下,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把两个逻辑态互相翻转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;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-i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也把两个逻辑态互相翻转，但带上相位；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直接在两个逻辑态之间引入能量差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2245996" name=""/>
          <p:cNvSpPr txBox="1"/>
          <p:nvPr/>
        </p:nvSpPr>
        <p:spPr bwMode="auto">
          <a:xfrm rot="0" flipH="0" flipV="0">
            <a:off x="301665" y="617360"/>
            <a:ext cx="11819149" cy="591792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因此：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和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负责逻辑子空间里的“横向混合 / 旋转”，它们决定有效两能级的几何旋转方向；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负责逻辑子空间里的“纵向偏置”，它直接给态之间加上能量差。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将具体形式带入</a:t>
            </a:r>
            <a:r>
              <a:rPr lang="en-US" sz="2000"/>
              <a:t>,得到瞬时的本征值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±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 </m:t>
                      </m:r>
                      <m:rad>
                        <m:radPr>
                          <m:degHide m:val="on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/>
                          </m:r>
                        </m:deg>
                        <m:e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y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sz="2000"/>
              <a:t>因此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总的能级分裂是：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ΔE=2</m:t>
                      </m:r>
                      <m:rad>
                        <m:radPr>
                          <m:degHide m:val="on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/>
                          </m:r>
                        </m:deg>
                        <m:e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y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前文提到的退化为全局相位的条件是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nary>
                        <m:naryPr>
                          <m:grow m:val="off"/>
                          <m:limLoc m:val="undOvr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d>
                            <m:dPr>
                              <m:begChr m:val=""/>
                              <m:endChr m:val=")"/>
                              <m:ctrlPr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("/>
                                  <m:endChr m:val="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E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</m:t>
                              </m:r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E</m:t>
                                  </m:r>
                                </m:e>
                                <m:sub>
                                  <m:r>
                                    <m:rPr/>
                                    <a:rPr sz="2000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-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 ∈ 2πZ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sz="2000"/>
              <a:t>在这里也可以表示成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nary>
                        <m:naryPr>
                          <m:grow m:val="off"/>
                          <m:limLoc m:val="undOvr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||</m:t>
                          </m:r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||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⋅dt ∈ πZ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1027764" name=""/>
          <p:cNvSpPr txBox="1"/>
          <p:nvPr/>
        </p:nvSpPr>
        <p:spPr bwMode="auto">
          <a:xfrm rot="0" flipH="0" flipV="0">
            <a:off x="213472" y="458610"/>
            <a:ext cx="1178277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297779681" name=""/>
          <p:cNvSpPr txBox="1"/>
          <p:nvPr/>
        </p:nvSpPr>
        <p:spPr bwMode="auto">
          <a:xfrm rot="0" flipH="0" flipV="0">
            <a:off x="213471" y="493884"/>
            <a:ext cx="11819868" cy="601807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具体示例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a:r>
              <a:rPr lang="en-US" sz="2000"/>
              <a:t>取yang baxter的解的椭圆形式, eight vertex类型: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R(u)=</m:t>
                      </m:r>
                      <m:d>
                        <m:dPr>
                          <m:ctrlPr>
                            <a:rPr lang="en-US" sz="2000" b="0" i="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lang="en-US" sz="2000" i="1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cos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lang="en-US" sz="2000" i="1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iδ</m:t>
                                      </m:r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</m:mr>
                                  <m:mr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cos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lang="en-US" sz="2000" i="1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cos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</m:mr>
                                  <m:m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iδ</m:t>
                                      </m:r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lang="en-US" sz="2000" i="1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cos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通过</a:t>
            </a:r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得到哈密顿: (这里简化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+O(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,对小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展开)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func>
                        <m:funcPr>
                          <m:ctrlPr>
                            <a:rPr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cos</m:t>
                          </m:r>
                        </m:fName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fun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XX+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/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sin</m:t>
                              </m:r>
                            </m:fName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func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YX-XY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(ZI-IZ)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矩阵形式: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</m:func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-i</m:t>
                                </m:r>
                                <m:func>
                                  <m:func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</m:func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+i</m:t>
                                </m:r>
                                <m:func>
                                  <m:func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</m:func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-δ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d=(</m:t>
                      </m:r>
                      <m:func>
                        <m:funcPr>
                          <m:ctrlPr>
                            <a:rPr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cos</m:t>
                          </m:r>
                        </m:fName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fun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func>
                        <m:funcPr>
                          <m:ctrlPr>
                            <a:rPr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sin</m:t>
                          </m:r>
                        </m:fName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fun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,δ)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瞬时能级的本征值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:</a:t>
            </a:r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±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/>
                          </m:r>
                        </m:deg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δ</m:t>
                              </m:r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mc:Choice>
              <mc:Fallback/>
            </mc:AlternateContent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8707686" name=""/>
          <p:cNvSpPr txBox="1"/>
          <p:nvPr/>
        </p:nvSpPr>
        <p:spPr bwMode="auto">
          <a:xfrm rot="0" flipH="0" flipV="0">
            <a:off x="213472" y="423333"/>
            <a:ext cx="12087694" cy="507150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根据论文</a:t>
            </a:r>
            <a:endParaRPr lang="zh-CN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Non-Abelian statistics of Majorana zero modes in the presence of an Andreev bound state</a:t>
            </a:r>
            <a:endParaRPr lang="zh-CN" sz="20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Wenqin Chen,1 Jiachen Wang,1 Yijia Wu ,2 Junjie Qi,3 Jie Liu ,1,* and X. C. Xie2,3,4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,</a:t>
            </a: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DOI: 10.1103/PhysRevB.105.054507</a:t>
            </a: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有两个主要观点需要我们的模型复现出来:</a:t>
            </a: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1. 在存在 ABS 的情况下，braid 和 hybridization 的叠加会把单比特演化写成 Bloch 球上的一般SU(2)旋转；</a:t>
            </a: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2. 若通过调节门电压、Zeeman 场或耦合强度使动力学相退化为全局相，则总演化恢复到近似纯编织门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braid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或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，从而恢复理想 non-Abelian statistics。</a:t>
            </a: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第二点根据前文的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nary>
                        <m:naryPr>
                          <m:grow m:val="off"/>
                          <m:limLoc m:val="undOvr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||</m:t>
                          </m:r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||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⋅dt ∈ πZ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已经可以说明,只需要调节对应的物理参数搭建路径u(t),就可以实现.下面着重说明第一点的复现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2108007" name=""/>
          <p:cNvSpPr txBox="1"/>
          <p:nvPr/>
        </p:nvSpPr>
        <p:spPr bwMode="auto">
          <a:xfrm rot="0" flipH="0" flipV="0">
            <a:off x="178193" y="458609"/>
            <a:ext cx="12191737" cy="554776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首先需要先说明我们的模型能否做到SU</a:t>
            </a:r>
            <a:r>
              <a:rPr lang="en-US" sz="2000"/>
              <a:t>(2)的任意旋转,这里给出命题: (完整证明也在append/s1.md)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表示出任意旋转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↔H(u)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张成Lie su(2)代数,形式一点都说法是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李代数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 Lie{i 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⋅σ</m:t>
                      </m:r>
                      <m:sSub>
                        <m:sSub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}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u∈ Τ</m:t>
                          </m:r>
                        </m:sub>
                      </m:sSub>
                      <m:r>
                        <m:rPr>
                          <m:sty m:val="i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=su(2)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当且仅当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参数轨迹的像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D={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u): u∈ Τ}</m:t>
                      </m:r>
                    </m:oMath>
                  </m:oMathPara>
                </a14:m>
              </mc:Choice>
              <mc:Fallback/>
            </mc:AlternateContent>
            <a:r>
              <a:rPr/>
              <a:t>满足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span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sub>
                      </m:sSub>
                      <m:d>
                        <m:dPr>
                          <m:begChr m:val="{"/>
                          <m:endChr m:val="}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也就是要满足: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≠ 0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更强的三点判据（等价）：存在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,u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,u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使得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unc>
                        <m:func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det</m:t>
                          </m:r>
                        </m:fName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[</m:t>
                          </m:r>
                          <m:acc>
                            <m:accPr>
                              <m:chr m:val="⃗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</m:acc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acc>
                            <m:accPr>
                              <m:chr m:val="⃗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</m:acc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acc>
                            <m:accPr>
                              <m:chr m:val="⃗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</m:acc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]</m:t>
                          </m:r>
                        </m:e>
                      </m:func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⋅[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]≠0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简单说明证明要点：对任意两个方向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，有 Lie 对易子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[id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σ,id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⋅σ]=-2i(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)⋅σ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因此只要存在两不共线向量，便可通过一次对易得到第三个方向；三线性独立则生成全 su(2)</a:t>
            </a:r>
            <a:endParaRPr lang="en-US" sz="2000"/>
          </a:p>
          <a:p>
            <a:pPr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Arial"/>
        <a:cs typeface="Arial"/>
      </a:majorFont>
      <a:minorFont>
        <a:latin typeface="等线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Arial"/>
        <a:cs typeface="Arial"/>
      </a:majorFont>
      <a:minorFont>
        <a:latin typeface="等线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ONLYOFFICE/9.3.1.8</Application>
  <PresentationFormat>On-screen Show (4:3)</PresentationFormat>
  <Paragraphs>0</Paragraphs>
  <Slides>26</Slides>
  <Notes>26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/>
  <cp:revision>43</cp:revision>
  <dcterms:created xsi:type="dcterms:W3CDTF">2022-05-23T10:27:50Z</dcterms:created>
  <dcterms:modified xsi:type="dcterms:W3CDTF">2026-05-17T20:15:52Z</dcterms:modified>
</cp:coreProperties>
</file>