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86" d="100"/>
          <a:sy n="86" d="100"/>
        </p:scale>
        <p:origin x="562" y="67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6253439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924157922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6382FE30-D1CB-4640-A759-810F00360910}" type="datetimeFigureOut">
              <a:rPr lang="zh-CN"/>
              <a:t>2022/6/24</a:t>
            </a:fld>
            <a:endParaRPr lang="zh-CN"/>
          </a:p>
        </p:txBody>
      </p:sp>
      <p:sp>
        <p:nvSpPr>
          <p:cNvPr id="82326428" name="幻灯片图像占位符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585965289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编辑母版文本样式</a:t>
            </a:r>
            <a:endParaRPr/>
          </a:p>
          <a:p>
            <a:pPr lvl="1">
              <a:defRPr/>
            </a:pPr>
            <a:r>
              <a:rPr lang="zh-CN"/>
              <a:t>第二级</a:t>
            </a:r>
            <a:endParaRPr/>
          </a:p>
          <a:p>
            <a:pPr lvl="2">
              <a:defRPr/>
            </a:pPr>
            <a:r>
              <a:rPr lang="zh-CN"/>
              <a:t>第三级</a:t>
            </a:r>
            <a:endParaRPr/>
          </a:p>
          <a:p>
            <a:pPr lvl="3">
              <a:defRPr/>
            </a:pPr>
            <a:r>
              <a:rPr lang="zh-CN"/>
              <a:t>第四级</a:t>
            </a:r>
            <a:endParaRPr/>
          </a:p>
          <a:p>
            <a:pPr lvl="4">
              <a:defRPr/>
            </a:pPr>
            <a:r>
              <a:rPr lang="zh-CN"/>
              <a:t>第五级</a:t>
            </a:r>
            <a:endParaRPr/>
          </a:p>
        </p:txBody>
      </p:sp>
      <p:sp>
        <p:nvSpPr>
          <p:cNvPr id="443934360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787759097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024435C-6EC0-481B-A838-74E1A0E375B9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61147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66560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756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BAEE65-8045-A9B3-FD2E-2F89AA941D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8093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5153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07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C37281-EDF7-3A5F-D467-6A2C92C0A7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6930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9232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8659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7B2519-3C56-F9A9-3951-EEE60B8259C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5490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3131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65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D0071E-26B0-1959-20F5-4F813143B59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3320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80810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4563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A5858-B282-1531-0FB3-E460877B49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809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87926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445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5DE5D1-20B4-5255-B211-67DDCA7677B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33273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66808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034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4AB0D4-CC30-9396-13D3-DF7F9DF55BF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66801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9204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1953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267DC9-2837-32EE-1ABC-E67EC3694E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1439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33564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7522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103DA7-9DB3-3B02-6ABD-4F6904C4B4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E8F061-323E-9348-A1A2-F9DFC0B5AF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3605F4-1AF2-E27F-EEFD-D067B5AC13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CC27D5-5D22-EECF-C31F-E7333DC8101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032C3B-1BD9-27BA-EA21-086304F151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D2645-33AF-77F3-C743-AACE7727C8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744E73-1F52-B22C-55CF-4682888914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1840" name="矩形 1"/>
          <p:cNvSpPr/>
          <p:nvPr userDrawn="1"/>
        </p:nvSpPr>
        <p:spPr bwMode="auto">
          <a:xfrm>
            <a:off x="3835400" y="0"/>
            <a:ext cx="4521200" cy="182880"/>
          </a:xfrm>
          <a:prstGeom prst="rect">
            <a:avLst/>
          </a:prstGeom>
          <a:solidFill>
            <a:srgbClr val="2B77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自定义版式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808925" name="矩形 17"/>
          <p:cNvSpPr/>
          <p:nvPr/>
        </p:nvSpPr>
        <p:spPr bwMode="auto">
          <a:xfrm>
            <a:off x="0" y="0"/>
            <a:ext cx="4793942" cy="6858000"/>
          </a:xfrm>
          <a:prstGeom prst="rect">
            <a:avLst/>
          </a:prstGeom>
          <a:blipFill rotWithShape="1">
            <a:blip r:embed="rId3"/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189713418" name="矩形 22"/>
          <p:cNvSpPr/>
          <p:nvPr/>
        </p:nvSpPr>
        <p:spPr bwMode="auto">
          <a:xfrm>
            <a:off x="0" y="1"/>
            <a:ext cx="4793942" cy="6857999"/>
          </a:xfrm>
          <a:prstGeom prst="rect">
            <a:avLst/>
          </a:prstGeom>
          <a:blipFill rotWithShape="1">
            <a:blip r:embed="rId4">
              <a:alphaModFix amt="86000"/>
            </a:blip>
            <a:stretch>
              <a:fillRect l="-52412" t="0" r="-142586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18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+mn-cs"/>
            </a:endParaRPr>
          </a:p>
        </p:txBody>
      </p:sp>
      <p:grpSp>
        <p:nvGrpSpPr>
          <p:cNvPr id="16456235" name="组合 2"/>
          <p:cNvGrpSpPr/>
          <p:nvPr/>
        </p:nvGrpSpPr>
        <p:grpSpPr bwMode="auto">
          <a:xfrm>
            <a:off x="488304" y="1569098"/>
            <a:ext cx="3455807" cy="3408168"/>
            <a:chOff x="-9050" y="2167639"/>
            <a:chExt cx="3455807" cy="3408168"/>
          </a:xfrm>
          <a:solidFill>
            <a:schemeClr val="bg1"/>
          </a:solidFill>
        </p:grpSpPr>
        <p:grpSp>
          <p:nvGrpSpPr>
            <p:cNvPr id="4" name="组合 3"/>
            <p:cNvGrpSpPr/>
            <p:nvPr/>
          </p:nvGrpSpPr>
          <p:grpSpPr bwMode="auto">
            <a:xfrm>
              <a:off x="734486" y="2167639"/>
              <a:ext cx="2487741" cy="2288124"/>
              <a:chOff x="8374817" y="3976831"/>
              <a:chExt cx="719115" cy="661413"/>
            </a:xfrm>
            <a:grpFill/>
          </p:grpSpPr>
          <p:sp>
            <p:nvSpPr>
              <p:cNvPr id="6" name="Freeform 44"/>
              <p:cNvSpPr/>
              <p:nvPr/>
            </p:nvSpPr>
            <p:spPr bwMode="auto">
              <a:xfrm>
                <a:off x="9018919" y="4072040"/>
                <a:ext cx="75013" cy="68522"/>
              </a:xfrm>
              <a:custGeom>
                <a:avLst/>
                <a:gdLst>
                  <a:gd name="T0" fmla="*/ 28 w 44"/>
                  <a:gd name="T1" fmla="*/ 11 h 40"/>
                  <a:gd name="T2" fmla="*/ 0 w 44"/>
                  <a:gd name="T3" fmla="*/ 18 h 40"/>
                  <a:gd name="T4" fmla="*/ 31 w 44"/>
                  <a:gd name="T5" fmla="*/ 40 h 40"/>
                  <a:gd name="T6" fmla="*/ 28 w 44"/>
                  <a:gd name="T7" fmla="*/ 11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0" fill="norm" stroke="1" extrusionOk="0">
                    <a:moveTo>
                      <a:pt x="28" y="11"/>
                    </a:moveTo>
                    <a:cubicBezTo>
                      <a:pt x="13" y="0"/>
                      <a:pt x="0" y="18"/>
                      <a:pt x="0" y="18"/>
                    </a:cubicBezTo>
                    <a:cubicBezTo>
                      <a:pt x="31" y="40"/>
                      <a:pt x="31" y="40"/>
                      <a:pt x="31" y="40"/>
                    </a:cubicBezTo>
                    <a:cubicBezTo>
                      <a:pt x="31" y="40"/>
                      <a:pt x="44" y="22"/>
                      <a:pt x="28" y="1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7" name="Freeform 45"/>
              <p:cNvSpPr/>
              <p:nvPr/>
            </p:nvSpPr>
            <p:spPr bwMode="auto">
              <a:xfrm>
                <a:off x="8831387" y="4116759"/>
                <a:ext cx="230088" cy="284184"/>
              </a:xfrm>
              <a:custGeom>
                <a:avLst/>
                <a:gdLst>
                  <a:gd name="T0" fmla="*/ 187 w 319"/>
                  <a:gd name="T1" fmla="*/ 85 h 394"/>
                  <a:gd name="T2" fmla="*/ 156 w 319"/>
                  <a:gd name="T3" fmla="*/ 125 h 394"/>
                  <a:gd name="T4" fmla="*/ 104 w 319"/>
                  <a:gd name="T5" fmla="*/ 198 h 394"/>
                  <a:gd name="T6" fmla="*/ 0 w 319"/>
                  <a:gd name="T7" fmla="*/ 342 h 394"/>
                  <a:gd name="T8" fmla="*/ 74 w 319"/>
                  <a:gd name="T9" fmla="*/ 394 h 394"/>
                  <a:gd name="T10" fmla="*/ 104 w 319"/>
                  <a:gd name="T11" fmla="*/ 352 h 394"/>
                  <a:gd name="T12" fmla="*/ 130 w 319"/>
                  <a:gd name="T13" fmla="*/ 314 h 394"/>
                  <a:gd name="T14" fmla="*/ 156 w 319"/>
                  <a:gd name="T15" fmla="*/ 276 h 394"/>
                  <a:gd name="T16" fmla="*/ 319 w 319"/>
                  <a:gd name="T17" fmla="*/ 52 h 394"/>
                  <a:gd name="T18" fmla="*/ 248 w 319"/>
                  <a:gd name="T19" fmla="*/ 0 h 394"/>
                  <a:gd name="T20" fmla="*/ 187 w 319"/>
                  <a:gd name="T21" fmla="*/ 85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9" h="394" fill="norm" stroke="1" extrusionOk="0">
                    <a:moveTo>
                      <a:pt x="187" y="85"/>
                    </a:moveTo>
                    <a:lnTo>
                      <a:pt x="156" y="125"/>
                    </a:lnTo>
                    <a:lnTo>
                      <a:pt x="104" y="198"/>
                    </a:lnTo>
                    <a:lnTo>
                      <a:pt x="0" y="342"/>
                    </a:lnTo>
                    <a:lnTo>
                      <a:pt x="74" y="394"/>
                    </a:lnTo>
                    <a:lnTo>
                      <a:pt x="104" y="352"/>
                    </a:lnTo>
                    <a:lnTo>
                      <a:pt x="130" y="314"/>
                    </a:lnTo>
                    <a:lnTo>
                      <a:pt x="156" y="276"/>
                    </a:lnTo>
                    <a:lnTo>
                      <a:pt x="319" y="52"/>
                    </a:lnTo>
                    <a:lnTo>
                      <a:pt x="248" y="0"/>
                    </a:lnTo>
                    <a:lnTo>
                      <a:pt x="187" y="8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8" name="Freeform 46"/>
              <p:cNvSpPr/>
              <p:nvPr/>
            </p:nvSpPr>
            <p:spPr bwMode="auto">
              <a:xfrm>
                <a:off x="8374817" y="3976831"/>
                <a:ext cx="569090" cy="661413"/>
              </a:xfrm>
              <a:custGeom>
                <a:avLst/>
                <a:gdLst>
                  <a:gd name="T0" fmla="*/ 312 w 334"/>
                  <a:gd name="T1" fmla="*/ 348 h 388"/>
                  <a:gd name="T2" fmla="*/ 293 w 334"/>
                  <a:gd name="T3" fmla="*/ 366 h 388"/>
                  <a:gd name="T4" fmla="*/ 40 w 334"/>
                  <a:gd name="T5" fmla="*/ 366 h 388"/>
                  <a:gd name="T6" fmla="*/ 22 w 334"/>
                  <a:gd name="T7" fmla="*/ 348 h 388"/>
                  <a:gd name="T8" fmla="*/ 22 w 334"/>
                  <a:gd name="T9" fmla="*/ 41 h 388"/>
                  <a:gd name="T10" fmla="*/ 40 w 334"/>
                  <a:gd name="T11" fmla="*/ 23 h 388"/>
                  <a:gd name="T12" fmla="*/ 293 w 334"/>
                  <a:gd name="T13" fmla="*/ 23 h 388"/>
                  <a:gd name="T14" fmla="*/ 312 w 334"/>
                  <a:gd name="T15" fmla="*/ 41 h 388"/>
                  <a:gd name="T16" fmla="*/ 312 w 334"/>
                  <a:gd name="T17" fmla="*/ 140 h 388"/>
                  <a:gd name="T18" fmla="*/ 334 w 334"/>
                  <a:gd name="T19" fmla="*/ 109 h 388"/>
                  <a:gd name="T20" fmla="*/ 334 w 334"/>
                  <a:gd name="T21" fmla="*/ 21 h 388"/>
                  <a:gd name="T22" fmla="*/ 313 w 334"/>
                  <a:gd name="T23" fmla="*/ 0 h 388"/>
                  <a:gd name="T24" fmla="*/ 21 w 334"/>
                  <a:gd name="T25" fmla="*/ 0 h 388"/>
                  <a:gd name="T26" fmla="*/ 0 w 334"/>
                  <a:gd name="T27" fmla="*/ 21 h 388"/>
                  <a:gd name="T28" fmla="*/ 0 w 334"/>
                  <a:gd name="T29" fmla="*/ 368 h 388"/>
                  <a:gd name="T30" fmla="*/ 21 w 334"/>
                  <a:gd name="T31" fmla="*/ 388 h 388"/>
                  <a:gd name="T32" fmla="*/ 313 w 334"/>
                  <a:gd name="T33" fmla="*/ 388 h 388"/>
                  <a:gd name="T34" fmla="*/ 334 w 334"/>
                  <a:gd name="T35" fmla="*/ 368 h 388"/>
                  <a:gd name="T36" fmla="*/ 334 w 334"/>
                  <a:gd name="T37" fmla="*/ 223 h 388"/>
                  <a:gd name="T38" fmla="*/ 312 w 334"/>
                  <a:gd name="T39" fmla="*/ 254 h 388"/>
                  <a:gd name="T40" fmla="*/ 312 w 334"/>
                  <a:gd name="T41" fmla="*/ 348 h 3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34" h="388" fill="norm" stroke="1" extrusionOk="0">
                    <a:moveTo>
                      <a:pt x="312" y="348"/>
                    </a:moveTo>
                    <a:cubicBezTo>
                      <a:pt x="312" y="358"/>
                      <a:pt x="303" y="366"/>
                      <a:pt x="293" y="366"/>
                    </a:cubicBezTo>
                    <a:cubicBezTo>
                      <a:pt x="40" y="366"/>
                      <a:pt x="40" y="366"/>
                      <a:pt x="40" y="366"/>
                    </a:cubicBezTo>
                    <a:cubicBezTo>
                      <a:pt x="30" y="366"/>
                      <a:pt x="22" y="358"/>
                      <a:pt x="22" y="348"/>
                    </a:cubicBezTo>
                    <a:cubicBezTo>
                      <a:pt x="22" y="41"/>
                      <a:pt x="22" y="41"/>
                      <a:pt x="22" y="41"/>
                    </a:cubicBezTo>
                    <a:cubicBezTo>
                      <a:pt x="22" y="31"/>
                      <a:pt x="30" y="23"/>
                      <a:pt x="40" y="23"/>
                    </a:cubicBezTo>
                    <a:cubicBezTo>
                      <a:pt x="293" y="23"/>
                      <a:pt x="293" y="23"/>
                      <a:pt x="293" y="23"/>
                    </a:cubicBezTo>
                    <a:cubicBezTo>
                      <a:pt x="303" y="23"/>
                      <a:pt x="312" y="31"/>
                      <a:pt x="312" y="41"/>
                    </a:cubicBezTo>
                    <a:cubicBezTo>
                      <a:pt x="312" y="140"/>
                      <a:pt x="312" y="140"/>
                      <a:pt x="312" y="140"/>
                    </a:cubicBezTo>
                    <a:cubicBezTo>
                      <a:pt x="334" y="109"/>
                      <a:pt x="334" y="109"/>
                      <a:pt x="334" y="109"/>
                    </a:cubicBezTo>
                    <a:cubicBezTo>
                      <a:pt x="334" y="21"/>
                      <a:pt x="334" y="21"/>
                      <a:pt x="334" y="21"/>
                    </a:cubicBezTo>
                    <a:cubicBezTo>
                      <a:pt x="334" y="10"/>
                      <a:pt x="325" y="0"/>
                      <a:pt x="313" y="0"/>
                    </a:cubicBezTo>
                    <a:cubicBezTo>
                      <a:pt x="21" y="0"/>
                      <a:pt x="21" y="0"/>
                      <a:pt x="21" y="0"/>
                    </a:cubicBezTo>
                    <a:cubicBezTo>
                      <a:pt x="9" y="0"/>
                      <a:pt x="0" y="10"/>
                      <a:pt x="0" y="21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9"/>
                      <a:pt x="9" y="388"/>
                      <a:pt x="21" y="388"/>
                    </a:cubicBezTo>
                    <a:cubicBezTo>
                      <a:pt x="313" y="388"/>
                      <a:pt x="313" y="388"/>
                      <a:pt x="313" y="388"/>
                    </a:cubicBezTo>
                    <a:cubicBezTo>
                      <a:pt x="325" y="388"/>
                      <a:pt x="334" y="379"/>
                      <a:pt x="334" y="368"/>
                    </a:cubicBezTo>
                    <a:cubicBezTo>
                      <a:pt x="334" y="223"/>
                      <a:pt x="334" y="223"/>
                      <a:pt x="334" y="223"/>
                    </a:cubicBezTo>
                    <a:cubicBezTo>
                      <a:pt x="312" y="254"/>
                      <a:pt x="312" y="254"/>
                      <a:pt x="312" y="254"/>
                    </a:cubicBezTo>
                    <a:lnTo>
                      <a:pt x="312" y="34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9" name="Freeform 47"/>
              <p:cNvSpPr/>
              <p:nvPr/>
            </p:nvSpPr>
            <p:spPr bwMode="auto">
              <a:xfrm>
                <a:off x="8806142" y="4377142"/>
                <a:ext cx="67800" cy="77177"/>
              </a:xfrm>
              <a:custGeom>
                <a:avLst/>
                <a:gdLst>
                  <a:gd name="T0" fmla="*/ 21 w 94"/>
                  <a:gd name="T1" fmla="*/ 0 h 107"/>
                  <a:gd name="T2" fmla="*/ 0 w 94"/>
                  <a:gd name="T3" fmla="*/ 107 h 107"/>
                  <a:gd name="T4" fmla="*/ 94 w 94"/>
                  <a:gd name="T5" fmla="*/ 52 h 107"/>
                  <a:gd name="T6" fmla="*/ 21 w 94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107" fill="norm" stroke="1" extrusionOk="0">
                    <a:moveTo>
                      <a:pt x="21" y="0"/>
                    </a:moveTo>
                    <a:lnTo>
                      <a:pt x="0" y="107"/>
                    </a:lnTo>
                    <a:lnTo>
                      <a:pt x="94" y="52"/>
                    </a:lnTo>
                    <a:lnTo>
                      <a:pt x="2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0" name="Rectangle 48"/>
              <p:cNvSpPr>
                <a:spLocks noChangeArrowheads="1"/>
              </p:cNvSpPr>
              <p:nvPr/>
            </p:nvSpPr>
            <p:spPr bwMode="auto">
              <a:xfrm>
                <a:off x="8459928" y="4504808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1" name="Rectangle 49"/>
              <p:cNvSpPr>
                <a:spLocks noChangeArrowheads="1"/>
              </p:cNvSpPr>
              <p:nvPr/>
            </p:nvSpPr>
            <p:spPr bwMode="auto">
              <a:xfrm>
                <a:off x="8459928" y="4428352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2" name="Rectangle 50"/>
              <p:cNvSpPr>
                <a:spLocks noChangeArrowheads="1"/>
              </p:cNvSpPr>
              <p:nvPr/>
            </p:nvSpPr>
            <p:spPr bwMode="auto">
              <a:xfrm>
                <a:off x="8459928" y="4354782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3" name="Rectangle 51"/>
              <p:cNvSpPr>
                <a:spLocks noChangeArrowheads="1"/>
              </p:cNvSpPr>
              <p:nvPr/>
            </p:nvSpPr>
            <p:spPr bwMode="auto">
              <a:xfrm>
                <a:off x="8459928" y="4278326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4" name="Rectangle 52"/>
              <p:cNvSpPr>
                <a:spLocks noChangeArrowheads="1"/>
              </p:cNvSpPr>
              <p:nvPr/>
            </p:nvSpPr>
            <p:spPr bwMode="auto">
              <a:xfrm>
                <a:off x="8459928" y="4201870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5" name="Rectangle 53"/>
              <p:cNvSpPr>
                <a:spLocks noChangeArrowheads="1"/>
              </p:cNvSpPr>
              <p:nvPr/>
            </p:nvSpPr>
            <p:spPr bwMode="auto">
              <a:xfrm>
                <a:off x="8459928" y="4124694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</p:grpSp>
        <p:sp>
          <p:nvSpPr>
            <p:cNvPr id="5" name="TextBox 59"/>
            <p:cNvSpPr>
              <a:spLocks noChangeArrowheads="1"/>
            </p:cNvSpPr>
            <p:nvPr/>
          </p:nvSpPr>
          <p:spPr bwMode="auto">
            <a:xfrm flipH="1">
              <a:off x="-9050" y="4652477"/>
              <a:ext cx="3455807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/>
                  <a:ea typeface="宋体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5pPr>
              <a:lvl6pPr marL="25146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6pPr>
              <a:lvl7pPr marL="29718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7pPr>
              <a:lvl8pPr marL="34290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8pPr>
              <a:lvl9pPr marL="38862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9pPr>
            </a:lstStyle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5400" b="1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David"/>
                </a:rPr>
                <a:t>CONTENTS </a:t>
              </a:r>
              <a:endParaRPr/>
            </a:p>
          </p:txBody>
        </p:sp>
      </p:grpSp>
      <p:sp>
        <p:nvSpPr>
          <p:cNvPr id="817159138" name="Oval 4"/>
          <p:cNvSpPr/>
          <p:nvPr/>
        </p:nvSpPr>
        <p:spPr bwMode="auto">
          <a:xfrm>
            <a:off x="6759301" y="146166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1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1808106812" name="Oval 4"/>
          <p:cNvSpPr/>
          <p:nvPr/>
        </p:nvSpPr>
        <p:spPr bwMode="auto">
          <a:xfrm>
            <a:off x="6759301" y="264024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2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1371159433" name="Oval 4"/>
          <p:cNvSpPr/>
          <p:nvPr/>
        </p:nvSpPr>
        <p:spPr bwMode="auto">
          <a:xfrm>
            <a:off x="6759301" y="381882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3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2124073621" name="Oval 4"/>
          <p:cNvSpPr/>
          <p:nvPr/>
        </p:nvSpPr>
        <p:spPr bwMode="auto">
          <a:xfrm>
            <a:off x="6759301" y="499740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4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796301730" name="Text Box 17"/>
          <p:cNvSpPr txBox="1">
            <a:spLocks noChangeArrowheads="1"/>
          </p:cNvSpPr>
          <p:nvPr/>
        </p:nvSpPr>
        <p:spPr bwMode="auto">
          <a:xfrm>
            <a:off x="7672453" y="1543959"/>
            <a:ext cx="3193305" cy="579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  <p:sp>
        <p:nvSpPr>
          <p:cNvPr id="1887528010" name="Text Box 17"/>
          <p:cNvSpPr txBox="1">
            <a:spLocks noChangeArrowheads="1"/>
          </p:cNvSpPr>
          <p:nvPr/>
        </p:nvSpPr>
        <p:spPr bwMode="auto">
          <a:xfrm flipH="0" flipV="0">
            <a:off x="7643596" y="2766558"/>
            <a:ext cx="4090124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YBE到子空间</a:t>
            </a:r>
            <a:endParaRPr/>
          </a:p>
        </p:txBody>
      </p:sp>
      <p:sp>
        <p:nvSpPr>
          <p:cNvPr id="1591946033" name="Text Box 17"/>
          <p:cNvSpPr txBox="1">
            <a:spLocks noChangeArrowheads="1"/>
          </p:cNvSpPr>
          <p:nvPr/>
        </p:nvSpPr>
        <p:spPr bwMode="auto">
          <a:xfrm flipH="0" flipV="0">
            <a:off x="7643596" y="4022204"/>
            <a:ext cx="4147837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从路径构建MZM</a:t>
            </a:r>
            <a:r>
              <a:rPr lang="en-US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/ABS</a:t>
            </a:r>
            <a:endParaRPr lang="zh-CN" sz="32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Times New Roman"/>
            </a:endParaRPr>
          </a:p>
        </p:txBody>
      </p:sp>
      <p:sp>
        <p:nvSpPr>
          <p:cNvPr id="1669450798" name="Text Box 17"/>
          <p:cNvSpPr txBox="1">
            <a:spLocks noChangeArrowheads="1"/>
          </p:cNvSpPr>
          <p:nvPr/>
        </p:nvSpPr>
        <p:spPr bwMode="auto">
          <a:xfrm>
            <a:off x="7672453" y="5079698"/>
            <a:ext cx="2737167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论文结果复现</a:t>
            </a:r>
            <a:endParaRPr lang="zh-CN" sz="32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18896675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8"/>
            <a:ext cx="5516879" cy="1717039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1590127718" name="组合 15"/>
          <p:cNvGrpSpPr/>
          <p:nvPr/>
        </p:nvGrpSpPr>
        <p:grpSpPr bwMode="auto">
          <a:xfrm>
            <a:off x="0" y="2529838"/>
            <a:ext cx="12192000" cy="1757679"/>
            <a:chOff x="0" y="2529838"/>
            <a:chExt cx="12192000" cy="1757679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72983156" name="矩形 1"/>
            <p:cNvSpPr/>
            <p:nvPr/>
          </p:nvSpPr>
          <p:spPr bwMode="auto">
            <a:xfrm>
              <a:off x="0" y="2529838"/>
              <a:ext cx="5516879" cy="1717039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800304686" name="矩形 12"/>
            <p:cNvSpPr/>
            <p:nvPr/>
          </p:nvSpPr>
          <p:spPr bwMode="auto">
            <a:xfrm>
              <a:off x="11348719" y="2529838"/>
              <a:ext cx="843279" cy="1757679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1808474352" name="矩形 7"/>
          <p:cNvSpPr/>
          <p:nvPr/>
        </p:nvSpPr>
        <p:spPr bwMode="auto">
          <a:xfrm>
            <a:off x="1630065" y="3046550"/>
            <a:ext cx="3856889" cy="1200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01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1517261294" name="矩形 8"/>
          <p:cNvSpPr/>
          <p:nvPr/>
        </p:nvSpPr>
        <p:spPr bwMode="auto">
          <a:xfrm>
            <a:off x="5959117" y="2875001"/>
            <a:ext cx="4923919" cy="1097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zh-CN" sz="6600" b="1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41231" name=""/>
          <p:cNvSpPr txBox="1"/>
          <p:nvPr/>
        </p:nvSpPr>
        <p:spPr bwMode="auto">
          <a:xfrm rot="0" flipH="0" flipV="0">
            <a:off x="667082" y="3312034"/>
            <a:ext cx="2927492" cy="396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1202620144" name=""/>
          <p:cNvSpPr txBox="1"/>
          <p:nvPr/>
        </p:nvSpPr>
        <p:spPr bwMode="auto">
          <a:xfrm rot="0" flipH="0" flipV="0">
            <a:off x="5144874" y="4036211"/>
            <a:ext cx="1777614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JW 映射</a:t>
            </a:r>
            <a:endParaRPr/>
          </a:p>
        </p:txBody>
      </p:sp>
      <p:sp>
        <p:nvSpPr>
          <p:cNvPr id="906712940" name=""/>
          <p:cNvSpPr txBox="1"/>
          <p:nvPr/>
        </p:nvSpPr>
        <p:spPr bwMode="auto">
          <a:xfrm rot="0" flipH="0" flipV="0">
            <a:off x="7940719" y="3183732"/>
            <a:ext cx="3131274" cy="5972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876044583" name=""/>
          <p:cNvSpPr txBox="1"/>
          <p:nvPr/>
        </p:nvSpPr>
        <p:spPr bwMode="auto">
          <a:xfrm rot="0" flipH="0" flipV="0">
            <a:off x="-244488" y="935901"/>
            <a:ext cx="5190223" cy="7282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494247607" name=""/>
          <p:cNvSpPr txBox="1"/>
          <p:nvPr/>
        </p:nvSpPr>
        <p:spPr bwMode="auto">
          <a:xfrm rot="0" flipH="0" flipV="0">
            <a:off x="7387520" y="1056576"/>
            <a:ext cx="4679072" cy="37722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369060661" name=""/>
          <p:cNvSpPr/>
          <p:nvPr/>
        </p:nvSpPr>
        <p:spPr bwMode="auto">
          <a:xfrm rot="0" flipH="0" flipV="0">
            <a:off x="9370909" y="1730099"/>
            <a:ext cx="294409" cy="12832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18643039" name=""/>
          <p:cNvSpPr/>
          <p:nvPr/>
        </p:nvSpPr>
        <p:spPr bwMode="auto">
          <a:xfrm rot="0" flipH="0" flipV="0">
            <a:off x="3628491" y="3361134"/>
            <a:ext cx="4312227" cy="347500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80869303" name=""/>
          <p:cNvSpPr/>
          <p:nvPr/>
        </p:nvSpPr>
        <p:spPr bwMode="auto">
          <a:xfrm rot="0" flipH="0" flipV="0">
            <a:off x="4348636" y="1149940"/>
            <a:ext cx="3099954" cy="190499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29969600" name=""/>
          <p:cNvSpPr/>
          <p:nvPr/>
        </p:nvSpPr>
        <p:spPr bwMode="auto">
          <a:xfrm rot="0" flipH="0" flipV="0">
            <a:off x="1924090" y="1816690"/>
            <a:ext cx="242454" cy="1196672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70960722" name=""/>
          <p:cNvSpPr txBox="1"/>
          <p:nvPr/>
        </p:nvSpPr>
        <p:spPr bwMode="auto">
          <a:xfrm rot="0" flipH="0" flipV="0">
            <a:off x="1095736" y="399038"/>
            <a:ext cx="189916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谱参数YBE的解</a:t>
            </a:r>
            <a:endParaRPr/>
          </a:p>
        </p:txBody>
      </p:sp>
      <p:sp>
        <p:nvSpPr>
          <p:cNvPr id="832473657" name=""/>
          <p:cNvSpPr txBox="1"/>
          <p:nvPr/>
        </p:nvSpPr>
        <p:spPr bwMode="auto">
          <a:xfrm rot="0" flipH="0" flipV="0">
            <a:off x="8712817" y="569781"/>
            <a:ext cx="169210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求解哈密顿</a:t>
            </a:r>
            <a:endParaRPr/>
          </a:p>
        </p:txBody>
      </p:sp>
      <p:sp>
        <p:nvSpPr>
          <p:cNvPr id="1054715325" name=""/>
          <p:cNvSpPr txBox="1"/>
          <p:nvPr/>
        </p:nvSpPr>
        <p:spPr bwMode="auto">
          <a:xfrm rot="0" flipH="0" flipV="0">
            <a:off x="667082" y="3777806"/>
            <a:ext cx="2633841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以majorana算符的表示</a:t>
            </a:r>
            <a:endParaRPr/>
          </a:p>
        </p:txBody>
      </p:sp>
      <p:sp>
        <p:nvSpPr>
          <p:cNvPr id="918334831" name=""/>
          <p:cNvSpPr txBox="1"/>
          <p:nvPr/>
        </p:nvSpPr>
        <p:spPr bwMode="auto">
          <a:xfrm rot="0" flipH="0" flipV="0">
            <a:off x="8504999" y="3847078"/>
            <a:ext cx="3152629" cy="3782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pauli张量积</a:t>
            </a:r>
            <a:r>
              <a:rPr lang="en-US"/>
              <a:t>，二体算符表示</a:t>
            </a:r>
            <a:endParaRPr/>
          </a:p>
        </p:txBody>
      </p:sp>
      <p:sp>
        <p:nvSpPr>
          <p:cNvPr id="1202137387" name=""/>
          <p:cNvSpPr/>
          <p:nvPr/>
        </p:nvSpPr>
        <p:spPr bwMode="auto">
          <a:xfrm rot="0" flipH="0" flipV="0">
            <a:off x="9575203" y="4287468"/>
            <a:ext cx="121227" cy="1150439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52544753" name=""/>
          <p:cNvSpPr txBox="1"/>
          <p:nvPr/>
        </p:nvSpPr>
        <p:spPr bwMode="auto">
          <a:xfrm rot="0" flipH="0" flipV="0">
            <a:off x="7250105" y="5474983"/>
            <a:ext cx="477142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=d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723961057" name=""/>
          <p:cNvSpPr txBox="1"/>
          <p:nvPr/>
        </p:nvSpPr>
        <p:spPr bwMode="auto">
          <a:xfrm rot="0" flipH="0" flipV="0">
            <a:off x="8163770" y="5994528"/>
            <a:ext cx="343324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单比特空间上的SU(2)表示</a:t>
            </a:r>
            <a:endParaRPr/>
          </a:p>
        </p:txBody>
      </p:sp>
      <p:sp>
        <p:nvSpPr>
          <p:cNvPr id="1411304140" name=""/>
          <p:cNvSpPr/>
          <p:nvPr/>
        </p:nvSpPr>
        <p:spPr bwMode="auto">
          <a:xfrm rot="0" flipH="0" flipV="0">
            <a:off x="1924090" y="4329545"/>
            <a:ext cx="45720" cy="11083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75420996" name=""/>
          <p:cNvSpPr txBox="1"/>
          <p:nvPr/>
        </p:nvSpPr>
        <p:spPr bwMode="auto">
          <a:xfrm rot="0" flipH="0" flipV="0">
            <a:off x="226870" y="5489863"/>
            <a:ext cx="344556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=iγ⋅(δ⋅γ)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928633142" name=""/>
          <p:cNvSpPr txBox="1"/>
          <p:nvPr/>
        </p:nvSpPr>
        <p:spPr bwMode="auto">
          <a:xfrm rot="0" flipH="0" flipV="0">
            <a:off x="573272" y="5940136"/>
            <a:ext cx="3445881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bloch球旋转的形式</a:t>
            </a:r>
            <a:endParaRPr/>
          </a:p>
        </p:txBody>
      </p:sp>
      <p:sp>
        <p:nvSpPr>
          <p:cNvPr id="1920502370" name=""/>
          <p:cNvSpPr txBox="1"/>
          <p:nvPr/>
        </p:nvSpPr>
        <p:spPr bwMode="auto">
          <a:xfrm rot="0" flipH="0" flipV="0">
            <a:off x="140317" y="1909954"/>
            <a:ext cx="725885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accent2"/>
                </a:solidFill>
              </a:rPr>
              <a:t>论文路线</a:t>
            </a:r>
            <a:endParaRPr/>
          </a:p>
        </p:txBody>
      </p:sp>
      <p:sp>
        <p:nvSpPr>
          <p:cNvPr id="1066850144" name=""/>
          <p:cNvSpPr txBox="1"/>
          <p:nvPr/>
        </p:nvSpPr>
        <p:spPr bwMode="auto">
          <a:xfrm rot="0" flipH="0" flipV="0">
            <a:off x="11225413" y="1909954"/>
            <a:ext cx="864430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rgbClr val="7030A0"/>
                </a:solidFill>
              </a:rPr>
              <a:t>模型路线</a:t>
            </a:r>
            <a:endParaRPr/>
          </a:p>
        </p:txBody>
      </p:sp>
      <p:sp>
        <p:nvSpPr>
          <p:cNvPr id="1968640874" name=""/>
          <p:cNvSpPr txBox="1"/>
          <p:nvPr/>
        </p:nvSpPr>
        <p:spPr bwMode="auto">
          <a:xfrm rot="0" flipH="0" flipV="0">
            <a:off x="4868181" y="1543834"/>
            <a:ext cx="205430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在路径上编织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122938" name="矩形 29"/>
          <p:cNvSpPr/>
          <p:nvPr/>
        </p:nvSpPr>
        <p:spPr bwMode="auto">
          <a:xfrm>
            <a:off x="1893060" y="412751"/>
            <a:ext cx="8420639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结果总览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7426747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9"/>
            <a:ext cx="5516880" cy="1717040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1248996471" name="组合 15"/>
          <p:cNvGrpSpPr/>
          <p:nvPr/>
        </p:nvGrpSpPr>
        <p:grpSpPr bwMode="auto">
          <a:xfrm>
            <a:off x="0" y="2529839"/>
            <a:ext cx="12192000" cy="1757680"/>
            <a:chOff x="0" y="2529839"/>
            <a:chExt cx="12192000" cy="1757680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2" name="矩形 1"/>
            <p:cNvSpPr/>
            <p:nvPr/>
          </p:nvSpPr>
          <p:spPr bwMode="auto">
            <a:xfrm>
              <a:off x="0" y="2529839"/>
              <a:ext cx="5516880" cy="1717040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3" name="矩形 12"/>
            <p:cNvSpPr/>
            <p:nvPr/>
          </p:nvSpPr>
          <p:spPr bwMode="auto">
            <a:xfrm>
              <a:off x="11348720" y="2529839"/>
              <a:ext cx="843280" cy="1757680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334334077" name="矩形 7"/>
          <p:cNvSpPr/>
          <p:nvPr/>
        </p:nvSpPr>
        <p:spPr bwMode="auto">
          <a:xfrm>
            <a:off x="1630065" y="3046550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02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571204862" name="矩形 8"/>
          <p:cNvSpPr/>
          <p:nvPr/>
        </p:nvSpPr>
        <p:spPr bwMode="auto">
          <a:xfrm flipH="0" flipV="0">
            <a:off x="5516878" y="2912370"/>
            <a:ext cx="5729868" cy="6506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YBE到子空间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174361" name="矩形 29"/>
          <p:cNvSpPr/>
          <p:nvPr/>
        </p:nvSpPr>
        <p:spPr bwMode="auto">
          <a:xfrm>
            <a:off x="1893060" y="412751"/>
            <a:ext cx="8415238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模型改进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  <p:sp>
        <p:nvSpPr>
          <p:cNvPr id="1645303425" name=""/>
          <p:cNvSpPr txBox="1"/>
          <p:nvPr/>
        </p:nvSpPr>
        <p:spPr bwMode="auto">
          <a:xfrm rot="0" flipH="0" flipV="0">
            <a:off x="711817" y="1697181"/>
            <a:ext cx="11554063" cy="390470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上一次的模型</a:t>
            </a:r>
            <a:r>
              <a:rPr lang="en-US" sz="2200"/>
              <a:t>:</a:t>
            </a:r>
            <a:endParaRPr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R=exp(iH)</m:t>
                      </m:r>
                    </m:oMath>
                  </m:oMathPara>
                </a14:m>
              </mc:Choice>
              <mc:Fallback/>
            </mc:AlternateContent>
            <a:endParaRPr lang="en-US" sz="22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2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a:r>
              <a:rPr sz="2200"/>
              <a:t>存在如下问题</a:t>
            </a:r>
            <a:r>
              <a:rPr lang="en-US" sz="2200"/>
              <a:t>, 这是一个代数模型，对应的可以认为是一个静态的解，并不能符合一般都物理算符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U=T ∫</m:t>
                      </m:r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iH(s)ds</m:t>
                      </m:r>
                    </m:oMath>
                  </m:oMathPara>
                </a14:m>
              </mc:Choice>
              <mc:Fallback/>
            </mc:AlternateContent>
            <a:r>
              <a:rPr lang="en-US" sz="2200"/>
              <a:t> （T:路径有序算符）. 所以沿着时间路径演化对应的R应该看作一系列静态的组合，是对应的一族的解。</a:t>
            </a:r>
            <a:endParaRPr lang="en-US" sz="2200"/>
          </a:p>
          <a:p>
            <a:pPr>
              <a:defRPr/>
            </a:pPr>
            <a:endParaRPr lang="en-US" sz="2200"/>
          </a:p>
          <a:p>
            <a:pPr>
              <a:defRPr/>
            </a:pPr>
            <a:r>
              <a:rPr lang="en-US" sz="2200"/>
              <a:t>所以考虑带有谱参数的Yang Baxter方程: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364198" name=""/>
          <p:cNvSpPr txBox="1"/>
          <p:nvPr/>
        </p:nvSpPr>
        <p:spPr bwMode="auto">
          <a:xfrm rot="0" flipH="0" flipV="0">
            <a:off x="642545" y="831272"/>
            <a:ext cx="110316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98031437" name=""/>
          <p:cNvSpPr txBox="1"/>
          <p:nvPr/>
        </p:nvSpPr>
        <p:spPr bwMode="auto">
          <a:xfrm rot="0" flipH="0" flipV="0">
            <a:off x="798409" y="1264227"/>
            <a:ext cx="10244797" cy="506635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在引入了谱参数后</a:t>
            </a:r>
            <a:r>
              <a:rPr lang="en-US" sz="2000"/>
              <a:t>，把谱参数看作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u=u(t)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， 则谱参数的变化就体现了时间上的演化。进一步可以把R(u)和哈密顿写为： 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可以得到生成元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：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使用pauli张量积表示为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非阿贝尔性不在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本身,而在本征态随 u 的变化结构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mn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=i〈m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n(u)〉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709675" name=""/>
          <p:cNvSpPr txBox="1"/>
          <p:nvPr/>
        </p:nvSpPr>
        <p:spPr bwMode="auto">
          <a:xfrm rot="0" flipH="0" flipV="0">
            <a:off x="573272" y="1091045"/>
            <a:ext cx="11500914" cy="430483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参考论文的观点</a:t>
            </a:r>
            <a:r>
              <a:rPr lang="en-US" sz="2000"/>
              <a:t>，把演化写成几何项和动力学的额外项乘积：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-i∫E(t)dt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表示了几何项这个非阿贝尔演化: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 ∫A(u)du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能谱用来区分 MZM 与 ABS</a:t>
            </a:r>
            <a:r>
              <a:rPr lang="en-US" sz="2000"/>
              <a:t>：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MZM: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E≈0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且受拓扑/局域性保护；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ABS: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 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（或仅在有限系统中近似零能）；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trivial: 有较大能隙，无零模。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如果想要使得之前定义的,谱参数YBE给出的R(u)符合如上含时演化的情形,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602744" name=""/>
          <p:cNvSpPr txBox="1"/>
          <p:nvPr/>
        </p:nvSpPr>
        <p:spPr bwMode="auto">
          <a:xfrm rot="0" flipH="0" flipV="0">
            <a:off x="53726" y="398317"/>
            <a:ext cx="12095966" cy="59156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定义本征态矩阵</a:t>
            </a:r>
            <a:r>
              <a:rPr lang="en-US" sz="2000"/>
              <a:t>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=(|1(u)〉,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|2(u)〉...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1800"/>
              <a:t>有</a:t>
            </a:r>
            <a:r>
              <a:rPr lang="en-US" sz="1800"/>
              <a:t>: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(u)|n(u)〉</m:t>
                      </m:r>
                    </m:oMath>
                  </m:oMathPara>
                </a14:m>
              </mc:Choice>
              <mc:Fallback/>
            </mc:AlternateContent>
            <a:endParaRPr lang="en-US" sz="1800"/>
          </a:p>
          <a:p>
            <a:pPr>
              <a:defRPr/>
            </a:pPr>
            <a:r>
              <a:rPr lang="en-US" sz="1800"/>
              <a:t>根据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则有瞬时本征分解：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=V(u)E(u)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diag{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(u),...}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把任意态写成本征基的展开：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|"/>
                          <m:endChr m:val="|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〉=V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</m:d>
                      <m:acc>
                        <m:accPr>
                          <m:chr m:val="̃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代入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|ψ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〉=H(u)|ψ(u)〉</m:t>
                      </m:r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左</a:t>
            </a:r>
            <a:r>
              <a:rPr lang="en-US"/>
              <a:t>乘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/>
              <a:t>,: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V)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E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移项得到: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E-A</m:t>
                          </m:r>
                        </m:e>
                      </m:d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, 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/>
              <a:t>生成元为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E-A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5389207" name=""/>
          <p:cNvSpPr txBox="1"/>
          <p:nvPr/>
        </p:nvSpPr>
        <p:spPr bwMode="auto">
          <a:xfrm rot="0" flipH="0" flipV="0">
            <a:off x="330818" y="727363"/>
            <a:ext cx="11822476" cy="45120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在简并子空间</a:t>
            </a:r>
            <a:r>
              <a:rPr lang="en-US" sz="2000"/>
              <a:t>S上投影: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a∈S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|a(u)〉〈a(u)|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=P(u)H(u)P(u)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得到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表示能谱(对角),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为berry connection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非阿贝尔性产生的来源:</a:t>
            </a:r>
            <a:endParaRPr lang="en-US" sz="2000"/>
          </a:p>
          <a:p>
            <a:pPr>
              <a:defRPr/>
            </a:pPr>
            <a:r>
              <a:rPr lang="en-US" sz="2000"/>
              <a:t>1,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,参考下一页,否则出现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∞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2,</a:t>
            </a:r>
            <a:r>
              <a:rPr sz="1900" b="0" i="1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子空间内</a:t>
            </a:r>
            <a:r>
              <a:rPr lang="en-US" sz="200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〈a|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|b〉≠0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,否则所有项都是对角,是abel</a:t>
            </a:r>
            <a:endParaRPr lang="en-US" sz="2000"/>
          </a:p>
          <a:p>
            <a:pPr>
              <a:defRPr/>
            </a:pPr>
            <a:r>
              <a:rPr lang="en-US" sz="2000"/>
              <a:t>3,路径非对易,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(u)]≠0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6065384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60030" y="-51954"/>
            <a:ext cx="11386325" cy="6909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889918" name=""/>
          <p:cNvSpPr txBox="1"/>
          <p:nvPr/>
        </p:nvSpPr>
        <p:spPr bwMode="auto">
          <a:xfrm rot="0" flipH="0" flipV="0">
            <a:off x="407499" y="881944"/>
            <a:ext cx="11652834" cy="9539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下面通过引入一个简单的例子</a:t>
            </a:r>
            <a:r>
              <a:rPr lang="en-US" sz="2000"/>
              <a:t>,说明把现在的pauli张量积投影到子空间后,会呈现出简单的SU(2)群结构.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ONLYOFFICE/9.3.1.8</Application>
  <PresentationFormat>On-screen Show (4:3)</PresentationFormat>
  <Paragraphs>0</Paragraphs>
  <Slides>15</Slides>
  <Notes>15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Taniaq;李一鸣;沈智然</dc:creator>
  <cp:lastModifiedBy/>
  <cp:revision>34</cp:revision>
  <dcterms:created xsi:type="dcterms:W3CDTF">2022-05-23T10:27:50Z</dcterms:created>
  <dcterms:modified xsi:type="dcterms:W3CDTF">2026-05-14T16:58:54Z</dcterms:modified>
</cp:coreProperties>
</file>