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54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47.xml" ContentType="application/vnd.openxmlformats-officedocument.presentationml.notes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15.xml" ContentType="application/vnd.openxmlformats-officedocument.presentationml.slide+xml"/>
  <Override PartName="/ppt/slides/slide40.xml" ContentType="application/vnd.openxmlformats-officedocument.presentationml.slide+xml"/>
  <Override PartName="/ppt/slides/slide24.xml" ContentType="application/vnd.openxmlformats-officedocument.presentationml.slide+xml"/>
  <Override PartName="/ppt/notesSlides/notesSlide4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1.xml" ContentType="application/vnd.openxmlformats-officedocument.presentationml.notesSlide+xml"/>
  <Override PartName="/ppt/slides/slide27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23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20.xml" ContentType="application/vnd.openxmlformats-officedocument.presentationml.notesSlide+xml"/>
  <Override PartName="/ppt/notesSlides/notesSlide30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docProps/core.xml" ContentType="application/vnd.openxmlformats-package.core-properties+xml"/>
  <Override PartName="/ppt/slides/slide25.xml" ContentType="application/vnd.openxmlformats-officedocument.presentationml.slide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notesSlides/notesSlide55.xml" ContentType="application/vnd.openxmlformats-officedocument.presentationml.notesSlide+xml"/>
  <Override PartName="/ppt/notesSlides/notesSlide11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3.xml" ContentType="application/vnd.openxmlformats-officedocument.presentationml.slide+xml"/>
  <Override PartName="/ppt/slides/slide30.xml" ContentType="application/vnd.openxmlformats-officedocument.presentationml.slide+xml"/>
  <Override PartName="/ppt/theme/theme2.xml" ContentType="application/vnd.openxmlformats-officedocument.theme+xml"/>
  <Override PartName="/ppt/notesSlides/notesSlide49.xml" ContentType="application/vnd.openxmlformats-officedocument.presentationml.notesSlide+xml"/>
  <Override PartName="/ppt/slides/slide20.xml" ContentType="application/vnd.openxmlformats-officedocument.presentationml.slide+xml"/>
  <Override PartName="/ppt/slides/slide47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notesSlides/notesSlide46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notesSlides/notesSlide3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3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3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presentation.xml" ContentType="application/vnd.openxmlformats-officedocument.presentationml.presentation.main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5.xml" ContentType="application/vnd.openxmlformats-officedocument.presentationml.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53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24.xml" ContentType="application/vnd.openxmlformats-officedocument.presentationml.notesSlide+xml"/>
  <Override PartName="/ppt/slides/slide8.xml" ContentType="application/vnd.openxmlformats-officedocument.presentationml.slide+xml"/>
  <Override PartName="/ppt/slides/slide51.xml" ContentType="application/vnd.openxmlformats-officedocument.presentationml.slide+xml"/>
  <Override PartName="/ppt/slides/slide54.xml" ContentType="application/vnd.openxmlformats-officedocument.presentationml.slide+xml"/>
  <Override PartName="/ppt/notesSlides/notesSlide19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s/slide52.xml" ContentType="application/vnd.openxmlformats-officedocument.presentationml.slide+xml"/>
  <Override PartName="/ppt/slides/slide55.xml" ContentType="application/vnd.openxmlformats-officedocument.presentationml.slide+xml"/>
  <Override PartName="/ppt/notesSlides/notesSlide2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4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22.xml" ContentType="application/vnd.openxmlformats-officedocument.presentationml.notes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6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</p:sldIdLst>
  <p:sldSz cx="12192000" cy="6858000"/>
  <p:notesSz cx="6858000" cy="9144000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86" d="100"/>
          <a:sy n="86" d="100"/>
        </p:scale>
        <p:origin x="562" y="67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 /><Relationship Id="rId62" Type="http://schemas.openxmlformats.org/officeDocument/2006/relationships/tableStyles" Target="tableStyles.xml" /><Relationship Id="rId6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233549" name="页眉占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37705354" name="日期占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6382FE30-D1CB-4640-A759-810F00360910}" type="datetimeFigureOut">
              <a:rPr lang="zh-CN"/>
              <a:t>2022/6/24</a:t>
            </a:fld>
            <a:endParaRPr lang="zh-CN"/>
          </a:p>
        </p:txBody>
      </p:sp>
      <p:sp>
        <p:nvSpPr>
          <p:cNvPr id="297469445" name="幻灯片图像占位符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401320789" name="备注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编辑母版文本样式</a:t>
            </a:r>
            <a:endParaRPr/>
          </a:p>
          <a:p>
            <a:pPr lvl="1">
              <a:defRPr/>
            </a:pPr>
            <a:r>
              <a:rPr lang="zh-CN"/>
              <a:t>第二级</a:t>
            </a:r>
            <a:endParaRPr/>
          </a:p>
          <a:p>
            <a:pPr lvl="2">
              <a:defRPr/>
            </a:pPr>
            <a:r>
              <a:rPr lang="zh-CN"/>
              <a:t>第三级</a:t>
            </a:r>
            <a:endParaRPr/>
          </a:p>
          <a:p>
            <a:pPr lvl="3">
              <a:defRPr/>
            </a:pPr>
            <a:r>
              <a:rPr lang="zh-CN"/>
              <a:t>第四级</a:t>
            </a:r>
            <a:endParaRPr/>
          </a:p>
          <a:p>
            <a:pPr lvl="4">
              <a:defRPr/>
            </a:pPr>
            <a:r>
              <a:rPr lang="zh-CN"/>
              <a:t>第五级</a:t>
            </a:r>
            <a:endParaRPr/>
          </a:p>
        </p:txBody>
      </p:sp>
      <p:sp>
        <p:nvSpPr>
          <p:cNvPr id="559576494" name="页脚占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821347154" name="灯片编号占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024435C-6EC0-481B-A838-74E1A0E375B9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 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 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 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 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 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 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 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 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 ?>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 ?>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 ?>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 ?>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 ?>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 ?>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 ?>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 ?>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 ?>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 ?>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 ?>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9027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7190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375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BAEE65-8045-A9B3-FD2E-2F89AA941D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1331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86611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354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C37281-EDF7-3A5F-D467-6A2C92C0A79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73356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7862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6496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7B2519-3C56-F9A9-3951-EEE60B8259C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75179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29256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367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03C45F-358F-6D6D-FCC7-4B5FD4D51A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63817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963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441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D0071E-26B0-1959-20F5-4F813143B59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9214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05868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25142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A5858-B282-1531-0FB3-E460877B49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59890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3292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2621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5DE5D1-20B4-5255-B211-67DDCA7677B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40928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4846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22665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4AB0D4-CC30-9396-13D3-DF7F9DF55BF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41252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23598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767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267DC9-2837-32EE-1ABC-E67EC3694E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03888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72159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635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103DA7-9DB3-3B02-6ABD-4F6904C4B4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137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5385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976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E8F061-323E-9348-A1A2-F9DFC0B5AF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0348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07571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798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17DCCC-11E1-DB6F-3C8D-FEFE53AA95F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24267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9592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971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3605F4-1AF2-E27F-EEFD-D067B5AC13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647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2987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916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CC27D5-5D22-EECF-C31F-E7333DC8101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9986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58905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2806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032C3B-1BD9-27BA-EA21-086304F1511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0946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46985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0540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D2645-33AF-77F3-C743-AACE7727C8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30521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62163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8538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744E73-1F52-B22C-55CF-4682888914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418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53155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7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E0EF37-8CED-B8D6-2726-67713AE9A78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0340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21507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0016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7DA659-02E4-C9F6-2ABC-C7A748861D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088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44666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514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98415-3EE0-9F38-6CCC-138E6CFD48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526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8497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2470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45DF01-36D2-2AC3-7621-C3298747CC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1745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82405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8274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87507-0CCC-4F14-3BFD-67FA10A766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61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31354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44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772127-5B3D-6960-6E92-CAEC84BB84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903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21935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B62E30B-0A0E-784F-86C9-FEB9C80567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50590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94470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2912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7B87FB-51E3-44C5-EC29-5189C29A51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CADCF3-6C81-2A92-14F7-25C9C1E9CFF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3863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6332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51058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0FC7A3-0D10-6E5A-C2A2-367B52AD21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5436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2418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390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AE8605-86A3-B37F-EC9A-0E43B9F06B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9522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0985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7599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6DB815-C16D-A01E-54BF-D3776446700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86361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9879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6910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D4601-96AE-199E-5483-8CD96E6A689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35249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42424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EE47D6-4B1A-41CB-CD64-BE9ADB94E40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06063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30073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868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FA6D27-B52A-A2CF-AD43-294699C0433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5528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10474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835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81BF1E-64EE-AC86-E77F-DDAF600CA6C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12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7364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2140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5EAC2B-0FE1-CF4B-BBBE-5E282DAD8F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26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19380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7293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00F409-3C10-0312-B398-F7E5E461B90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2819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3383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109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A27964-AE98-91D6-9A8D-851B2EC88E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0167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25953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6389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988E1-5D1C-82A7-2131-0AF5026EF34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921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3613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8339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7A1D60-EFBC-1C11-6710-BB8EE1A1096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5685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725545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71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CD16CF-076A-38BB-489D-DFBB464C3E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3554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3356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9390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E5CF-D5ED-C686-74CC-2FDD76B87E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6719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66687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3686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6ED8099-A09A-CE98-97C8-0FA04129C4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9265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22561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829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27B4BD-AA41-9F8D-5DDE-448FC3D173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51177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09770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0854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8992DF-9D3A-5F00-CC2B-54E42FBCB1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0175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26880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919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A4E28E-D70C-E24F-C0DA-3A187CC697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1007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45741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8729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BE8788-FDA9-EDFB-A164-122EF7C4F43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33016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17536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7439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C701FB-5E6B-C66F-6DFB-69F1662B6C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09714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50771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00593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7546CC-AFA1-FE89-4085-B3915C2DD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4923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70202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75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D80C7E-85BD-359E-D7A3-90EC1BC01F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75439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8204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7075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3E93EA-B506-875F-850A-D0796B91BAE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62987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6077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714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D9C8C9-5C19-F02F-00CE-8136D53EC3B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5763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94328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7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483B7C-D418-B1E2-512F-5826DDA736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7019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13522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4500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1B68C0-B90A-A84B-F5D4-AFC7BFB21FB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57679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81906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07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49C09C-D4A2-A772-0962-19BB659824F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61710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927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3557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C0ED2C-B9F8-1367-0EF0-B101FA8AC7B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39163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40048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66315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BB8292B-B8AE-81DE-CFA3-9290B15D54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9349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3351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9727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3F40F3-2B32-374A-DEC4-AB162BD592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7959168" name="矩形 1"/>
          <p:cNvSpPr/>
          <p:nvPr userDrawn="1"/>
        </p:nvSpPr>
        <p:spPr bwMode="auto">
          <a:xfrm>
            <a:off x="3835400" y="0"/>
            <a:ext cx="4521200" cy="182880"/>
          </a:xfrm>
          <a:prstGeom prst="rect">
            <a:avLst/>
          </a:prstGeom>
          <a:solidFill>
            <a:srgbClr val="2B77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自定义版式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6.png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7.png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7.png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8.png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9.png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9.png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0.png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5764563" name="矩形 17"/>
          <p:cNvSpPr/>
          <p:nvPr/>
        </p:nvSpPr>
        <p:spPr bwMode="auto">
          <a:xfrm>
            <a:off x="0" y="0"/>
            <a:ext cx="4793942" cy="6858000"/>
          </a:xfrm>
          <a:prstGeom prst="rect">
            <a:avLst/>
          </a:prstGeom>
          <a:blipFill rotWithShape="1">
            <a:blip r:embed="rId3"/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  <p:sp>
        <p:nvSpPr>
          <p:cNvPr id="197125919" name="矩形 22"/>
          <p:cNvSpPr/>
          <p:nvPr/>
        </p:nvSpPr>
        <p:spPr bwMode="auto">
          <a:xfrm>
            <a:off x="0" y="1"/>
            <a:ext cx="4793942" cy="6857999"/>
          </a:xfrm>
          <a:prstGeom prst="rect">
            <a:avLst/>
          </a:prstGeom>
          <a:blipFill rotWithShape="1">
            <a:blip r:embed="rId4">
              <a:alphaModFix amt="86000"/>
            </a:blip>
            <a:stretch>
              <a:fillRect l="-52412" t="0" r="-142586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18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+mn-cs"/>
            </a:endParaRPr>
          </a:p>
        </p:txBody>
      </p:sp>
      <p:grpSp>
        <p:nvGrpSpPr>
          <p:cNvPr id="1118852305" name="组合 2"/>
          <p:cNvGrpSpPr/>
          <p:nvPr/>
        </p:nvGrpSpPr>
        <p:grpSpPr bwMode="auto">
          <a:xfrm>
            <a:off x="488304" y="1569098"/>
            <a:ext cx="3455807" cy="3408168"/>
            <a:chOff x="-9050" y="2167639"/>
            <a:chExt cx="3455807" cy="3408168"/>
          </a:xfrm>
          <a:solidFill>
            <a:schemeClr val="bg1"/>
          </a:solidFill>
        </p:grpSpPr>
        <p:grpSp>
          <p:nvGrpSpPr>
            <p:cNvPr id="4" name="组合 3"/>
            <p:cNvGrpSpPr/>
            <p:nvPr/>
          </p:nvGrpSpPr>
          <p:grpSpPr bwMode="auto">
            <a:xfrm>
              <a:off x="734486" y="2167639"/>
              <a:ext cx="2487741" cy="2288124"/>
              <a:chOff x="8374817" y="3976831"/>
              <a:chExt cx="719115" cy="661413"/>
            </a:xfrm>
            <a:grpFill/>
          </p:grpSpPr>
          <p:sp>
            <p:nvSpPr>
              <p:cNvPr id="6" name="Freeform 44"/>
              <p:cNvSpPr/>
              <p:nvPr/>
            </p:nvSpPr>
            <p:spPr bwMode="auto">
              <a:xfrm>
                <a:off x="9018919" y="4072040"/>
                <a:ext cx="75013" cy="68522"/>
              </a:xfrm>
              <a:custGeom>
                <a:avLst/>
                <a:gdLst>
                  <a:gd name="T0" fmla="*/ 28 w 44"/>
                  <a:gd name="T1" fmla="*/ 11 h 40"/>
                  <a:gd name="T2" fmla="*/ 0 w 44"/>
                  <a:gd name="T3" fmla="*/ 18 h 40"/>
                  <a:gd name="T4" fmla="*/ 31 w 44"/>
                  <a:gd name="T5" fmla="*/ 40 h 40"/>
                  <a:gd name="T6" fmla="*/ 28 w 44"/>
                  <a:gd name="T7" fmla="*/ 11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0" fill="norm" stroke="1" extrusionOk="0">
                    <a:moveTo>
                      <a:pt x="28" y="11"/>
                    </a:moveTo>
                    <a:cubicBezTo>
                      <a:pt x="13" y="0"/>
                      <a:pt x="0" y="18"/>
                      <a:pt x="0" y="18"/>
                    </a:cubicBezTo>
                    <a:cubicBezTo>
                      <a:pt x="31" y="40"/>
                      <a:pt x="31" y="40"/>
                      <a:pt x="31" y="40"/>
                    </a:cubicBezTo>
                    <a:cubicBezTo>
                      <a:pt x="31" y="40"/>
                      <a:pt x="44" y="22"/>
                      <a:pt x="28" y="1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7" name="Freeform 45"/>
              <p:cNvSpPr/>
              <p:nvPr/>
            </p:nvSpPr>
            <p:spPr bwMode="auto">
              <a:xfrm>
                <a:off x="8831387" y="4116759"/>
                <a:ext cx="230088" cy="284184"/>
              </a:xfrm>
              <a:custGeom>
                <a:avLst/>
                <a:gdLst>
                  <a:gd name="T0" fmla="*/ 187 w 319"/>
                  <a:gd name="T1" fmla="*/ 85 h 394"/>
                  <a:gd name="T2" fmla="*/ 156 w 319"/>
                  <a:gd name="T3" fmla="*/ 125 h 394"/>
                  <a:gd name="T4" fmla="*/ 104 w 319"/>
                  <a:gd name="T5" fmla="*/ 198 h 394"/>
                  <a:gd name="T6" fmla="*/ 0 w 319"/>
                  <a:gd name="T7" fmla="*/ 342 h 394"/>
                  <a:gd name="T8" fmla="*/ 74 w 319"/>
                  <a:gd name="T9" fmla="*/ 394 h 394"/>
                  <a:gd name="T10" fmla="*/ 104 w 319"/>
                  <a:gd name="T11" fmla="*/ 352 h 394"/>
                  <a:gd name="T12" fmla="*/ 130 w 319"/>
                  <a:gd name="T13" fmla="*/ 314 h 394"/>
                  <a:gd name="T14" fmla="*/ 156 w 319"/>
                  <a:gd name="T15" fmla="*/ 276 h 394"/>
                  <a:gd name="T16" fmla="*/ 319 w 319"/>
                  <a:gd name="T17" fmla="*/ 52 h 394"/>
                  <a:gd name="T18" fmla="*/ 248 w 319"/>
                  <a:gd name="T19" fmla="*/ 0 h 394"/>
                  <a:gd name="T20" fmla="*/ 187 w 319"/>
                  <a:gd name="T21" fmla="*/ 85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9" h="394" fill="norm" stroke="1" extrusionOk="0">
                    <a:moveTo>
                      <a:pt x="187" y="85"/>
                    </a:moveTo>
                    <a:lnTo>
                      <a:pt x="156" y="125"/>
                    </a:lnTo>
                    <a:lnTo>
                      <a:pt x="104" y="198"/>
                    </a:lnTo>
                    <a:lnTo>
                      <a:pt x="0" y="342"/>
                    </a:lnTo>
                    <a:lnTo>
                      <a:pt x="74" y="394"/>
                    </a:lnTo>
                    <a:lnTo>
                      <a:pt x="104" y="352"/>
                    </a:lnTo>
                    <a:lnTo>
                      <a:pt x="130" y="314"/>
                    </a:lnTo>
                    <a:lnTo>
                      <a:pt x="156" y="276"/>
                    </a:lnTo>
                    <a:lnTo>
                      <a:pt x="319" y="52"/>
                    </a:lnTo>
                    <a:lnTo>
                      <a:pt x="248" y="0"/>
                    </a:lnTo>
                    <a:lnTo>
                      <a:pt x="187" y="8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8" name="Freeform 46"/>
              <p:cNvSpPr/>
              <p:nvPr/>
            </p:nvSpPr>
            <p:spPr bwMode="auto">
              <a:xfrm>
                <a:off x="8374817" y="3976831"/>
                <a:ext cx="569090" cy="661413"/>
              </a:xfrm>
              <a:custGeom>
                <a:avLst/>
                <a:gdLst>
                  <a:gd name="T0" fmla="*/ 312 w 334"/>
                  <a:gd name="T1" fmla="*/ 348 h 388"/>
                  <a:gd name="T2" fmla="*/ 293 w 334"/>
                  <a:gd name="T3" fmla="*/ 366 h 388"/>
                  <a:gd name="T4" fmla="*/ 40 w 334"/>
                  <a:gd name="T5" fmla="*/ 366 h 388"/>
                  <a:gd name="T6" fmla="*/ 22 w 334"/>
                  <a:gd name="T7" fmla="*/ 348 h 388"/>
                  <a:gd name="T8" fmla="*/ 22 w 334"/>
                  <a:gd name="T9" fmla="*/ 41 h 388"/>
                  <a:gd name="T10" fmla="*/ 40 w 334"/>
                  <a:gd name="T11" fmla="*/ 23 h 388"/>
                  <a:gd name="T12" fmla="*/ 293 w 334"/>
                  <a:gd name="T13" fmla="*/ 23 h 388"/>
                  <a:gd name="T14" fmla="*/ 312 w 334"/>
                  <a:gd name="T15" fmla="*/ 41 h 388"/>
                  <a:gd name="T16" fmla="*/ 312 w 334"/>
                  <a:gd name="T17" fmla="*/ 140 h 388"/>
                  <a:gd name="T18" fmla="*/ 334 w 334"/>
                  <a:gd name="T19" fmla="*/ 109 h 388"/>
                  <a:gd name="T20" fmla="*/ 334 w 334"/>
                  <a:gd name="T21" fmla="*/ 21 h 388"/>
                  <a:gd name="T22" fmla="*/ 313 w 334"/>
                  <a:gd name="T23" fmla="*/ 0 h 388"/>
                  <a:gd name="T24" fmla="*/ 21 w 334"/>
                  <a:gd name="T25" fmla="*/ 0 h 388"/>
                  <a:gd name="T26" fmla="*/ 0 w 334"/>
                  <a:gd name="T27" fmla="*/ 21 h 388"/>
                  <a:gd name="T28" fmla="*/ 0 w 334"/>
                  <a:gd name="T29" fmla="*/ 368 h 388"/>
                  <a:gd name="T30" fmla="*/ 21 w 334"/>
                  <a:gd name="T31" fmla="*/ 388 h 388"/>
                  <a:gd name="T32" fmla="*/ 313 w 334"/>
                  <a:gd name="T33" fmla="*/ 388 h 388"/>
                  <a:gd name="T34" fmla="*/ 334 w 334"/>
                  <a:gd name="T35" fmla="*/ 368 h 388"/>
                  <a:gd name="T36" fmla="*/ 334 w 334"/>
                  <a:gd name="T37" fmla="*/ 223 h 388"/>
                  <a:gd name="T38" fmla="*/ 312 w 334"/>
                  <a:gd name="T39" fmla="*/ 254 h 388"/>
                  <a:gd name="T40" fmla="*/ 312 w 334"/>
                  <a:gd name="T41" fmla="*/ 348 h 3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34" h="388" fill="norm" stroke="1" extrusionOk="0">
                    <a:moveTo>
                      <a:pt x="312" y="348"/>
                    </a:moveTo>
                    <a:cubicBezTo>
                      <a:pt x="312" y="358"/>
                      <a:pt x="303" y="366"/>
                      <a:pt x="293" y="366"/>
                    </a:cubicBezTo>
                    <a:cubicBezTo>
                      <a:pt x="40" y="366"/>
                      <a:pt x="40" y="366"/>
                      <a:pt x="40" y="366"/>
                    </a:cubicBezTo>
                    <a:cubicBezTo>
                      <a:pt x="30" y="366"/>
                      <a:pt x="22" y="358"/>
                      <a:pt x="22" y="348"/>
                    </a:cubicBezTo>
                    <a:cubicBezTo>
                      <a:pt x="22" y="41"/>
                      <a:pt x="22" y="41"/>
                      <a:pt x="22" y="41"/>
                    </a:cubicBezTo>
                    <a:cubicBezTo>
                      <a:pt x="22" y="31"/>
                      <a:pt x="30" y="23"/>
                      <a:pt x="40" y="23"/>
                    </a:cubicBezTo>
                    <a:cubicBezTo>
                      <a:pt x="293" y="23"/>
                      <a:pt x="293" y="23"/>
                      <a:pt x="293" y="23"/>
                    </a:cubicBezTo>
                    <a:cubicBezTo>
                      <a:pt x="303" y="23"/>
                      <a:pt x="312" y="31"/>
                      <a:pt x="312" y="41"/>
                    </a:cubicBezTo>
                    <a:cubicBezTo>
                      <a:pt x="312" y="140"/>
                      <a:pt x="312" y="140"/>
                      <a:pt x="312" y="140"/>
                    </a:cubicBezTo>
                    <a:cubicBezTo>
                      <a:pt x="334" y="109"/>
                      <a:pt x="334" y="109"/>
                      <a:pt x="334" y="109"/>
                    </a:cubicBezTo>
                    <a:cubicBezTo>
                      <a:pt x="334" y="21"/>
                      <a:pt x="334" y="21"/>
                      <a:pt x="334" y="21"/>
                    </a:cubicBezTo>
                    <a:cubicBezTo>
                      <a:pt x="334" y="10"/>
                      <a:pt x="325" y="0"/>
                      <a:pt x="313" y="0"/>
                    </a:cubicBezTo>
                    <a:cubicBezTo>
                      <a:pt x="21" y="0"/>
                      <a:pt x="21" y="0"/>
                      <a:pt x="21" y="0"/>
                    </a:cubicBezTo>
                    <a:cubicBezTo>
                      <a:pt x="9" y="0"/>
                      <a:pt x="0" y="10"/>
                      <a:pt x="0" y="21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9"/>
                      <a:pt x="9" y="388"/>
                      <a:pt x="21" y="388"/>
                    </a:cubicBezTo>
                    <a:cubicBezTo>
                      <a:pt x="313" y="388"/>
                      <a:pt x="313" y="388"/>
                      <a:pt x="313" y="388"/>
                    </a:cubicBezTo>
                    <a:cubicBezTo>
                      <a:pt x="325" y="388"/>
                      <a:pt x="334" y="379"/>
                      <a:pt x="334" y="368"/>
                    </a:cubicBezTo>
                    <a:cubicBezTo>
                      <a:pt x="334" y="223"/>
                      <a:pt x="334" y="223"/>
                      <a:pt x="334" y="223"/>
                    </a:cubicBezTo>
                    <a:cubicBezTo>
                      <a:pt x="312" y="254"/>
                      <a:pt x="312" y="254"/>
                      <a:pt x="312" y="254"/>
                    </a:cubicBezTo>
                    <a:lnTo>
                      <a:pt x="312" y="34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9" name="Freeform 47"/>
              <p:cNvSpPr/>
              <p:nvPr/>
            </p:nvSpPr>
            <p:spPr bwMode="auto">
              <a:xfrm>
                <a:off x="8806142" y="4377142"/>
                <a:ext cx="67800" cy="77177"/>
              </a:xfrm>
              <a:custGeom>
                <a:avLst/>
                <a:gdLst>
                  <a:gd name="T0" fmla="*/ 21 w 94"/>
                  <a:gd name="T1" fmla="*/ 0 h 107"/>
                  <a:gd name="T2" fmla="*/ 0 w 94"/>
                  <a:gd name="T3" fmla="*/ 107 h 107"/>
                  <a:gd name="T4" fmla="*/ 94 w 94"/>
                  <a:gd name="T5" fmla="*/ 52 h 107"/>
                  <a:gd name="T6" fmla="*/ 21 w 94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107" fill="norm" stroke="1" extrusionOk="0">
                    <a:moveTo>
                      <a:pt x="21" y="0"/>
                    </a:moveTo>
                    <a:lnTo>
                      <a:pt x="0" y="107"/>
                    </a:lnTo>
                    <a:lnTo>
                      <a:pt x="94" y="52"/>
                    </a:lnTo>
                    <a:lnTo>
                      <a:pt x="2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0" name="Rectangle 48"/>
              <p:cNvSpPr>
                <a:spLocks noChangeArrowheads="1"/>
              </p:cNvSpPr>
              <p:nvPr/>
            </p:nvSpPr>
            <p:spPr bwMode="auto">
              <a:xfrm>
                <a:off x="8459928" y="4504808"/>
                <a:ext cx="296223" cy="3462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1" name="Rectangle 49"/>
              <p:cNvSpPr>
                <a:spLocks noChangeArrowheads="1"/>
              </p:cNvSpPr>
              <p:nvPr/>
            </p:nvSpPr>
            <p:spPr bwMode="auto">
              <a:xfrm>
                <a:off x="8459928" y="4428352"/>
                <a:ext cx="296223" cy="339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2" name="Rectangle 50"/>
              <p:cNvSpPr>
                <a:spLocks noChangeArrowheads="1"/>
              </p:cNvSpPr>
              <p:nvPr/>
            </p:nvSpPr>
            <p:spPr bwMode="auto">
              <a:xfrm>
                <a:off x="8459928" y="4354782"/>
                <a:ext cx="296223" cy="3245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3" name="Rectangle 51"/>
              <p:cNvSpPr>
                <a:spLocks noChangeArrowheads="1"/>
              </p:cNvSpPr>
              <p:nvPr/>
            </p:nvSpPr>
            <p:spPr bwMode="auto">
              <a:xfrm>
                <a:off x="8459928" y="4278326"/>
                <a:ext cx="296223" cy="3245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4" name="Rectangle 52"/>
              <p:cNvSpPr>
                <a:spLocks noChangeArrowheads="1"/>
              </p:cNvSpPr>
              <p:nvPr/>
            </p:nvSpPr>
            <p:spPr bwMode="auto">
              <a:xfrm>
                <a:off x="8459928" y="4201870"/>
                <a:ext cx="296223" cy="339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5" name="Rectangle 53"/>
              <p:cNvSpPr>
                <a:spLocks noChangeArrowheads="1"/>
              </p:cNvSpPr>
              <p:nvPr/>
            </p:nvSpPr>
            <p:spPr bwMode="auto">
              <a:xfrm>
                <a:off x="8459928" y="4124694"/>
                <a:ext cx="296223" cy="3462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</p:grpSp>
        <p:sp>
          <p:nvSpPr>
            <p:cNvPr id="5" name="TextBox 59"/>
            <p:cNvSpPr>
              <a:spLocks noChangeArrowheads="1"/>
            </p:cNvSpPr>
            <p:nvPr/>
          </p:nvSpPr>
          <p:spPr bwMode="auto">
            <a:xfrm flipH="1">
              <a:off x="-9050" y="4652477"/>
              <a:ext cx="3455807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/>
                  <a:ea typeface="宋体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5pPr>
              <a:lvl6pPr marL="25146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6pPr>
              <a:lvl7pPr marL="29718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7pPr>
              <a:lvl8pPr marL="34290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8pPr>
              <a:lvl9pPr marL="38862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9pPr>
            </a:lstStyle>
            <a:p>
              <a:pPr marL="0" marR="0" lvl="0" indent="0" algn="ctr" defTabSz="91440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5400" b="1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David"/>
                </a:rPr>
                <a:t>CONTENTS </a:t>
              </a:r>
              <a:endParaRPr/>
            </a:p>
          </p:txBody>
        </p:sp>
      </p:grpSp>
      <p:sp>
        <p:nvSpPr>
          <p:cNvPr id="250454108" name="Oval 4"/>
          <p:cNvSpPr/>
          <p:nvPr/>
        </p:nvSpPr>
        <p:spPr bwMode="auto">
          <a:xfrm>
            <a:off x="6330931" y="1075597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1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1096075237" name="Oval 4"/>
          <p:cNvSpPr/>
          <p:nvPr/>
        </p:nvSpPr>
        <p:spPr bwMode="auto">
          <a:xfrm>
            <a:off x="6330931" y="2254177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2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1852233711" name="Oval 4"/>
          <p:cNvSpPr/>
          <p:nvPr/>
        </p:nvSpPr>
        <p:spPr bwMode="auto">
          <a:xfrm>
            <a:off x="6330931" y="3432757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3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94660583" name="Text Box 17"/>
          <p:cNvSpPr txBox="1">
            <a:spLocks noChangeArrowheads="1"/>
          </p:cNvSpPr>
          <p:nvPr/>
        </p:nvSpPr>
        <p:spPr bwMode="auto">
          <a:xfrm>
            <a:off x="7244083" y="1157893"/>
            <a:ext cx="3193305" cy="579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总览</a:t>
            </a:r>
            <a:endParaRPr/>
          </a:p>
        </p:txBody>
      </p:sp>
      <p:sp>
        <p:nvSpPr>
          <p:cNvPr id="210159635" name="Text Box 17"/>
          <p:cNvSpPr txBox="1">
            <a:spLocks noChangeArrowheads="1"/>
          </p:cNvSpPr>
          <p:nvPr/>
        </p:nvSpPr>
        <p:spPr bwMode="auto">
          <a:xfrm flipH="0" flipV="0">
            <a:off x="7215226" y="2380492"/>
            <a:ext cx="4155643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投影子空间视角</a:t>
            </a:r>
            <a:endParaRPr/>
          </a:p>
        </p:txBody>
      </p:sp>
      <p:sp>
        <p:nvSpPr>
          <p:cNvPr id="2090615760" name="Text Box 17"/>
          <p:cNvSpPr txBox="1">
            <a:spLocks noChangeArrowheads="1"/>
          </p:cNvSpPr>
          <p:nvPr/>
        </p:nvSpPr>
        <p:spPr bwMode="auto">
          <a:xfrm flipH="0" flipV="0">
            <a:off x="7215226" y="3636138"/>
            <a:ext cx="4168716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量化非阿贝尔性</a:t>
            </a:r>
            <a:endParaRPr lang="zh-CN" sz="32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Times New Roman"/>
            </a:endParaRPr>
          </a:p>
        </p:txBody>
      </p:sp>
      <p:sp>
        <p:nvSpPr>
          <p:cNvPr id="439203173" name="Oval 4"/>
          <p:cNvSpPr/>
          <p:nvPr/>
        </p:nvSpPr>
        <p:spPr bwMode="auto">
          <a:xfrm>
            <a:off x="6359788" y="4643491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Arial"/>
              </a:rPr>
              <a:t>4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Arial"/>
            </a:endParaRPr>
          </a:p>
        </p:txBody>
      </p:sp>
      <p:sp>
        <p:nvSpPr>
          <p:cNvPr id="320057719" name="Text Box 17"/>
          <p:cNvSpPr txBox="1">
            <a:spLocks noChangeArrowheads="1"/>
          </p:cNvSpPr>
          <p:nvPr/>
        </p:nvSpPr>
        <p:spPr bwMode="auto">
          <a:xfrm flipH="0" flipV="0">
            <a:off x="7244083" y="4846872"/>
            <a:ext cx="4184915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599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验证和复现</a:t>
            </a:r>
            <a:endParaRPr lang="zh-CN" sz="32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5676571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8"/>
            <a:ext cx="5516879" cy="1717039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69046403" name="组合 15"/>
          <p:cNvGrpSpPr/>
          <p:nvPr/>
        </p:nvGrpSpPr>
        <p:grpSpPr bwMode="auto">
          <a:xfrm>
            <a:off x="0" y="2529838"/>
            <a:ext cx="12192000" cy="1757679"/>
            <a:chOff x="0" y="2529838"/>
            <a:chExt cx="12192000" cy="1757679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72983156" name="矩形 1"/>
            <p:cNvSpPr/>
            <p:nvPr/>
          </p:nvSpPr>
          <p:spPr bwMode="auto">
            <a:xfrm>
              <a:off x="0" y="2529838"/>
              <a:ext cx="5516879" cy="1717039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800304686" name="矩形 12"/>
            <p:cNvSpPr/>
            <p:nvPr/>
          </p:nvSpPr>
          <p:spPr bwMode="auto">
            <a:xfrm>
              <a:off x="11348719" y="2529838"/>
              <a:ext cx="843279" cy="1757679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1416448506" name="矩形 7"/>
          <p:cNvSpPr/>
          <p:nvPr/>
        </p:nvSpPr>
        <p:spPr bwMode="auto">
          <a:xfrm>
            <a:off x="1630065" y="3046550"/>
            <a:ext cx="3856889" cy="1200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01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730580945" name="矩形 8"/>
          <p:cNvSpPr/>
          <p:nvPr/>
        </p:nvSpPr>
        <p:spPr bwMode="auto">
          <a:xfrm>
            <a:off x="5959117" y="2875001"/>
            <a:ext cx="4923919" cy="1097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zh-CN" sz="6600" b="1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总览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15080" name=""/>
          <p:cNvSpPr txBox="1"/>
          <p:nvPr/>
        </p:nvSpPr>
        <p:spPr bwMode="auto">
          <a:xfrm rot="0" flipH="0" flipV="0">
            <a:off x="667081" y="3312033"/>
            <a:ext cx="2940091" cy="3965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ic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1873312617" name=""/>
          <p:cNvSpPr txBox="1"/>
          <p:nvPr/>
        </p:nvSpPr>
        <p:spPr bwMode="auto">
          <a:xfrm rot="0" flipH="0" flipV="0">
            <a:off x="5144874" y="4036211"/>
            <a:ext cx="1777614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JW 映射</a:t>
            </a:r>
            <a:endParaRPr/>
          </a:p>
        </p:txBody>
      </p:sp>
      <p:sp>
        <p:nvSpPr>
          <p:cNvPr id="1333991946" name=""/>
          <p:cNvSpPr txBox="1"/>
          <p:nvPr/>
        </p:nvSpPr>
        <p:spPr bwMode="auto">
          <a:xfrm rot="0" flipH="0" flipV="0">
            <a:off x="7940719" y="3183732"/>
            <a:ext cx="3131274" cy="5972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275078007" name=""/>
          <p:cNvSpPr txBox="1"/>
          <p:nvPr/>
        </p:nvSpPr>
        <p:spPr bwMode="auto">
          <a:xfrm rot="0" flipH="0" flipV="0">
            <a:off x="-244488" y="935901"/>
            <a:ext cx="5190223" cy="7282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126673421" name=""/>
          <p:cNvSpPr txBox="1"/>
          <p:nvPr/>
        </p:nvSpPr>
        <p:spPr bwMode="auto">
          <a:xfrm rot="0" flipH="0" flipV="0">
            <a:off x="7387520" y="1056576"/>
            <a:ext cx="4679072" cy="37722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496723740" name=""/>
          <p:cNvSpPr/>
          <p:nvPr/>
        </p:nvSpPr>
        <p:spPr bwMode="auto">
          <a:xfrm rot="0" flipH="0" flipV="0">
            <a:off x="9370909" y="1730099"/>
            <a:ext cx="294409" cy="1283263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33513170" name=""/>
          <p:cNvSpPr/>
          <p:nvPr/>
        </p:nvSpPr>
        <p:spPr bwMode="auto">
          <a:xfrm rot="0" flipH="0" flipV="0">
            <a:off x="3628491" y="3361134"/>
            <a:ext cx="4312227" cy="347500"/>
          </a:xfrm>
          <a:prstGeom prst="left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17556283" name=""/>
          <p:cNvSpPr/>
          <p:nvPr/>
        </p:nvSpPr>
        <p:spPr bwMode="auto">
          <a:xfrm rot="0" flipH="0" flipV="0">
            <a:off x="4348636" y="1149940"/>
            <a:ext cx="3099954" cy="190499"/>
          </a:xfrm>
          <a:prstGeom prst="left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42491985" name=""/>
          <p:cNvSpPr/>
          <p:nvPr/>
        </p:nvSpPr>
        <p:spPr bwMode="auto">
          <a:xfrm rot="0" flipH="0" flipV="0">
            <a:off x="1924090" y="1816690"/>
            <a:ext cx="242454" cy="1196672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85941141" name=""/>
          <p:cNvSpPr txBox="1"/>
          <p:nvPr/>
        </p:nvSpPr>
        <p:spPr bwMode="auto">
          <a:xfrm rot="0" flipH="0" flipV="0">
            <a:off x="1095736" y="399038"/>
            <a:ext cx="1899163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谱参数YBE的解</a:t>
            </a:r>
            <a:endParaRPr/>
          </a:p>
        </p:txBody>
      </p:sp>
      <p:sp>
        <p:nvSpPr>
          <p:cNvPr id="838041658" name=""/>
          <p:cNvSpPr txBox="1"/>
          <p:nvPr/>
        </p:nvSpPr>
        <p:spPr bwMode="auto">
          <a:xfrm rot="0" flipH="0" flipV="0">
            <a:off x="8712817" y="569781"/>
            <a:ext cx="169210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求解哈密顿</a:t>
            </a:r>
            <a:endParaRPr/>
          </a:p>
        </p:txBody>
      </p:sp>
      <p:sp>
        <p:nvSpPr>
          <p:cNvPr id="959142820" name=""/>
          <p:cNvSpPr txBox="1"/>
          <p:nvPr/>
        </p:nvSpPr>
        <p:spPr bwMode="auto">
          <a:xfrm rot="0" flipH="0" flipV="0">
            <a:off x="728035" y="3777803"/>
            <a:ext cx="322560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调整门电压实现的各种操作</a:t>
            </a:r>
            <a:endParaRPr/>
          </a:p>
        </p:txBody>
      </p:sp>
      <p:sp>
        <p:nvSpPr>
          <p:cNvPr id="2134076597" name=""/>
          <p:cNvSpPr txBox="1"/>
          <p:nvPr/>
        </p:nvSpPr>
        <p:spPr bwMode="auto">
          <a:xfrm rot="0" flipH="0" flipV="0">
            <a:off x="8504999" y="3847078"/>
            <a:ext cx="3152629" cy="3782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pauli张量积</a:t>
            </a:r>
            <a:r>
              <a:rPr lang="en-US"/>
              <a:t>，二体算符表示</a:t>
            </a:r>
            <a:endParaRPr/>
          </a:p>
        </p:txBody>
      </p:sp>
      <p:sp>
        <p:nvSpPr>
          <p:cNvPr id="1109519905" name=""/>
          <p:cNvSpPr/>
          <p:nvPr/>
        </p:nvSpPr>
        <p:spPr bwMode="auto">
          <a:xfrm rot="0" flipH="0" flipV="0">
            <a:off x="9575203" y="4287468"/>
            <a:ext cx="121227" cy="1150439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34244975" name=""/>
          <p:cNvSpPr txBox="1"/>
          <p:nvPr/>
        </p:nvSpPr>
        <p:spPr bwMode="auto">
          <a:xfrm rot="0" flipH="0" flipV="0">
            <a:off x="7250104" y="5474982"/>
            <a:ext cx="477430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=d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⋅σ+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941391111" name=""/>
          <p:cNvSpPr txBox="1"/>
          <p:nvPr/>
        </p:nvSpPr>
        <p:spPr bwMode="auto">
          <a:xfrm rot="0" flipH="0" flipV="0">
            <a:off x="8163768" y="5994526"/>
            <a:ext cx="3447640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投影子空间上的SU(2)表示+偏移</a:t>
            </a:r>
            <a:endParaRPr/>
          </a:p>
        </p:txBody>
      </p:sp>
      <p:sp>
        <p:nvSpPr>
          <p:cNvPr id="1274893694" name=""/>
          <p:cNvSpPr/>
          <p:nvPr/>
        </p:nvSpPr>
        <p:spPr bwMode="auto">
          <a:xfrm rot="0" flipH="0" flipV="0">
            <a:off x="1924090" y="4329545"/>
            <a:ext cx="45720" cy="1108363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38448043" name=""/>
          <p:cNvSpPr txBox="1"/>
          <p:nvPr/>
        </p:nvSpPr>
        <p:spPr bwMode="auto">
          <a:xfrm rot="0" flipH="0" flipV="0">
            <a:off x="226869" y="5489861"/>
            <a:ext cx="346428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=iγ⋅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δ⋅γ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+iϵ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344868587" name=""/>
          <p:cNvSpPr txBox="1"/>
          <p:nvPr/>
        </p:nvSpPr>
        <p:spPr bwMode="auto">
          <a:xfrm rot="0" flipH="0" flipV="0">
            <a:off x="1095735" y="5994526"/>
            <a:ext cx="3470360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bloch球</a:t>
            </a:r>
            <a:r>
              <a:rPr lang="en-US"/>
              <a:t>+相位累积</a:t>
            </a:r>
            <a:endParaRPr/>
          </a:p>
        </p:txBody>
      </p:sp>
      <p:sp>
        <p:nvSpPr>
          <p:cNvPr id="630307166" name=""/>
          <p:cNvSpPr txBox="1"/>
          <p:nvPr/>
        </p:nvSpPr>
        <p:spPr bwMode="auto">
          <a:xfrm rot="0" flipH="0" flipV="0">
            <a:off x="140317" y="1909954"/>
            <a:ext cx="725885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accent2"/>
                </a:solidFill>
              </a:rPr>
              <a:t>论文路线</a:t>
            </a:r>
            <a:endParaRPr/>
          </a:p>
        </p:txBody>
      </p:sp>
      <p:sp>
        <p:nvSpPr>
          <p:cNvPr id="267219069" name=""/>
          <p:cNvSpPr txBox="1"/>
          <p:nvPr/>
        </p:nvSpPr>
        <p:spPr bwMode="auto">
          <a:xfrm rot="0" flipH="0" flipV="0">
            <a:off x="11225413" y="1909954"/>
            <a:ext cx="864430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rgbClr val="7030A0"/>
                </a:solidFill>
              </a:rPr>
              <a:t>模型路线</a:t>
            </a:r>
            <a:endParaRPr/>
          </a:p>
        </p:txBody>
      </p:sp>
      <p:sp>
        <p:nvSpPr>
          <p:cNvPr id="842805717" name=""/>
          <p:cNvSpPr txBox="1"/>
          <p:nvPr/>
        </p:nvSpPr>
        <p:spPr bwMode="auto">
          <a:xfrm rot="0" flipH="0" flipV="0">
            <a:off x="4868181" y="1543834"/>
            <a:ext cx="205430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在路径上编织</a:t>
            </a:r>
            <a:endParaRPr/>
          </a:p>
        </p:txBody>
      </p:sp>
      <p:sp>
        <p:nvSpPr>
          <p:cNvPr id="1475356676" name=""/>
          <p:cNvSpPr txBox="1"/>
          <p:nvPr/>
        </p:nvSpPr>
        <p:spPr bwMode="auto">
          <a:xfrm rot="0" flipH="0" flipV="0">
            <a:off x="4560293" y="141111"/>
            <a:ext cx="2946775" cy="4679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>
                <a:solidFill>
                  <a:srgbClr val="00B050"/>
                </a:solidFill>
              </a:rPr>
              <a:t>1.非阿贝尔操作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2135253" name=""/>
          <p:cNvSpPr txBox="1"/>
          <p:nvPr/>
        </p:nvSpPr>
        <p:spPr bwMode="auto">
          <a:xfrm rot="0" flipH="0" flipV="0">
            <a:off x="4128543" y="822211"/>
            <a:ext cx="4059465" cy="4159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子空间代数封闭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↔PRP没有泄漏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  <p:sp>
        <p:nvSpPr>
          <p:cNvPr id="814057627" name=""/>
          <p:cNvSpPr txBox="1"/>
          <p:nvPr/>
        </p:nvSpPr>
        <p:spPr bwMode="auto">
          <a:xfrm rot="0" flipH="0" flipV="0">
            <a:off x="4618649" y="2832709"/>
            <a:ext cx="3079249" cy="7100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schur补为0,没有虚跃迁</a:t>
            </a:r>
            <a:endParaRPr lang="en-US" sz="2000"/>
          </a:p>
          <a:p>
            <a:pPr>
              <a:defRPr/>
            </a:pPr>
            <a:r>
              <a:rPr lang="en-US" sz="2000"/>
              <a:t>得到有效哈密顿</a:t>
            </a:r>
            <a:endParaRPr sz="2000"/>
          </a:p>
        </p:txBody>
      </p:sp>
      <p:sp>
        <p:nvSpPr>
          <p:cNvPr id="1172290054" name=""/>
          <p:cNvSpPr/>
          <p:nvPr/>
        </p:nvSpPr>
        <p:spPr bwMode="auto">
          <a:xfrm rot="0" flipH="0" flipV="0">
            <a:off x="6051902" y="1333739"/>
            <a:ext cx="88194" cy="1040694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61402535" name=""/>
          <p:cNvSpPr/>
          <p:nvPr/>
        </p:nvSpPr>
        <p:spPr bwMode="auto">
          <a:xfrm rot="19205843" flipH="0" flipV="0">
            <a:off x="4013489" y="4281748"/>
            <a:ext cx="1571254" cy="211666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94912688" name=""/>
          <p:cNvSpPr txBox="1"/>
          <p:nvPr/>
        </p:nvSpPr>
        <p:spPr bwMode="auto">
          <a:xfrm rot="0" flipH="0" flipV="0">
            <a:off x="1559673" y="5036499"/>
            <a:ext cx="3218563" cy="10205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几何上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a:r>
              <a:rPr sz="2000"/>
              <a:t>讨论schur补如何影响非阿贝尔性</a:t>
            </a:r>
            <a:endParaRPr/>
          </a:p>
        </p:txBody>
      </p:sp>
      <p:sp>
        <p:nvSpPr>
          <p:cNvPr id="1437798540" name=""/>
          <p:cNvSpPr/>
          <p:nvPr/>
        </p:nvSpPr>
        <p:spPr bwMode="auto">
          <a:xfrm rot="13110890" flipH="0" flipV="0">
            <a:off x="6705100" y="4304443"/>
            <a:ext cx="1571254" cy="211665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26185268" name=""/>
          <p:cNvSpPr txBox="1"/>
          <p:nvPr/>
        </p:nvSpPr>
        <p:spPr bwMode="auto">
          <a:xfrm rot="0" flipH="0" flipV="0">
            <a:off x="6533842" y="4898002"/>
            <a:ext cx="3762849" cy="13283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schur补得到green函数</a:t>
            </a:r>
            <a:endParaRPr sz="2000"/>
          </a:p>
          <a:p>
            <a:pPr>
              <a:defRPr/>
            </a:pPr>
            <a:r>
              <a:rPr sz="2000"/>
              <a:t>用pauli张量积的哈密顿模型代入</a:t>
            </a:r>
            <a:endParaRPr sz="2000"/>
          </a:p>
          <a:p>
            <a:pPr>
              <a:defRPr/>
            </a:pPr>
            <a:r>
              <a:rPr sz="2000"/>
              <a:t>得到具体计算模型</a:t>
            </a:r>
            <a:endParaRPr/>
          </a:p>
        </p:txBody>
      </p:sp>
      <p:sp>
        <p:nvSpPr>
          <p:cNvPr id="1698095995" name=""/>
          <p:cNvSpPr txBox="1"/>
          <p:nvPr/>
        </p:nvSpPr>
        <p:spPr bwMode="auto">
          <a:xfrm rot="0" flipH="0" flipV="0">
            <a:off x="4449034" y="244270"/>
            <a:ext cx="4169616" cy="49931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>
                <a:solidFill>
                  <a:srgbClr val="00B050"/>
                </a:solidFill>
              </a:rPr>
              <a:t>2.量化非阿贝尔性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57972" name="矩形 29"/>
          <p:cNvSpPr/>
          <p:nvPr/>
        </p:nvSpPr>
        <p:spPr bwMode="auto">
          <a:xfrm>
            <a:off x="1893060" y="412751"/>
            <a:ext cx="8420639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结果总览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24339359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9"/>
            <a:ext cx="5516880" cy="1717040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496514464" name="组合 15"/>
          <p:cNvGrpSpPr/>
          <p:nvPr/>
        </p:nvGrpSpPr>
        <p:grpSpPr bwMode="auto">
          <a:xfrm>
            <a:off x="0" y="2529839"/>
            <a:ext cx="12192000" cy="1757680"/>
            <a:chOff x="0" y="2529839"/>
            <a:chExt cx="12192000" cy="1757680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2" name="矩形 1"/>
            <p:cNvSpPr/>
            <p:nvPr/>
          </p:nvSpPr>
          <p:spPr bwMode="auto">
            <a:xfrm>
              <a:off x="0" y="2529839"/>
              <a:ext cx="5516880" cy="1717040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3" name="矩形 12"/>
            <p:cNvSpPr/>
            <p:nvPr/>
          </p:nvSpPr>
          <p:spPr bwMode="auto">
            <a:xfrm>
              <a:off x="11348720" y="2529839"/>
              <a:ext cx="843280" cy="1757680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549197887" name="矩形 7"/>
          <p:cNvSpPr/>
          <p:nvPr/>
        </p:nvSpPr>
        <p:spPr bwMode="auto">
          <a:xfrm>
            <a:off x="1630065" y="3046550"/>
            <a:ext cx="3131726" cy="11890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02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22082437" name="矩形 8"/>
          <p:cNvSpPr/>
          <p:nvPr/>
        </p:nvSpPr>
        <p:spPr bwMode="auto">
          <a:xfrm flipH="0" flipV="0">
            <a:off x="5516876" y="2912369"/>
            <a:ext cx="5742827" cy="6506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投影子空间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3336959" name="矩形 29"/>
          <p:cNvSpPr/>
          <p:nvPr/>
        </p:nvSpPr>
        <p:spPr bwMode="auto">
          <a:xfrm>
            <a:off x="1893060" y="412751"/>
            <a:ext cx="8415238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模型改进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  <p:sp>
        <p:nvSpPr>
          <p:cNvPr id="1302084369" name=""/>
          <p:cNvSpPr txBox="1"/>
          <p:nvPr/>
        </p:nvSpPr>
        <p:spPr bwMode="auto">
          <a:xfrm rot="0" flipH="0" flipV="0">
            <a:off x="711817" y="1697181"/>
            <a:ext cx="11554063" cy="390470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上一次的模型</a:t>
            </a:r>
            <a:r>
              <a:rPr lang="en-US" sz="2200"/>
              <a:t>:</a:t>
            </a:r>
            <a:endParaRPr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R=exp(iH)</m:t>
                      </m:r>
                    </m:oMath>
                  </m:oMathPara>
                </a14:m>
              </mc:Choice>
              <mc:Fallback/>
            </mc:AlternateContent>
            <a:endParaRPr lang="en-US" sz="22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2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a:r>
              <a:rPr sz="2200"/>
              <a:t>存在如下问题</a:t>
            </a:r>
            <a:r>
              <a:rPr lang="en-US" sz="2200"/>
              <a:t>, 这是一个代数模型，对应的可以认为是一个静态的解，并不能符合一般都物理算符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U=T ∫</m:t>
                      </m:r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iH(s)ds</m:t>
                      </m:r>
                    </m:oMath>
                  </m:oMathPara>
                </a14:m>
              </mc:Choice>
              <mc:Fallback/>
            </mc:AlternateContent>
            <a:r>
              <a:rPr lang="en-US" sz="2200"/>
              <a:t> （T:路径有序算符）. 所以沿着时间路径演化对应的R应该看作一系列静态的组合，是对应的一族的解。</a:t>
            </a:r>
            <a:endParaRPr lang="en-US" sz="2200"/>
          </a:p>
          <a:p>
            <a:pPr>
              <a:defRPr/>
            </a:pPr>
            <a:endParaRPr lang="en-US" sz="2200"/>
          </a:p>
          <a:p>
            <a:pPr>
              <a:defRPr/>
            </a:pPr>
            <a:r>
              <a:rPr lang="en-US" sz="2200"/>
              <a:t>所以考虑带有谱参数的Yang Baxter方程: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66832" name=""/>
          <p:cNvSpPr txBox="1"/>
          <p:nvPr/>
        </p:nvSpPr>
        <p:spPr bwMode="auto">
          <a:xfrm rot="0" flipH="0" flipV="0">
            <a:off x="642545" y="831272"/>
            <a:ext cx="1103168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205109659" name=""/>
          <p:cNvSpPr txBox="1"/>
          <p:nvPr/>
        </p:nvSpPr>
        <p:spPr bwMode="auto">
          <a:xfrm rot="0" flipH="0" flipV="0">
            <a:off x="798408" y="1264226"/>
            <a:ext cx="10292676" cy="53658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在引入了谱参数后</a:t>
            </a:r>
            <a:r>
              <a:rPr lang="en-US" sz="2000"/>
              <a:t>，把谱参数看作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u=u(t)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， 则谱参数的变化就体现了时间上的演化。进一步可以把R(u)和哈密顿写为： 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zh-CN" b="0"/>
              <a:t>表示路径有序</a:t>
            </a:r>
            <a:r>
              <a:rPr lang="en-US" b="0"/>
              <a:t>,因为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,H(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)]≠0</m:t>
                      </m:r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可以得到生成元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：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使用pauli张量积表示为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非阿贝尔性不在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本身,而在本征态随 u 的变化结构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mn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=i〈m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n(u)〉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229505" name=""/>
          <p:cNvSpPr txBox="1"/>
          <p:nvPr/>
        </p:nvSpPr>
        <p:spPr bwMode="auto">
          <a:xfrm rot="0" flipH="0" flipV="0">
            <a:off x="573271" y="1091044"/>
            <a:ext cx="11540873" cy="49635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参考论文的观点</a:t>
            </a:r>
            <a:r>
              <a:rPr lang="en-US" sz="2000"/>
              <a:t>，把演化写成几何项和动力学的额外项乘积：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-i∫E(t)dt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表示了几何项这个非阿贝尔演化: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 ∫A(u)du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/>
              <a:t>或者更直观的: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-iθ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能谱用来区分 MZM 与 ABS</a:t>
            </a:r>
            <a:r>
              <a:rPr lang="en-US" sz="2000"/>
              <a:t>：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MZM: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E≈0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且受拓扑/局域性保护；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ABS: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 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（或仅在有限系统中近似零能）；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trivial: 有较大能隙，无零模。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sp>
        <p:nvSpPr>
          <p:cNvPr id="2001662345" name=""/>
          <p:cNvSpPr txBox="1"/>
          <p:nvPr/>
        </p:nvSpPr>
        <p:spPr bwMode="auto">
          <a:xfrm rot="0" flipH="0" flipV="0">
            <a:off x="548610" y="5344583"/>
            <a:ext cx="10612493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如果要将之前的YBE的解</a:t>
            </a:r>
            <a:r>
              <a:rPr lang="en-US"/>
              <a:t>R(u)和具有braid项和动力学项的形式的算符联系起来,可以考虑以下变换: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1271834" name=""/>
          <p:cNvSpPr txBox="1"/>
          <p:nvPr/>
        </p:nvSpPr>
        <p:spPr bwMode="auto">
          <a:xfrm rot="0" flipH="0" flipV="0">
            <a:off x="53726" y="398317"/>
            <a:ext cx="12095966" cy="59156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定义本征态矩阵</a:t>
            </a:r>
            <a:r>
              <a:rPr lang="en-US" sz="2000"/>
              <a:t>: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=(|1(u)〉,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|2(u)〉...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1800"/>
              <a:t>有</a:t>
            </a:r>
            <a:r>
              <a:rPr lang="en-US" sz="1800"/>
              <a:t>: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|n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(u)|n(u)〉</m:t>
                      </m:r>
                    </m:oMath>
                  </m:oMathPara>
                </a14:m>
              </mc:Choice>
              <mc:Fallback/>
            </mc:AlternateContent>
            <a:endParaRPr lang="en-US" sz="1800"/>
          </a:p>
          <a:p>
            <a:pPr>
              <a:defRPr/>
            </a:pPr>
            <a:r>
              <a:rPr lang="en-US" sz="1800"/>
              <a:t>根据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则有瞬时本征分解：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=V(u)E(u)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diag{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(u),...}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把任意态写成本征基的展开：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|"/>
                          <m:endChr m:val="|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〉=V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</m:d>
                      <m:acc>
                        <m:accPr>
                          <m:chr m:val="̃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代入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|ψ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〉=H(u)|ψ(u)〉</m:t>
                      </m:r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左</a:t>
            </a:r>
            <a:r>
              <a:rPr lang="en-US"/>
              <a:t>乘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/>
              <a:t>,: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+i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V)</m:t>
                      </m:r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E</m:t>
                      </m:r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移项得到: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E-A</m:t>
                          </m:r>
                        </m:e>
                      </m:d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, 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sSup>
                            <m:sSup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†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/>
              <a:t>生成元为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E-A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022058" name=""/>
          <p:cNvSpPr txBox="1"/>
          <p:nvPr/>
        </p:nvSpPr>
        <p:spPr bwMode="auto">
          <a:xfrm rot="0" flipH="0" flipV="0">
            <a:off x="330817" y="727362"/>
            <a:ext cx="11838675" cy="45120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在简并子空间</a:t>
            </a:r>
            <a:r>
              <a:rPr lang="en-US" sz="2000"/>
              <a:t>S上投影: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a∈S</m:t>
                          </m:r>
                        </m:sub>
                        <m:sup/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|a(u)〉〈a(u)|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=P(u)H(u)P(u)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得到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表示能谱(对角),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为berry connection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/>
              <a:t>非阿贝尔性产生的来源:</a:t>
            </a:r>
            <a:endParaRPr lang="en-US" sz="2000"/>
          </a:p>
          <a:p>
            <a:pPr>
              <a:defRPr/>
            </a:pPr>
            <a:r>
              <a:rPr lang="en-US" sz="2000"/>
              <a:t>1,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,参考下面的推导,否则出现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∞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2,</a:t>
            </a:r>
            <a:r>
              <a:rPr sz="1900" b="0" i="1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子空间内</a:t>
            </a:r>
            <a:r>
              <a:rPr lang="en-US" sz="2000"/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〈a|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|b〉≠0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,否则所有项都是对角,是abel</a:t>
            </a:r>
            <a:endParaRPr lang="en-US" sz="2000"/>
          </a:p>
          <a:p>
            <a:pPr>
              <a:defRPr/>
            </a:pPr>
            <a:r>
              <a:rPr lang="en-US" sz="2000"/>
              <a:t>3,路径非对易,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(u)]≠0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567479" name=""/>
          <p:cNvSpPr txBox="1"/>
          <p:nvPr/>
        </p:nvSpPr>
        <p:spPr bwMode="auto">
          <a:xfrm rot="0" flipH="0" flipV="0">
            <a:off x="566248" y="811387"/>
            <a:ext cx="10854397" cy="13547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总演化算符:</a:t>
            </a: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U(u)=V(u) exp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-i</m:t>
                          </m:r>
                          <m:nary>
                            <m:naryPr>
                              <m:grow m:val="off"/>
                              <m:limLoc m:val="undOvr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-A(s)ds</m:t>
                              </m:r>
                            </m:e>
                          </m:nary>
                        </m:e>
                      </m:d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</p:txBody>
      </p:sp>
      <p:sp>
        <p:nvSpPr>
          <p:cNvPr id="2064995287" name=""/>
          <p:cNvSpPr txBox="1"/>
          <p:nvPr/>
        </p:nvSpPr>
        <p:spPr bwMode="auto">
          <a:xfrm rot="0" flipH="0" flipV="0">
            <a:off x="566248" y="2434166"/>
            <a:ext cx="10768006" cy="11477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分离条件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(在下面推导)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：只有当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[D(s),A(s')]=0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（例如在本征基下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为对角）或在严格绝热极限（跨本征的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mn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≪|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下，动力学因子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与几何因子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(路径有序)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可近似分离为产物形式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dyn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820131422" name=""/>
          <p:cNvSpPr txBox="1"/>
          <p:nvPr/>
        </p:nvSpPr>
        <p:spPr bwMode="auto">
          <a:xfrm rot="0" flipH="0" flipV="0">
            <a:off x="707360" y="3986388"/>
            <a:ext cx="10313718" cy="14857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如果想要消去动力学项的影响</a:t>
            </a:r>
            <a:r>
              <a:rPr lang="en-US"/>
              <a:t>,也就是退化成全局相位,由上式容易得到: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d>
                            <m:dPr>
                              <m:begChr m:val=""/>
                              <m:endChr m:val=")"/>
                              <m:ctrlPr>
                                <a:rPr/>
                              </m:ctrlPr>
                            </m:dPr>
                            <m:e>
                              <m:d>
                                <m:dPr>
                                  <m:begChr m:val="("/>
                                  <m:endChr m:val="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m:rPr/>
                                    <a:rPr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 ∈ 2πZ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923616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60030" y="-51954"/>
            <a:ext cx="11386325" cy="69099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79875" name=""/>
          <p:cNvSpPr txBox="1"/>
          <p:nvPr/>
        </p:nvSpPr>
        <p:spPr bwMode="auto">
          <a:xfrm rot="0" flipH="0" flipV="0">
            <a:off x="336942" y="370414"/>
            <a:ext cx="11815552" cy="12954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下面通过引入一个简单的例子</a:t>
            </a:r>
            <a:r>
              <a:rPr lang="en-US" sz="2000"/>
              <a:t>,说明把现在的pauli张量积投影到子空间后,会呈现出简单的SU(2)群结构.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选取子空间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span{|01〉,|10〉}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以后将此空间记作逻辑子空间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logical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=spac{|</m:t>
                      </m:r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〉,|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〉}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/>
              <a:t>下面的具体模型都会选择用逻辑子空间为例.</a:t>
            </a:r>
            <a:r>
              <a:rPr lang="zh-CN" sz="18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若改变基序或对本征向量做非平凡局部相位变换，矩阵表示会相应改变。</a:t>
            </a:r>
            <a:endParaRPr/>
          </a:p>
        </p:txBody>
      </p:sp>
      <p:sp>
        <p:nvSpPr>
          <p:cNvPr id="2106506913" name=""/>
          <p:cNvSpPr txBox="1"/>
          <p:nvPr/>
        </p:nvSpPr>
        <p:spPr bwMode="auto">
          <a:xfrm rot="0" flipH="0" flipV="0">
            <a:off x="446187" y="1763887"/>
            <a:ext cx="11519665" cy="33245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Y=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Z=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 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,YY,ZZ等同理 </a:t>
            </a: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,利用张量积运算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A⊗B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C⊗D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=(A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C)⊗(B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: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|01〉=(X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|0〉)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|1〉)=|1〉⊗|0〉=|10〉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也就是说这里XX</a:t>
            </a:r>
            <a:r>
              <a:rPr sz="2000">
                <a:latin typeface="Arial"/>
                <a:ea typeface="Arial"/>
                <a:cs typeface="Arial"/>
              </a:rPr>
              <a:t>~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 , 和X门作用一致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以及: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X⊗Z |01〉=|1〉⊗(-</m:t>
                      </m:r>
                      <m:d>
                        <m:dPr>
                          <m:begChr m:val="|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1〉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=-|11〉</m:t>
                      </m:r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,不在子空间.下面会记这种现象为泄漏,这里XZ投影后矩阵元在子空间里都是0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依次运算得到如下对照</a:t>
            </a: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:</a:t>
            </a: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graphicFrame>
        <p:nvGraphicFramePr>
          <p:cNvPr id="436328105" name=""/>
          <p:cNvGraphicFramePr>
            <a:graphicFrameLocks xmlns:a="http://schemas.openxmlformats.org/drawingml/2006/main"/>
          </p:cNvGraphicFramePr>
          <p:nvPr/>
        </p:nvGraphicFramePr>
        <p:xfrm rot="0">
          <a:off x="1591027" y="5419074"/>
          <a:ext cx="8127999" cy="109727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9"/>
                <a:gridCol w="4063999"/>
              </a:tblGrid>
              <a:tr h="36000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二次积形式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投影后形式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I⊗X, I⊗Y,X⊗I,Y⊗I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en-US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X⊗Z, Z⊗X,Y⊗Z, Z⊗Y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084061966" name=""/>
          <p:cNvGraphicFramePr>
            <a:graphicFrameLocks xmlns:a="http://schemas.openxmlformats.org/drawingml/2006/main"/>
          </p:cNvGraphicFramePr>
          <p:nvPr/>
        </p:nvGraphicFramePr>
        <p:xfrm rot="0">
          <a:off x="2031999" y="1371600"/>
          <a:ext cx="8127999" cy="1346088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9"/>
                <a:gridCol w="4063999"/>
              </a:tblGrid>
              <a:tr h="40640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二次积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投影后</a:t>
                      </a:r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Z⊗Z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I⊗Z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X⊗X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Y⊗X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235100" name=""/>
          <p:cNvSpPr txBox="1"/>
          <p:nvPr/>
        </p:nvSpPr>
        <p:spPr bwMode="auto">
          <a:xfrm rot="0" flipH="0" flipV="0">
            <a:off x="566248" y="793748"/>
            <a:ext cx="11326705" cy="59360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由于基底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{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I,σ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}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,也就是SU(2)基底的完备性,任何的2*2厄米矩阵都能在上面展开.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因此</a:t>
            </a:r>
            <a:r>
              <a:rPr lang="en-US" sz="2000"/>
              <a:t>,如果有哈密顿: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H=aXX+bYY+cXY+dZZ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在子空间表示下,等价于: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a+b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更一般的</a:t>
            </a:r>
            <a:r>
              <a:rPr lang="en-US" sz="2000"/>
              <a:t>,记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,具体为: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1371729" name=""/>
          <p:cNvSpPr txBox="1"/>
          <p:nvPr/>
        </p:nvSpPr>
        <p:spPr bwMode="auto">
          <a:xfrm rot="0" flipH="0" flipV="0">
            <a:off x="866109" y="846666"/>
            <a:ext cx="10715099" cy="41204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取一般都哈密顿形式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 ∈ I,X,Y,Z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有如下对照:(严格推导参考文件append/s1.md)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/>
              <a:t>这样</a:t>
            </a:r>
            <a:r>
              <a:rPr lang="en-US"/>
              <a:t>,在逻辑子空间里面,张量积形式就等价为了SU(2)下,也就是可以描述为SU(2)旋转的形式.</a:t>
            </a: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4265502" name=""/>
          <p:cNvSpPr txBox="1"/>
          <p:nvPr/>
        </p:nvSpPr>
        <p:spPr bwMode="auto">
          <a:xfrm rot="0" flipH="0" flipV="0">
            <a:off x="478055" y="723194"/>
            <a:ext cx="11148497" cy="9732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r>
              <a:rPr sz="2000"/>
              <a:t>的物理意义</a:t>
            </a:r>
            <a:r>
              <a:rPr lang="en-US" sz="2000"/>
              <a:t>: 在子空间里的演化对应着: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graphicFrame>
        <p:nvGraphicFramePr>
          <p:cNvPr id="612303683" name=""/>
          <p:cNvGraphicFramePr>
            <a:graphicFrameLocks xmlns:a="http://schemas.openxmlformats.org/drawingml/2006/main"/>
          </p:cNvGraphicFramePr>
          <p:nvPr/>
        </p:nvGraphicFramePr>
        <p:xfrm rot="0">
          <a:off x="1255888" y="1442155"/>
          <a:ext cx="10052444" cy="11298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3350814"/>
                <a:gridCol w="3350814"/>
                <a:gridCol w="3350814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分量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来源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作用</a:t>
                      </a:r>
                      <a:endParaRPr/>
                    </a:p>
                  </a:txBody>
                  <a:tcPr/>
                </a:tc>
              </a:tr>
              <a:tr h="35424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XX</a:t>
                      </a:r>
                      <a:r>
                        <a:rPr lang="en-US"/>
                        <a:t>, YY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几何旋转</a:t>
                      </a:r>
                      <a:r>
                        <a:rPr lang="en-US"/>
                        <a:t>,hopping/pairing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XY,YX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相位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ZI</a:t>
                      </a:r>
                      <a:r>
                        <a:rPr lang="en-US"/>
                        <a:t>,IZ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能量不对称,分裂等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428326246" name=""/>
          <p:cNvSpPr txBox="1"/>
          <p:nvPr/>
        </p:nvSpPr>
        <p:spPr bwMode="auto">
          <a:xfrm rot="0" flipH="0" flipV="0">
            <a:off x="425136" y="3280833"/>
            <a:ext cx="11754709" cy="30353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注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这里的判断是针对投影后的逻辑子空间低能演化，而不是直接给出整个链的全局拓扑结论。因为现在给出的都是子空间的瞬时的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,并不能代表全局.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具体分析各个分量的物理意义: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在逻辑子空间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把两个逻辑态互相翻转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;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也把两个逻辑态互相翻转，但带上相位；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直接在两个逻辑态之间引入能量差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0788388" name=""/>
          <p:cNvSpPr txBox="1"/>
          <p:nvPr/>
        </p:nvSpPr>
        <p:spPr bwMode="auto">
          <a:xfrm rot="0" flipH="0" flipV="0">
            <a:off x="301665" y="617360"/>
            <a:ext cx="11819149" cy="59179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因此：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负责逻辑子空间里的“横向混合 / 旋转”，它们决定有效两能级的几何旋转方向；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负责逻辑子空间里的“纵向偏置”，它直接给态之间加上能量差。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将具体形式带入</a:t>
            </a:r>
            <a:r>
              <a:rPr lang="en-US" sz="2000"/>
              <a:t>,得到瞬时的本征值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 </m:t>
                      </m:r>
                      <m:rad>
                        <m:radPr>
                          <m:deg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因此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总的能级分裂是：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ΔE=2</m:t>
                      </m:r>
                      <m:rad>
                        <m:radPr>
                          <m:deg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前文提到的退化为全局相位的条件是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d>
                            <m:dPr>
                              <m:begChr m:val=""/>
                              <m:endChr m:val=")"/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("/>
                                  <m:endChr m:val="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m:rPr/>
                                    <a:rPr sz="2000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 ∈ 2πZ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在这里也可以表示成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⋅dt ∈ πZ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935720" name=""/>
          <p:cNvSpPr txBox="1"/>
          <p:nvPr/>
        </p:nvSpPr>
        <p:spPr bwMode="auto">
          <a:xfrm rot="0" flipH="0" flipV="0">
            <a:off x="213472" y="458610"/>
            <a:ext cx="117827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2020638680" name=""/>
          <p:cNvSpPr txBox="1"/>
          <p:nvPr/>
        </p:nvSpPr>
        <p:spPr bwMode="auto">
          <a:xfrm rot="0" flipH="0" flipV="0">
            <a:off x="213471" y="493884"/>
            <a:ext cx="11819867" cy="60180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具体示例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lang="en-US" sz="2000"/>
              <a:t>取yang baxter的解的椭圆形式, eight vertex类型: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R(u)=</m:t>
                      </m:r>
                      <m:d>
                        <m:dPr>
                          <m:ctrlPr>
                            <a:rPr lang="en-US" sz="2000" b="0" i="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iδ</m:t>
                                      </m:r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iδ</m:t>
                                      </m:r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通过</a:t>
            </a:r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得到哈密顿: (这里简化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+O(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,对小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展开)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XX+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/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sin</m:t>
                              </m:r>
                            </m:fName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func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YX-XY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(ZI-IZ)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矩阵形式: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+i</m:t>
                                </m:r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-δ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,δ)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瞬时能级的本征值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δ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967215" name=""/>
          <p:cNvSpPr txBox="1"/>
          <p:nvPr/>
        </p:nvSpPr>
        <p:spPr bwMode="auto">
          <a:xfrm rot="0" flipH="0" flipV="0">
            <a:off x="160554" y="440970"/>
            <a:ext cx="11935418" cy="38773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在上述例子模型里面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,δ)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所以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δ&gt;0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增大能量幅度并引入额外累积相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∫|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 dt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，改变重叠随 T 的行为。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如果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δ=0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对应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哈密顿量在 xy 平面，演化主要是平面旋转（几何/拓扑主导），对应理想化的 Majorana zero mode（MZM-like）在braiding中的行为 ,对 braiding time 不那么敏感</a:t>
            </a:r>
            <a:r>
              <a:rPr lang="en-US" sz="2000"/>
              <a:t>.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δ&gt;0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,在 z 方向出现分量，导致瞬时能级分裂（finite-energy），有局域 Andreev bound state（ABS）；这会产生额外的动力学相（dynamic phase），使最终重叠/门更依赖时间和参数</a:t>
            </a:r>
            <a:r>
              <a:rPr lang="en-US" sz="2000"/>
              <a:t>.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(这一部分会在最后面给出具体的结果,类比论文fig3-5的部分)</a:t>
            </a:r>
            <a:endParaRPr lang="en-US" sz="2000"/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4107769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8"/>
            <a:ext cx="5516879" cy="1717039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862006265" name="组合 15"/>
          <p:cNvGrpSpPr/>
          <p:nvPr/>
        </p:nvGrpSpPr>
        <p:grpSpPr bwMode="auto">
          <a:xfrm>
            <a:off x="0" y="2529838"/>
            <a:ext cx="12192000" cy="1757679"/>
            <a:chOff x="0" y="2529838"/>
            <a:chExt cx="12192000" cy="1757679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1174096033" name="矩形 1"/>
            <p:cNvSpPr/>
            <p:nvPr/>
          </p:nvSpPr>
          <p:spPr bwMode="auto">
            <a:xfrm>
              <a:off x="0" y="2529838"/>
              <a:ext cx="5516879" cy="1717039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517643422" name="矩形 12"/>
            <p:cNvSpPr/>
            <p:nvPr/>
          </p:nvSpPr>
          <p:spPr bwMode="auto">
            <a:xfrm>
              <a:off x="11348719" y="2529838"/>
              <a:ext cx="843279" cy="1757679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1508591172" name="矩形 7"/>
          <p:cNvSpPr/>
          <p:nvPr/>
        </p:nvSpPr>
        <p:spPr bwMode="auto">
          <a:xfrm>
            <a:off x="1630064" y="3046549"/>
            <a:ext cx="3131726" cy="11890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03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1958656911" name="矩形 8"/>
          <p:cNvSpPr/>
          <p:nvPr/>
        </p:nvSpPr>
        <p:spPr bwMode="auto">
          <a:xfrm flipH="0" flipV="0">
            <a:off x="5516875" y="2912368"/>
            <a:ext cx="5778466" cy="6506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量化非阿贝尔性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315564" name=""/>
          <p:cNvSpPr txBox="1"/>
          <p:nvPr/>
        </p:nvSpPr>
        <p:spPr bwMode="auto">
          <a:xfrm rot="0" flipH="0" flipV="0">
            <a:off x="195831" y="352775"/>
            <a:ext cx="11995529" cy="639699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在前文我们提到了</a:t>
            </a:r>
            <a:r>
              <a:rPr lang="en-US" sz="2000"/>
              <a:t>,非阿贝尔braid变换应该是在子空间流形内部的几何旋转,对应的哈密顿写成了bloch+相位累积的形式.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同时我们之前讨论的演化一直存在于这个简并流形里面</a:t>
            </a:r>
            <a:r>
              <a:rPr lang="en-US" sz="2000"/>
              <a:t>.</a:t>
            </a:r>
            <a:r>
              <a:rPr lang="en-US" sz="2000"/>
              <a:t>正如braid的本质是holonomy on ground state,产生berry holonmy需要演化始终在一个低能流形里面.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但是如果考虑如下形式: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PP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PQ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QP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QQ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=PHP, ... </m:t>
                      </m:r>
                    </m:oMath>
                  </m:oMathPara>
                </a14:m>
              </mc:Choice>
              <mc:Fallback/>
            </mc:AlternateContent>
            <a:r>
              <a:rPr sz="2000"/>
              <a:t>投影算符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 , 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=Q, P+Q=I, PQ=QP=0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其中,Hilbert空间</a:t>
            </a:r>
            <a:r>
              <a:rPr lang="en-US" sz="2000"/>
              <a:t>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V=(P⊕Q)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×(P⊕Q)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, P为逻辑子空间</a:t>
            </a:r>
            <a:r>
              <a:rPr lang="en-US" sz="2000"/>
              <a:t>,Q为其正交补空间</a:t>
            </a:r>
            <a:endParaRPr sz="2000"/>
          </a:p>
          <a:p>
            <a:pPr>
              <a:defRPr/>
            </a:pPr>
            <a:r>
              <a:rPr lang="en-US" sz="2000"/>
              <a:t>如果对应的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≠0,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QP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≠0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也就是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PHQ≠0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/>
              <a:t>演化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R: V → V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就出现了 P-&gt;Q的这样的泄漏情况.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leakage使 non-Abelian braid 从“纯几何拓扑过程”退化成“普通动力学过程”</a:t>
            </a:r>
            <a:r>
              <a:rPr lang="en-US" sz="2000" b="1"/>
              <a:t>,</a:t>
            </a:r>
            <a:r>
              <a:rPr lang="en-US" sz="2000" b="0"/>
              <a:t>因为这会导致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Berry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dyn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leak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2000" b="0"/>
              <a:t>不再满足yang</a:t>
            </a:r>
            <a:r>
              <a:rPr lang="en-US" sz="2000" b="0"/>
              <a:t> baxter 方程,</a:t>
            </a:r>
            <a:endParaRPr sz="2000" b="0"/>
          </a:p>
          <a:p>
            <a:pPr>
              <a:defRPr/>
            </a:pPr>
            <a:endParaRPr sz="2000" b="1"/>
          </a:p>
          <a:p>
            <a:pPr>
              <a:defRPr/>
            </a:pPr>
            <a:endParaRPr sz="20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9314720" name=""/>
          <p:cNvSpPr txBox="1"/>
          <p:nvPr/>
        </p:nvSpPr>
        <p:spPr bwMode="auto">
          <a:xfrm rot="0" flipH="0" flipV="0">
            <a:off x="107638" y="423333"/>
            <a:ext cx="11920649" cy="60352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因此</a:t>
            </a:r>
            <a:r>
              <a:rPr lang="en-US" sz="2000"/>
              <a:t>,我们可以通过判断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PHP or PRP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是否闭合,也就是是否满足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PHQ=QHP=0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如果满足,则有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PP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QQ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因此我们的演化后的算符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RP ∈P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或者描述为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logical manifold不与bulk混合。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如果发生了泄漏,为了描述这个过程,下面引入Green函数:</a:t>
            </a: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定义resolvent：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z-H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其中</a:t>
            </a:r>
            <a:r>
              <a:rPr lang="en-US" sz="2000"/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z∈C ,  z=E+iη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Green函数和路径的关系表示为下面的Laplace对偶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∞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du 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izu</m:t>
                              </m:r>
                            </m:sup>
                          </m:s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R(u)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Green~逆矩阵,接下来引入schur补的概念来辅助描述P-&gt;Q的过程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740345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86069" y="376129"/>
            <a:ext cx="11819860" cy="61057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277793" name=""/>
          <p:cNvSpPr txBox="1"/>
          <p:nvPr/>
        </p:nvSpPr>
        <p:spPr bwMode="auto">
          <a:xfrm rot="0" flipH="0" flipV="0">
            <a:off x="178194" y="388055"/>
            <a:ext cx="11966743" cy="583116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Green函数: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G(z)=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PP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PQ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QP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QQ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满足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z-H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即: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sz="2000"/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z-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PP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PQ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QP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z-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QQ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sz="2000"/>
              <a:t>引入schur</a:t>
            </a:r>
            <a:r>
              <a:rPr lang="en-US" sz="2000"/>
              <a:t> complement的概念,得到: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PP</m:t>
                                  </m:r>
                                </m:sub>
                              </m:s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-Σ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其中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QP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QQ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对应的物理意义为:</a:t>
            </a:r>
            <a:r>
              <a:rPr lang="en-US" sz="2000"/>
              <a:t>理想MZM下: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  →  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  →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PP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logical manifold封闭</a:t>
            </a:r>
            <a:r>
              <a:rPr lang="en-US" sz="2000"/>
              <a:t>. 反之在引起ABS的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≠0 → 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, logical manifold被bulk renormalize</a:t>
            </a:r>
            <a:endParaRPr lang="en-US" sz="2000"/>
          </a:p>
          <a:p>
            <a:pPr>
              <a:defRPr/>
            </a:pP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09420" name=""/>
          <p:cNvSpPr txBox="1"/>
          <p:nvPr/>
        </p:nvSpPr>
        <p:spPr bwMode="auto">
          <a:xfrm rot="0" flipH="0" flipV="0">
            <a:off x="266388" y="440971"/>
            <a:ext cx="12000940" cy="548560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定义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+Σ(z)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于是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eff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设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QQ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|n〉=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ϵ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|n〉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则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zh-CN" sz="20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PQ</m:t>
                                  </m:r>
                                </m:sub>
                              </m:s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|n〉〈n|</m:t>
                              </m:r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QP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ϵ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表示了</a:t>
            </a:r>
            <a:r>
              <a:rPr lang="en-US" sz="2000"/>
              <a:t> P -&gt; Q -&gt; P的虚跃迁过程</a:t>
            </a:r>
            <a:r>
              <a:rPr lang="en-US" sz="2000"/>
              <a:t> , 引入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Schur补在 Green 函数里的意义：把“不可见自由度”压缩成自能</a:t>
            </a:r>
            <a:r>
              <a:rPr lang="en-US" sz="2000"/>
              <a:t>.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Σ(z)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天然是非厄米 + 能量依赖 + 非对角耦合结构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下面进一步延伸讨论</a:t>
            </a:r>
            <a:r>
              <a:rPr lang="en-US" sz="2000"/>
              <a:t>,定义谱函数来表示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在能量 ω 处，系统允许存在一个粒子态的概率密度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Im Tr G(ω+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i0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866346" name=""/>
          <p:cNvSpPr txBox="1"/>
          <p:nvPr/>
        </p:nvSpPr>
        <p:spPr bwMode="auto">
          <a:xfrm rot="0" flipH="0" flipV="0">
            <a:off x="372222" y="458610"/>
            <a:ext cx="11765859" cy="60300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其中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ω+i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≡</m:t>
                      </m:r>
                      <m:func>
                        <m:fun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η→0+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(ω+iη)</m:t>
                          </m:r>
                        </m:e>
                      </m:func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是我们将 Green 函数的解析延拓到复数上</a:t>
            </a:r>
            <a:endParaRPr sz="2000"/>
          </a:p>
          <a:p>
            <a:pPr>
              <a:defRPr/>
            </a:pPr>
            <a:r>
              <a:rPr sz="2000"/>
              <a:t>引入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=Re Σ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+i Im Σ(z)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ω-ϵ-Σ(w)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/>
              <a:t>谱函数变成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A~</m:t>
                      </m:r>
                      <m:f>
                        <m:f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ω-ϵ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p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其中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Γ=Im Σ</m:t>
                      </m:r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也就是说</a:t>
            </a:r>
            <a:r>
              <a:rPr lang="en-US" sz="2000"/>
              <a:t>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Σ(z)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使得谱函数从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峰变成了有宽度的峰,从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“针状能级” → “有宽度的准粒子”</a:t>
            </a:r>
            <a:r>
              <a:rPr lang="en-US" sz="2000"/>
              <a:t>,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对应了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非阿贝尔结构在谱空间中的投影</a:t>
            </a:r>
            <a:r>
              <a:rPr lang="en-US"/>
              <a:t>(谱峰的变宽,重排,混合等). 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/>
          </a:p>
        </p:txBody>
      </p:sp>
      <p:graphicFrame>
        <p:nvGraphicFramePr>
          <p:cNvPr id="848175236" name=""/>
          <p:cNvGraphicFramePr>
            <a:graphicFrameLocks xmlns:a="http://schemas.openxmlformats.org/drawingml/2006/main"/>
          </p:cNvGraphicFramePr>
          <p:nvPr/>
        </p:nvGraphicFramePr>
        <p:xfrm>
          <a:off x="1837972" y="4052710"/>
          <a:ext cx="8127999" cy="1132082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709333"/>
                <a:gridCol w="2709333"/>
                <a:gridCol w="2709333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情形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铺函数形状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对应的意义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无相互作用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/>
                        <a:t>函数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稳定本征态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存在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Σ(z)≠0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类似光电里的洛伦兹形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有寿命的准粒子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826957" name=""/>
          <p:cNvSpPr txBox="1"/>
          <p:nvPr/>
        </p:nvSpPr>
        <p:spPr bwMode="auto">
          <a:xfrm rot="0" flipH="0" flipV="0">
            <a:off x="248749" y="423333"/>
            <a:ext cx="1150739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下面来看一个具体例子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70590670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7"/>
            <a:ext cx="5516879" cy="1717038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1233409706" name="组合 15"/>
          <p:cNvGrpSpPr/>
          <p:nvPr/>
        </p:nvGrpSpPr>
        <p:grpSpPr bwMode="auto">
          <a:xfrm>
            <a:off x="0" y="2529837"/>
            <a:ext cx="12192000" cy="1757678"/>
            <a:chOff x="0" y="2529837"/>
            <a:chExt cx="12192000" cy="1757678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322270132" name="矩形 1"/>
            <p:cNvSpPr/>
            <p:nvPr/>
          </p:nvSpPr>
          <p:spPr bwMode="auto">
            <a:xfrm>
              <a:off x="0" y="2529837"/>
              <a:ext cx="5516879" cy="1717038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2037544949" name="矩形 12"/>
            <p:cNvSpPr/>
            <p:nvPr/>
          </p:nvSpPr>
          <p:spPr bwMode="auto">
            <a:xfrm>
              <a:off x="11348719" y="2529837"/>
              <a:ext cx="843278" cy="1757678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1043715873" name="矩形 7"/>
          <p:cNvSpPr/>
          <p:nvPr/>
        </p:nvSpPr>
        <p:spPr bwMode="auto">
          <a:xfrm>
            <a:off x="1630064" y="3046549"/>
            <a:ext cx="3131726" cy="11890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04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683524879" name="矩形 8"/>
          <p:cNvSpPr/>
          <p:nvPr/>
        </p:nvSpPr>
        <p:spPr bwMode="auto">
          <a:xfrm>
            <a:off x="5959117" y="2875000"/>
            <a:ext cx="4940479" cy="1116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zh-CN" sz="6600" b="1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验证和复现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2338082" name=""/>
          <p:cNvSpPr txBox="1"/>
          <p:nvPr/>
        </p:nvSpPr>
        <p:spPr bwMode="auto">
          <a:xfrm rot="0" flipH="0" flipV="0">
            <a:off x="213471" y="423333"/>
            <a:ext cx="12133413" cy="57860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600" b="1"/>
              <a:t>第一部分的验证复现</a:t>
            </a:r>
            <a:endParaRPr sz="2600" b="1"/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2000"/>
              <a:t>根据论文</a:t>
            </a: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Non-Abelian statistics of Majorana zero modes in the presence of an Andreev bound state</a:t>
            </a:r>
            <a:endParaRPr lang="zh-CN" sz="20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Wenqin Chen,1 Jiachen Wang,1 Yijia Wu ,2 Junjie Qi,3 Jie Liu ,1,* and X. C. Xie2,3,4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,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DOI: 10.1103/PhysRevB.105.054507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有两个主要观点需要我们的模型复现出来: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1. 在存在 ABS 的情况下，braid 和 hybridization 的叠加会把单比特演化写成 Bloch 球上的一般SU(2)旋转(一个全局相位)；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2. 若通过调节门电压、Zeeman 场或耦合强度使动力学相退化为全局相，则总演化恢复到近似纯编织门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，从而恢复理想 non-Abelian statistics。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第二点根据前文的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⋅dt ∈ πZ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已经可以说明,只需要调节对应的物理参数搭建路径u(t),就可以实现.下面着重说明第一点的复现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051376" name=""/>
          <p:cNvSpPr txBox="1"/>
          <p:nvPr/>
        </p:nvSpPr>
        <p:spPr bwMode="auto">
          <a:xfrm rot="0" flipH="0" flipV="0">
            <a:off x="178191" y="458607"/>
            <a:ext cx="12251136" cy="62600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 b="1"/>
              <a:t>复现前的准备pre1:</a:t>
            </a:r>
            <a:endParaRPr lang="en-US" sz="2600" b="1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首先需要先说明我们的模型能否做到SU</a:t>
            </a:r>
            <a:r>
              <a:rPr lang="en-US" sz="2000"/>
              <a:t>(2)的任意旋转,这里给出命题: (完整证明也在append/s1.md)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表示出任意旋转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↔H(u)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张成Lie su(2)代数,形式一点都说法是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李代数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Lie{i 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</m:t>
                      </m:r>
                      <m:sSub>
                        <m:sSub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}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u∈ Τ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=su(2)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当且仅当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参数轨迹的像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D={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u): u∈ Τ}</m:t>
                      </m:r>
                    </m:oMath>
                  </m:oMathPara>
                </a14:m>
              </mc:Choice>
              <mc:Fallback/>
            </mc:AlternateContent>
            <a:r>
              <a:rPr/>
              <a:t>满足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也就是要满足: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 0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更强的三点判据（等价）：存在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,u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使得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unc>
                        <m:func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det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]</m:t>
                          </m:r>
                        </m:e>
                      </m:fun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⋅[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]≠0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简单说明证明要点：对任意两个方向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，有 Lie 对易子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[id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σ,id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⋅σ]=-2i(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)⋅σ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因此只要存在两不共线向量，便可通过一次对易得到第三个方向；三线性独立则生成全 su(2)</a:t>
            </a:r>
            <a:endParaRPr lang="en-US"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2225471" name=""/>
          <p:cNvSpPr txBox="1"/>
          <p:nvPr/>
        </p:nvSpPr>
        <p:spPr bwMode="auto">
          <a:xfrm rot="0" flipH="0" flipV="0">
            <a:off x="178193" y="423333"/>
            <a:ext cx="11729860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2040704455" name=""/>
          <p:cNvSpPr txBox="1"/>
          <p:nvPr/>
        </p:nvSpPr>
        <p:spPr bwMode="auto">
          <a:xfrm rot="0" flipH="0" flipV="0">
            <a:off x="125275" y="352775"/>
            <a:ext cx="12196774" cy="64915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 b="1"/>
              <a:t>pre2:</a:t>
            </a:r>
            <a:endParaRPr lang="en-US"/>
          </a:p>
          <a:p>
            <a:pPr>
              <a:defRPr/>
            </a:pPr>
            <a:r>
              <a:rPr lang="en-US" sz="2000"/>
              <a:t>下面要将用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表示的杂化以及braid操作对应到我们的简化的模型上:</a:t>
            </a:r>
            <a:endParaRPr lang="en-US" sz="2000"/>
          </a:p>
          <a:p>
            <a:pPr>
              <a:defRPr/>
            </a:pPr>
            <a:r>
              <a:rPr lang="en-US" sz="2000"/>
              <a:t>引入Jordan Wigner变换: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grow m:val="off"/>
                              <m:limLoc m:val="undOvr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m&lt;j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grow m:val="off"/>
                              <m:limLoc m:val="undOvr"/>
                              <m:supHide m:val="on"/>
                              <m:ctrlPr>
                                <a:rPr lang="zh-CN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m&lt;j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zh-CN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zh-CN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i"/>
                                            </m:rPr>
                                            <a:rPr lang="zh-CN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于是同一费米模上的杂化项里的张量积直接变成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对最近邻的 Majorana 二次项，有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2j+1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2j+1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因此,得到一般结论: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(t)=i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a&lt;b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ϵ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6610136" name=""/>
          <p:cNvSpPr txBox="1"/>
          <p:nvPr/>
        </p:nvSpPr>
        <p:spPr bwMode="auto">
          <a:xfrm rot="0" flipH="0" flipV="0">
            <a:off x="160553" y="493886"/>
            <a:ext cx="12128018" cy="365900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其中</a:t>
            </a:r>
            <a:r>
              <a:rPr lang="en-US" sz="2000"/>
              <a:t>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 Pauli 串或两体张量积</a:t>
            </a:r>
            <a:r>
              <a:rPr lang="en-US" sz="2000"/>
              <a:t>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则由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 JW 产生的Z串共同决定</a:t>
            </a:r>
            <a:r>
              <a:rPr lang="en-US" sz="2000"/>
              <a:t>.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若只关心逻辑比特，继续投影到编码子空间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这里的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来自于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u=u(t)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H(u(t))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braid操作,例如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B=exp(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→exp(-i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也可以由同样的方法推导得到.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(更一般的证明可以参考append/s1.md)</a:t>
            </a:r>
            <a:endParaRPr lang="en-US"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7811593" name=""/>
          <p:cNvSpPr txBox="1"/>
          <p:nvPr/>
        </p:nvSpPr>
        <p:spPr bwMode="auto">
          <a:xfrm rot="0" flipH="0" flipV="0">
            <a:off x="107636" y="352775"/>
            <a:ext cx="11836414" cy="57699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1"/>
              <a:t>pre3:从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 -&gt;</m:t>
                      </m:r>
                      <m:sSub>
                        <m:sSubPr>
                          <m:ctrlPr>
                            <a:rPr lang="en-US" sz="2400" b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>
                          <m:sty m:val="bi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r>
                        <m:rPr>
                          <m:sty m:val="bi"/>
                        </m:rPr>
                        <a:rPr sz="2400">
                          <a:latin typeface="Cambria Math"/>
                          <a:ea typeface="Cambria Math"/>
                          <a:cs typeface="Cambria Math"/>
                        </a:rPr>
                        <m:t>→R</m:t>
                      </m:r>
                    </m:oMath>
                  </m:oMathPara>
                </a14:m>
              </mc:Choice>
              <mc:Fallback/>
            </mc:AlternateContent>
            <a:r>
              <a:rPr lang="en-US" sz="2400"/>
              <a:t>演化</a:t>
            </a:r>
            <a:r>
              <a:rPr lang="en-US" sz="2400"/>
              <a:t>也是下面对比论文时从哈密顿开始构建到R的过程:</a:t>
            </a:r>
            <a:endParaRPr lang="en-US" sz="240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严格复现链：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box>
                        <m:boxPr>
                          <m:aln m:val="off"/>
                          <m:diff m:val="off"/>
                          <m:noBreak m:val="off"/>
                          <m:opEmu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boxPr>
                        <m:e>
                          <m:groupChr>
                            <m:groupChrPr>
                              <m:chr m:val="→"/>
                              <m:pos m:val="bot"/>
                              <m:vertJc m:val="bot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JW mapping</m:t>
                              </m:r>
                            </m:e>
                          </m:groupChr>
                        </m:e>
                      </m:box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subHide m:val="on"/>
                          <m:supHide m:val="on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b>
                          </m:sSub>
                          <m:sSub>
                            <m:sSubPr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b>
                          </m:sSub>
                        </m:e>
                      </m:nary>
                      <m:box>
                        <m:boxPr>
                          <m:aln m:val="off"/>
                          <m:diff m:val="off"/>
                          <m:noBreak m:val="off"/>
                          <m:opEmu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boxPr>
                        <m:e>
                          <m:groupChr>
                            <m:groupChrPr>
                              <m:chr m:val="→"/>
                              <m:pos m:val="bot"/>
                              <m:vertJc m:val="bot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groupChr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    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L</m:t>
                                  </m:r>
                                </m:sub>
                              </m:s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    </m:t>
                              </m:r>
                            </m:e>
                          </m:groupChr>
                        </m:e>
                      </m:box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其中: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subHide m:val="on"/>
                          <m:supHide m:val="on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μν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ν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r>
              <a:rPr lang="en-US" sz="2000"/>
              <a:t>在这里起到了一个中转的作用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若在逻辑基底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〉,|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上展开，便有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= 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〈0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⊗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endChr m:val=")"/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〉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〈0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⊗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endChr m:val=")"/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〉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〈1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⊗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endChr m:val=")"/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〉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〈1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⊗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endChr m:val=")"/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〉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把这个2*2厄米矩阵按 Pauli 基展开，就得到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050166" name=""/>
          <p:cNvSpPr txBox="1"/>
          <p:nvPr/>
        </p:nvSpPr>
        <p:spPr bwMode="auto">
          <a:xfrm rot="0" flipH="0" flipV="0">
            <a:off x="266387" y="423333"/>
            <a:ext cx="11810136" cy="557589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于是总演化为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dt)=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-iΦ(T)</m:t>
                          </m:r>
                        </m:sup>
                      </m:sSup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ac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d(t)</m:t>
                          </m:r>
                        </m:e>
                      </m:nary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⋅σdt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Φ</m:t>
                      </m:r>
                      <m:d>
                        <m:dPr>
                          <m:begChr m:val="("/>
                          <m:endChr m:val=")"/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(t)</m:t>
                          </m:r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若每一段路径内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d(t)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近似固定，则对第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k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段有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iτ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0,k</m:t>
                              </m:r>
                            </m:sub>
                          </m:sSub>
                        </m:sup>
                      </m:sSup>
                      <m:func>
                        <m:func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[cos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τ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fun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)I-i</m:t>
                      </m:r>
                      <m:func>
                        <m:func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τ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fun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)⋅σ]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因此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∏"/>
                          <m:grow m:val="off"/>
                          <m:limLoc m:val="undOvr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-iΦ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</m:sup>
                      </m:sSup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SU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当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d(t)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绕原点闭合时，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SU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就是 Bloch 球上的旋转门；当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Φ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只贡献全局相位时，就得到论文所说的“理想 braid + 相位动力学累积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-&gt;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Bloch 旋转”。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841248" name=""/>
          <p:cNvSpPr txBox="1"/>
          <p:nvPr/>
        </p:nvSpPr>
        <p:spPr bwMode="auto">
          <a:xfrm rot="0" flipH="0" flipV="0">
            <a:off x="160552" y="423330"/>
            <a:ext cx="12047013" cy="481063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/>
              <a:t>复现流程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把论文中的器件控制参数统一记作</a:t>
            </a:r>
            <a:r>
              <a:rPr/>
              <a:t>路径</a:t>
            </a:r>
            <a:r>
              <a:rPr lang="en-US"/>
              <a:t>,表示为如下形式</a:t>
            </a: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,g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,g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,g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,V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,ϕ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,V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其中：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是四个门的开关变量，控制各臂之间是否连通；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 Zeeman 场；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ϕ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是上下纳米线之间的相位差；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是量子点或局域势阱深度，用于产生/调节 ABS；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ic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是器件与中心 trivial superconductor 的时变耦合。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是统一的基准跃迁幅度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/>
              <a:t>参考supplement_materialV2附录,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先设计门控路径，再得到时变微观哈密顿量；随后把它投影到低能零模子空间，得到 Majorana 的有效耦合；最后区分出理想 MZM 的非阿贝尔 braid，以及 ABS 参与时的动力学相积累。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路径设计的本质，就是按时间调节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，让某些 Majorana 先杂化、再交换、再回到杂化。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509739" name=""/>
          <p:cNvSpPr txBox="1"/>
          <p:nvPr/>
        </p:nvSpPr>
        <p:spPr bwMode="auto">
          <a:xfrm rot="0" flipH="0" flipV="0">
            <a:off x="160552" y="458607"/>
            <a:ext cx="11924975" cy="58412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zh-CN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ϵ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(i)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(t)</m:t>
                          </m:r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因此总演化是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tot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/>
              <a:t>(注,下面会把初始状态也计入,因此下面是6个步骤)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107007" name=""/>
          <p:cNvSpPr txBox="1"/>
          <p:nvPr/>
        </p:nvSpPr>
        <p:spPr bwMode="auto">
          <a:xfrm rot="0" flipH="0" flipV="0">
            <a:off x="107636" y="405693"/>
            <a:ext cx="12243924" cy="265214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总结支持材料里面的整个哈密顿可以写为</a:t>
            </a:r>
            <a:r>
              <a:rPr lang="en-US" sz="2000"/>
              <a:t>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sz="14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1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4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sz="14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      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 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               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</m:mr>
                                  <m:mr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-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-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!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                     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0                                   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m:rPr/>
                        <a:rPr lang="en-US" sz="1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+h.c</m:t>
                      </m:r>
                    </m:oMath>
                  </m:oMathPara>
                </a14:m>
              </mc:Choice>
              <mc:Fallback/>
            </mc:AlternateContent>
            <a:endParaRPr lang="en-US" sz="14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sp>
        <p:nvSpPr>
          <p:cNvPr id="124017990" name=""/>
          <p:cNvSpPr txBox="1"/>
          <p:nvPr/>
        </p:nvSpPr>
        <p:spPr bwMode="auto">
          <a:xfrm rot="0" flipH="0" flipV="0">
            <a:off x="275029" y="3026787"/>
            <a:ext cx="11900499" cy="342408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接下来考虑带入到我们的pauli张量积模型中</a:t>
            </a:r>
            <a:r>
              <a:rPr lang="en-US" sz="2000"/>
              <a:t>,首先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路径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p(t)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本身不是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μν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，它先决定一组随时间变化的控制幅度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(p(t))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。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于是微观哈密顿量可统一写成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(0)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λ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是固定的张量积算符基。若改写到 Pauli 张量基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μ,ν∈{0,x,y,z}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μν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构造逻辑: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{μν}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R(u)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YBE.</m:t>
                      </m:r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3476902" name=""/>
          <p:cNvSpPr txBox="1"/>
          <p:nvPr/>
        </p:nvSpPr>
        <p:spPr bwMode="auto">
          <a:xfrm rot="0" flipH="0" flipV="0">
            <a:off x="125275" y="423333"/>
            <a:ext cx="12135566" cy="61045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取四个相关 Majorana 的固定顺序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6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并用两 qubit 的 JW 表示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=X⊗I,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=Y⊗I ,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=Z⊗X,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=Z⊗Y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则六个双线性项变成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=-Z⊗I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=-Y⊗X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=Y⊗Y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=-X⊗X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=-X⊗Y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=-I⊗Z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因此支撑材料中的低能哈密顿量可写成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Z⊗I-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Y⊗X+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Y⊗Y-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X⊗X-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X⊗Y-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I⊗Z+h.c.)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en-US"/>
              <a:t>非零系数: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=+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若显式保留 h.c.且系数实数，则整体统一乘以 2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563226" name=""/>
          <p:cNvSpPr txBox="1"/>
          <p:nvPr/>
        </p:nvSpPr>
        <p:spPr bwMode="auto">
          <a:xfrm rot="0" flipH="0" flipV="0">
            <a:off x="178193" y="440970"/>
            <a:ext cx="12008134" cy="288503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在逻辑子空间进行投影</a:t>
            </a:r>
            <a:r>
              <a:rPr lang="en-US" sz="2000"/>
              <a:t>,应用我们之前的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和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的变换规律: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IZ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于是该两 qubit Pauli 张量积哈密顿量在逻辑子空间中的严格结果为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=d⋅σ=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489421352" name=""/>
          <p:cNvSpPr txBox="1"/>
          <p:nvPr/>
        </p:nvSpPr>
        <p:spPr bwMode="auto">
          <a:xfrm rot="0" flipH="0" flipV="0">
            <a:off x="301664" y="3429000"/>
            <a:ext cx="11704665" cy="164663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下面开始设计路径</a:t>
            </a:r>
            <a:r>
              <a:rPr lang="en-US" sz="2000"/>
              <a:t>,并进行复现: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初始配置: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=0, 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这意味着只有某些臂与中心区相连，三个低能 Majorana 对被局域在不同的 domain wall 上。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917305" name=""/>
          <p:cNvSpPr txBox="1"/>
          <p:nvPr/>
        </p:nvSpPr>
        <p:spPr bwMode="auto">
          <a:xfrm rot="0" flipH="0" flipV="0">
            <a:off x="195831" y="440970"/>
            <a:ext cx="12244293" cy="590279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把准备也视为第一段路径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,则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前三段路径写成统一的段内归一化参数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a∈[0,1]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：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a,0,1-a,1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1-a,a,0,1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0,1-a,a,1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其中参数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t-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=nT</m:t>
                      </m:r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是该段的起始时间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,T是每段的时间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并在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t∈[3T,6T]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重复一次前 3 段。把它直接代入 9.2.2.1 的两比特 Pauli 基哈密顿量，得到每一段的精确微观形式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[-u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Y⊗X+uY⊗Y-(1-u)I⊗Z]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[-u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Z⊗I+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Y⊗Y-uX⊗Y]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[-u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X⊗X-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X⊗Y-uI⊗Z]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投影到子空间:</a:t>
            </a: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[(1-a)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+u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-a(1-a)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+(1-a)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+a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434482" name=""/>
          <p:cNvSpPr txBox="1"/>
          <p:nvPr/>
        </p:nvSpPr>
        <p:spPr bwMode="auto">
          <a:xfrm rot="0" flipH="0" flipV="0">
            <a:off x="213471" y="458608"/>
            <a:ext cx="12116495" cy="57784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每段的物理时间长度为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T,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段内演化的精确结果是路径有序指数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(k)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exp(-iT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L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(k)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(a)da)</m:t>
                          </m:r>
                        </m:e>
                      </m:nary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 k=1,2,3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en-US" sz="2000"/>
              <a:t>表示时间有序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六步总演化(含初始状态)就是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L,F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(R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  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p>
                          </m:sSup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接下来就是验证,在我们的模型表示下,braid 和 hybridization 的操作会把单比特演化写成 Bloch 球上的一般SU(2)旋转(一个全局相位)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注:具体代码步骤和分析可以参考re1.md文档.下面只说明思路和结果.</a:t>
            </a:r>
            <a:endParaRPr lang="en-US" sz="200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第 </a:t>
            </a: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k</a:t>
            </a: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段的数值积分可按网格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=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离散为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(k)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nary>
                        <m:naryPr>
                          <m:chr m:val="∏"/>
                          <m:grow m:val="off"/>
                          <m:limLoc m:val="undOvr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m=M-1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exp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iTΔaH</m:t>
                                  </m:r>
                                </m:e>
                                <m:sup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  Δa=</m:t>
                          </m:r>
                          <m:f>
                            <m:fPr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642967" name=""/>
          <p:cNvSpPr txBox="1"/>
          <p:nvPr/>
        </p:nvSpPr>
        <p:spPr bwMode="auto">
          <a:xfrm rot="0" flipH="0" flipV="0">
            <a:off x="266386" y="352775"/>
            <a:ext cx="12004178" cy="484974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这里乘积从右向左累积，和路径有序指数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的方向一致。六步总门就是</a:t>
            </a: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L,F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(R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  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然后与论文的理想 braid 门比较：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sz="2000" b="0" i="1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den>
                          </m:f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∼exp(-i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sSub>
                        <m:sSubPr>
                          <m:ctrl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数值检验时，最直接的残差是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limLowPr>
                            <m:e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min</m:t>
                              </m:r>
                            </m:e>
                            <m:lim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ϕ∈R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sz="2000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iϕ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m:rPr/>
                                        <a:rPr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L,F</m:t>
                                      </m:r>
                                    </m:sub>
                                  </m:sSub>
                                  <m:r>
                                    <m:rPr/>
                                    <a:rPr sz="2000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  <m:sSub>
                                    <m:sSubPr>
                                      <m:ctrlPr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  <m:sub>
                                      <m:r>
                                        <m:rPr/>
                                        <a:rPr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braid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</mc:Choice>
              <mc:Fallback/>
            </mc:AlternateContent>
            <a:endParaRPr sz="200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而如果要检查 braid/YBE 形式本身，就把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braid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作为两体门嵌入三体空间，验证</a:t>
            </a:r>
            <a:endParaRPr sz="2000"/>
          </a:p>
          <a:p>
            <a:pPr>
              <a:defRPr/>
            </a:pPr>
            <a:br>
              <a:rPr sz="20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</a:b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-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 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sz="145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/>
              <a:t>注</a:t>
            </a:r>
            <a:r>
              <a:rPr lang="en-US"/>
              <a:t>:上述演化在实际计算中,参考了论文里面定义的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[0.59 + 0.03 cos(t/T · π )]Δ</m:t>
                      </m:r>
                    </m:oMath>
                  </m:oMathPara>
                </a14:m>
              </mc:Choice>
              <mc:Fallback/>
            </mc:AlternateContent>
            <a:r>
              <a:rPr/>
              <a:t>这种余弦形式</a:t>
            </a:r>
            <a:r>
              <a:rPr lang="en-US"/>
              <a:t>,作为路径积分的调参.</a:t>
            </a:r>
            <a:endParaRPr sz="145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193922" name=""/>
          <p:cNvSpPr txBox="1"/>
          <p:nvPr/>
        </p:nvSpPr>
        <p:spPr bwMode="auto">
          <a:xfrm rot="0" flipH="0" flipV="0">
            <a:off x="231111" y="423333"/>
            <a:ext cx="11825975" cy="5929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复现结果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左图：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`x`, `y`, `z`：逻辑门和三个理想 braid 轴 `exp(-i π/4 σ_a)` 的相位对齐残差；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`braid`：braid relation 残差；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`YBE`：constant YBE 残差。</a:t>
            </a: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右图: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||e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iϕ</m:t>
                          </m:r>
                        </m:sup>
                      </m:sSup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||</m:t>
                      </m:r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也就是先把逻辑门 `R_L` 做全局相位对齐，再看它与理想 braid 门逐个元素的绝对差。</a:t>
            </a:r>
            <a:endParaRPr/>
          </a:p>
        </p:txBody>
      </p:sp>
      <p:pic>
        <p:nvPicPr>
          <p:cNvPr id="151691678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483471" y="485085"/>
            <a:ext cx="8644776" cy="35265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2998452" name=""/>
          <p:cNvSpPr txBox="1"/>
          <p:nvPr/>
        </p:nvSpPr>
        <p:spPr bwMode="auto">
          <a:xfrm rot="0" flipH="0" flipV="0">
            <a:off x="213471" y="352774"/>
            <a:ext cx="12140616" cy="57500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上述数值结果显示：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门是非平凡的，确实有 braid-like 结构；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但当前路径和参数并没有把逻辑门压到论文里那个“理想、时间无关、接近标准 braid 算符”的极限。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主要原因是因为这个简化模型里面对于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,ϕ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,V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这些参数的精度不够,进一步调参有望得到更精确的结果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接下来是具体分析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braiding时MZM和ABS的行为: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我们代入8 vertex的模型: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)=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</m:func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</m:func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我们在代码里面用 网格给出时间点、每步用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计算短时传播子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U=exp(-i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，累积得到总演化 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U,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再计算重叠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overlaps[i]=</m:t>
                      </m:r>
                      <m:d>
                        <m:dPr>
                          <m:begChr m:val="⟨"/>
                          <m:endChr m:val="|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ψ(0)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)⟩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 最终取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|overlaps[-1]|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作为 final-overlap得到下面的fig3: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6327422" name=""/>
          <p:cNvSpPr txBox="1"/>
          <p:nvPr/>
        </p:nvSpPr>
        <p:spPr bwMode="auto">
          <a:xfrm rot="0" flipH="0" flipV="0">
            <a:off x="442776" y="546804"/>
            <a:ext cx="11247492" cy="589675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MZM-like 分支对时间更稳，ABS-like 分支随 braiding time 更明显变化</a:t>
            </a:r>
            <a:r>
              <a:rPr lang="en-US"/>
              <a:t>(一个拐点)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这里的:</a:t>
            </a: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baseline = 脚本里的参考/默认参数下得到的参考曲线；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best = 自动搜索（run_auto_scan）选出的“最 paper-like”参数下的曲线（最大化对应的 trend_score）；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191947773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663698" y="892702"/>
            <a:ext cx="8304076" cy="40784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804492" name=""/>
          <p:cNvSpPr txBox="1"/>
          <p:nvPr/>
        </p:nvSpPr>
        <p:spPr bwMode="auto">
          <a:xfrm rot="0" flipH="0" flipV="0">
            <a:off x="442776" y="546804"/>
            <a:ext cx="11240652" cy="67526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MZM-like 分支对时间更稳，ABS-like 分支随 braiding time 更明显变化</a:t>
            </a:r>
            <a:r>
              <a:rPr lang="en-US"/>
              <a:t>(一个拐点)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“ABS 的拐点”：不是一个真正的相变点，也不是能隙突然闭合的点，而是一个crossover（交叉过渡）。在这个简化模型里，拐点意味着两件事发生了切换：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低能态不再只是“跟着路径平滑地走”，而开始明显感受到有限能量分支的弯折。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绝热跟随与动力学相积累之间的平衡被打破，导致谱线斜率改变、曲线出现折弯。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换句话说，这个拐点说明 ABS 不是像 MZM 那样被拓扑钉住的零能模；它会随着控制路径和时间尺度改变自己的瞬时能量，所以它对 braiding time 更敏感。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211228939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663698" y="892702"/>
            <a:ext cx="8304076" cy="40784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5824246" name=""/>
          <p:cNvSpPr txBox="1"/>
          <p:nvPr/>
        </p:nvSpPr>
        <p:spPr bwMode="auto">
          <a:xfrm rot="0" flipH="0" flipV="0">
            <a:off x="266387" y="423333"/>
            <a:ext cx="11782776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421588954" name=""/>
          <p:cNvSpPr txBox="1"/>
          <p:nvPr/>
        </p:nvSpPr>
        <p:spPr bwMode="auto">
          <a:xfrm rot="0" flipH="0" flipV="0">
            <a:off x="195831" y="423333"/>
            <a:ext cx="11556353" cy="127484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论文里这一部分有两个层次：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V_x=[0.59+0.02\cos(t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∆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时，重叠的幅度已经基本不依赖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，但相位仍会随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振荡。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V_x=[0.57+0.02\cos(t\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∆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且只作用于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[4T,6T]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时，连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1,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也被消掉，于是幅度和相位都对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不敏感，接近真正的 MZM 式稳定非阿贝尔交换。</a:t>
            </a:r>
            <a:endParaRPr/>
          </a:p>
        </p:txBody>
      </p:sp>
      <p:pic>
        <p:nvPicPr>
          <p:cNvPr id="104198994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855786" y="2301697"/>
            <a:ext cx="9046851" cy="32083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360177" name=""/>
          <p:cNvSpPr txBox="1"/>
          <p:nvPr/>
        </p:nvSpPr>
        <p:spPr bwMode="auto">
          <a:xfrm rot="0" flipH="0" flipV="0">
            <a:off x="266386" y="423333"/>
            <a:ext cx="11782775" cy="36611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758931854" name=""/>
          <p:cNvSpPr txBox="1"/>
          <p:nvPr/>
        </p:nvSpPr>
        <p:spPr bwMode="auto">
          <a:xfrm rot="0" flipH="0" flipV="0">
            <a:off x="195831" y="123471"/>
            <a:ext cx="11883211" cy="638860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在我们的模型里面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(a)全周期调制产生节段依赖的震荡，瞬时能级在正负之间切换，积分后动力学相有机会互相抵消；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(b)窗口化调制在后段施加相移，能更有针对性地抵消某些段的相位累积，从而在若干 T 区间显著降低最终相位敏感性；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两张图片对应的是论文里两种 Vx 调制的实现，但在代码里是通过不同的 base 值 + 全周期/窗口化的调制策略实现的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在 BdG / Kitaev toy 模型里：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compute_bdg_trace 接受 delta_mod 与 amp，把它们用于缩放局域量子点深度 VD_here：VD_here = P.VD * (1.0 + delta_mod + amp * np.cos(np.pi * t / T_step))（见 reproduce_trend_figs.py）；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然后 map_gates_to_links 用 VD_here 修改链上化学势 μ（QD 区域），再构造 BdG 矩阵并求本征值，从而把 Vx 的调制映射到 BdG 低能谱变化。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</p:txBody>
      </p:sp>
      <p:pic>
        <p:nvPicPr>
          <p:cNvPr id="115387253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9557" y="1415448"/>
            <a:ext cx="12191999" cy="3074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2684856" name=""/>
          <p:cNvSpPr txBox="1"/>
          <p:nvPr/>
        </p:nvSpPr>
        <p:spPr bwMode="auto">
          <a:xfrm rot="0" flipH="0" flipV="0">
            <a:off x="266387" y="423333"/>
            <a:ext cx="11782776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615168389" name=""/>
          <p:cNvSpPr txBox="1"/>
          <p:nvPr/>
        </p:nvSpPr>
        <p:spPr bwMode="auto">
          <a:xfrm rot="0" flipH="0" flipV="0">
            <a:off x="218688" y="789450"/>
            <a:ext cx="11878891" cy="338159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Case (a) — 全周期调制：Vx = 0.59 + 0.02·cos(π t/T)。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Case (b) — 窗口化调制：Vx = 0.57 + 0.02·cos(π t/T)，但只在最后阶段 t ∈ [4T,6T] 施加（windowed）。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Case (a) 主要试图让 θ2 的动力学相在整个过程被抵消；Case (b) 则是针对性地在最后段施加相移，以抵消剩下的 θ1,−θ3 残余相，两者在 base 值（0.59 vs 0.57）和施加窗口上不同，效果也不同（见图中相位/幅值对比）。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</p:txBody>
      </p:sp>
      <p:pic>
        <p:nvPicPr>
          <p:cNvPr id="104494117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42914" y="3589393"/>
            <a:ext cx="11405304" cy="28762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5402239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157776" y="607433"/>
            <a:ext cx="5842361" cy="3626147"/>
          </a:xfrm>
          <a:prstGeom prst="rect">
            <a:avLst/>
          </a:prstGeom>
        </p:spPr>
      </p:pic>
      <p:sp>
        <p:nvSpPr>
          <p:cNvPr id="1342770712" name=""/>
          <p:cNvSpPr txBox="1"/>
          <p:nvPr/>
        </p:nvSpPr>
        <p:spPr bwMode="auto">
          <a:xfrm rot="0" flipH="0" flipV="0">
            <a:off x="178193" y="388054"/>
            <a:ext cx="10805445" cy="568293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这里我们的模型显示了</a:t>
            </a:r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低振幅 vs 高振幅 的 final-overlap 随 T 比较</a:t>
            </a:r>
            <a:endParaRPr lang="zh-CN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在大 T（更绝热）处两曲线靠拢说明“振幅不敏感”</a:t>
            </a:r>
            <a:endParaRPr lang="zh-CN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即调制机制在绝热极限下鲁棒。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不同振幅曲线彼此靠近，</a:t>
            </a:r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说明对振幅扰动的响应减弱。</a:t>
            </a:r>
            <a:endParaRPr/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曲线尾部趋于平坦，体现绝热极限下的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“参数不敏感性”。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论文原文给出的具体比较是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=[0.59+0.01cos(t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∆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=[0.59+0.03\cos(t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它要说明的是：只要 braiding 足够慢，振幅从 0.01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变到 0.03，最终交换统计几乎不变。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这意味着去掉动态相的机制不是一个需要精细调参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才成立的，而是一个在绝热条件下相当鲁棒的机制。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6912190" name=""/>
          <p:cNvSpPr txBox="1"/>
          <p:nvPr/>
        </p:nvSpPr>
        <p:spPr bwMode="auto">
          <a:xfrm rot="0" flipH="0" flipV="0">
            <a:off x="389859" y="511526"/>
            <a:ext cx="11000547" cy="382539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2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第一部分总结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这次针对论文 Fig.3/Fig.4/Fig.5 的复现，总结为:已经在简化模型中复现了论文的趋势和机理，但还没有做到完整 BdG 模型下的定量一致。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更具体地说：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Fig.3-like 主要复现了“ABS 随 braiding time 更敏感、MZM 更稳定”的对比趋势；默认版已经能看出差异，自动扫描版把差异放得更明显。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Fig.4-like 复现了“通过正弦调制抵消动力学相，使 braiding 结果更接近时间无关”的趋势。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3. Fig.5-like 复现了“在绝热区，不同调制振幅下的结果趋于一致”的鲁棒性趋势。</a:t>
            </a:r>
            <a:endParaRPr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56</Slides>
  <Notes>56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/>
  <cp:revision>56</cp:revision>
  <dcterms:created xsi:type="dcterms:W3CDTF">2022-05-23T10:27:50Z</dcterms:created>
  <dcterms:modified xsi:type="dcterms:W3CDTF">2026-05-19T21:25:04Z</dcterms:modified>
</cp:coreProperties>
</file>