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15.xml" ContentType="application/vnd.openxmlformats-officedocument.presentationml.slide+xml"/>
  <Override PartName="/ppt/slides/slide40.xml" ContentType="application/vnd.openxmlformats-officedocument.presentationml.slide+xml"/>
  <Override PartName="/ppt/slides/slide24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1.xml" ContentType="application/vnd.openxmlformats-officedocument.presentationml.notes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26.xml" ContentType="application/vnd.openxmlformats-officedocument.presentationml.slide+xml"/>
  <Override PartName="/ppt/slides/slide23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7.xml" ContentType="application/vnd.openxmlformats-officedocument.presentationml.notes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docProps/core.xml" ContentType="application/vnd.openxmlformats-package.core-properties+xml"/>
  <Override PartName="/ppt/slides/slide25.xml" ContentType="application/vnd.openxmlformats-officedocument.presentationml.slide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theme/theme2.xml" ContentType="application/vnd.openxmlformats-officedocument.theme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notesSlides/notesSlide32.xml" ContentType="application/vnd.openxmlformats-officedocument.presentationml.notesSlid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8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0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562" y="67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 /><Relationship Id="rId53" Type="http://schemas.openxmlformats.org/officeDocument/2006/relationships/tableStyles" Target="tableStyles.xml" /><Relationship Id="rId5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013531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1371350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382FE30-D1CB-4640-A759-810F00360910}" type="datetimeFigureOut">
              <a:rPr lang="zh-CN"/>
              <a:t>2022/6/24</a:t>
            </a:fld>
            <a:endParaRPr lang="zh-CN"/>
          </a:p>
        </p:txBody>
      </p:sp>
      <p:sp>
        <p:nvSpPr>
          <p:cNvPr id="928713466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733426170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652785449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717218244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024435C-6EC0-481B-A838-74E1A0E375B9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1643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5255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59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BAEE65-8045-A9B3-FD2E-2F89AA941D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3710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2058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3139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C37281-EDF7-3A5F-D467-6A2C92C0A7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48922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7099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565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7B2519-3C56-F9A9-3951-EEE60B8259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077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32669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337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03C45F-358F-6D6D-FCC7-4B5FD4D51A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5361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88708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6476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D0071E-26B0-1959-20F5-4F813143B5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6678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24454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351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A5858-B282-1531-0FB3-E460877B49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405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5998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42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5DE5D1-20B4-5255-B211-67DDCA7677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8969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71079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132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4AB0D4-CC30-9396-13D3-DF7F9DF55B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4683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99367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5634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267DC9-2837-32EE-1ABC-E67EC3694E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2271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60905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4019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03DA7-9DB3-3B02-6ABD-4F6904C4B4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0228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417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57029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8F061-323E-9348-A1A2-F9DFC0B5AF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3060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1589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6759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17DCCC-11E1-DB6F-3C8D-FEFE53AA95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35432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7184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8999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3605F4-1AF2-E27F-EEFD-D067B5AC13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98846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97864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0128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CC27D5-5D22-EECF-C31F-E7333DC81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7906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72277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4021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032C3B-1BD9-27BA-EA21-086304F151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0831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696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15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D2645-33AF-77F3-C743-AACE7727C8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7011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3885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8633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744E73-1F52-B22C-55CF-4682888914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6135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0762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96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0EF37-8CED-B8D6-2726-67713AE9A7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7547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61619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322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7DA659-02E4-C9F6-2ABC-C7A748861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5516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43233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001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98415-3EE0-9F38-6CCC-138E6CFD48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5DF01-36D2-2AC3-7621-C3298747CC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20421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424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959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21A61B-4CB7-194F-752D-5FE1D5A94B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855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65521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26207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F79425-5F70-D646-6A3A-CED647B786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549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9126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1719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9A30FA-05AE-F1BC-6582-9F22F9F31D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2838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0170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501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63DC2B-A3DE-AF19-58A3-C1E653564EC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6172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894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96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6BDE0A-F97B-9D77-8572-B551FBA741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612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84573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2114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A83F18-9D26-97D3-D408-0CCFE17B9C8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2689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2652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594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DF24A0-1053-8898-FC8F-C5BB831752A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0444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7055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4597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2F0247-04B1-52F8-9EED-AF795CBFA5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5914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37620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895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02E0D9-D04A-E80A-C71A-01DA0CCFEF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6777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52682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0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202DC2-7644-98FA-E33B-7A96CCA1AA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7270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4778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872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33860B-6E4D-279A-7BA8-8AB19F913E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5121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0257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82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AFF81C-1241-BD30-9D38-F0DE66F39E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2853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59730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555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6B67DB-4C56-4F6F-BA6C-714DCC1C2C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65A1FD-34CC-3698-91AA-20F5E827E0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1683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3004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1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3B9933-D0EE-1CAD-196A-C602923383E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3335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49285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704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E967C4-834B-EA62-F0C1-2E31A20F2A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376A39-4C55-57AE-FE95-AEF0FD039E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9714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7152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1174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2BED6F-B7E0-387F-865C-E09AC087219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0509D8-E1EE-897E-55A8-086C74EAB9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338CCA-7007-D525-B3F8-0625C907C6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6363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39893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793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87507-0CCC-4F14-3BFD-67FA10A766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3089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31045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905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772127-5B3D-6960-6E92-CAEC84BB84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63198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8815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755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62E30B-0A0E-784F-86C9-FEB9C80567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5830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3686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1224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7B87FB-51E3-44C5-EC29-5189C29A51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2713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0919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561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44EC42-E571-8917-0191-0C7F1F4057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247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1366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9543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3F40F3-2B32-374A-DEC4-AB162BD592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958449" name="矩形 1"/>
          <p:cNvSpPr/>
          <p:nvPr userDrawn="1"/>
        </p:nvSpPr>
        <p:spPr bwMode="auto">
          <a:xfrm>
            <a:off x="3835400" y="0"/>
            <a:ext cx="4521200" cy="182880"/>
          </a:xfrm>
          <a:prstGeom prst="rect">
            <a:avLst/>
          </a:prstGeom>
          <a:solidFill>
            <a:srgbClr val="2B77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自定义版式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pn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.pn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9.png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0701582" name="矩形 17"/>
          <p:cNvSpPr/>
          <p:nvPr/>
        </p:nvSpPr>
        <p:spPr bwMode="auto">
          <a:xfrm>
            <a:off x="0" y="0"/>
            <a:ext cx="4793942" cy="6858000"/>
          </a:xfrm>
          <a:prstGeom prst="rect">
            <a:avLst/>
          </a:prstGeom>
          <a:blipFill rotWithShape="1">
            <a:blip r:embed="rId3"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466221838" name="矩形 22"/>
          <p:cNvSpPr/>
          <p:nvPr/>
        </p:nvSpPr>
        <p:spPr bwMode="auto">
          <a:xfrm>
            <a:off x="0" y="1"/>
            <a:ext cx="4793942" cy="6857999"/>
          </a:xfrm>
          <a:prstGeom prst="rect">
            <a:avLst/>
          </a:prstGeom>
          <a:blipFill rotWithShape="1">
            <a:blip r:embed="rId4">
              <a:alphaModFix amt="86000"/>
            </a:blip>
            <a:stretch>
              <a:fillRect l="-52412" t="0" r="-142586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+mn-cs"/>
            </a:endParaRPr>
          </a:p>
        </p:txBody>
      </p:sp>
      <p:grpSp>
        <p:nvGrpSpPr>
          <p:cNvPr id="1626872012" name="组合 2"/>
          <p:cNvGrpSpPr/>
          <p:nvPr/>
        </p:nvGrpSpPr>
        <p:grpSpPr bwMode="auto">
          <a:xfrm>
            <a:off x="488304" y="1569098"/>
            <a:ext cx="3455807" cy="3408168"/>
            <a:chOff x="-9050" y="2167639"/>
            <a:chExt cx="3455807" cy="3408168"/>
          </a:xfrm>
          <a:solidFill>
            <a:schemeClr val="bg1"/>
          </a:solidFill>
        </p:grpSpPr>
        <p:grpSp>
          <p:nvGrpSpPr>
            <p:cNvPr id="4" name="组合 3"/>
            <p:cNvGrpSpPr/>
            <p:nvPr/>
          </p:nvGrpSpPr>
          <p:grpSpPr bwMode="auto">
            <a:xfrm>
              <a:off x="734486" y="2167639"/>
              <a:ext cx="2487741" cy="2288124"/>
              <a:chOff x="8374817" y="3976831"/>
              <a:chExt cx="719115" cy="661413"/>
            </a:xfrm>
            <a:grpFill/>
          </p:grpSpPr>
          <p:sp>
            <p:nvSpPr>
              <p:cNvPr id="6" name="Freeform 44"/>
              <p:cNvSpPr/>
              <p:nvPr/>
            </p:nvSpPr>
            <p:spPr bwMode="auto">
              <a:xfrm>
                <a:off x="9018919" y="4072040"/>
                <a:ext cx="75013" cy="68522"/>
              </a:xfrm>
              <a:custGeom>
                <a:avLst/>
                <a:gdLst>
                  <a:gd name="T0" fmla="*/ 28 w 44"/>
                  <a:gd name="T1" fmla="*/ 11 h 40"/>
                  <a:gd name="T2" fmla="*/ 0 w 44"/>
                  <a:gd name="T3" fmla="*/ 18 h 40"/>
                  <a:gd name="T4" fmla="*/ 31 w 44"/>
                  <a:gd name="T5" fmla="*/ 40 h 40"/>
                  <a:gd name="T6" fmla="*/ 28 w 44"/>
                  <a:gd name="T7" fmla="*/ 11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0" fill="norm" stroke="1" extrusionOk="0">
                    <a:moveTo>
                      <a:pt x="28" y="11"/>
                    </a:moveTo>
                    <a:cubicBezTo>
                      <a:pt x="13" y="0"/>
                      <a:pt x="0" y="18"/>
                      <a:pt x="0" y="18"/>
                    </a:cubicBezTo>
                    <a:cubicBezTo>
                      <a:pt x="31" y="40"/>
                      <a:pt x="31" y="40"/>
                      <a:pt x="31" y="40"/>
                    </a:cubicBezTo>
                    <a:cubicBezTo>
                      <a:pt x="31" y="40"/>
                      <a:pt x="44" y="22"/>
                      <a:pt x="28" y="1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7" name="Freeform 45"/>
              <p:cNvSpPr/>
              <p:nvPr/>
            </p:nvSpPr>
            <p:spPr bwMode="auto">
              <a:xfrm>
                <a:off x="8831387" y="4116759"/>
                <a:ext cx="230088" cy="284184"/>
              </a:xfrm>
              <a:custGeom>
                <a:avLst/>
                <a:gdLst>
                  <a:gd name="T0" fmla="*/ 187 w 319"/>
                  <a:gd name="T1" fmla="*/ 85 h 394"/>
                  <a:gd name="T2" fmla="*/ 156 w 319"/>
                  <a:gd name="T3" fmla="*/ 125 h 394"/>
                  <a:gd name="T4" fmla="*/ 104 w 319"/>
                  <a:gd name="T5" fmla="*/ 198 h 394"/>
                  <a:gd name="T6" fmla="*/ 0 w 319"/>
                  <a:gd name="T7" fmla="*/ 342 h 394"/>
                  <a:gd name="T8" fmla="*/ 74 w 319"/>
                  <a:gd name="T9" fmla="*/ 394 h 394"/>
                  <a:gd name="T10" fmla="*/ 104 w 319"/>
                  <a:gd name="T11" fmla="*/ 352 h 394"/>
                  <a:gd name="T12" fmla="*/ 130 w 319"/>
                  <a:gd name="T13" fmla="*/ 314 h 394"/>
                  <a:gd name="T14" fmla="*/ 156 w 319"/>
                  <a:gd name="T15" fmla="*/ 276 h 394"/>
                  <a:gd name="T16" fmla="*/ 319 w 319"/>
                  <a:gd name="T17" fmla="*/ 52 h 394"/>
                  <a:gd name="T18" fmla="*/ 248 w 319"/>
                  <a:gd name="T19" fmla="*/ 0 h 394"/>
                  <a:gd name="T20" fmla="*/ 187 w 319"/>
                  <a:gd name="T21" fmla="*/ 85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9" h="394" fill="norm" stroke="1" extrusionOk="0">
                    <a:moveTo>
                      <a:pt x="187" y="85"/>
                    </a:moveTo>
                    <a:lnTo>
                      <a:pt x="156" y="125"/>
                    </a:lnTo>
                    <a:lnTo>
                      <a:pt x="104" y="198"/>
                    </a:lnTo>
                    <a:lnTo>
                      <a:pt x="0" y="342"/>
                    </a:lnTo>
                    <a:lnTo>
                      <a:pt x="74" y="394"/>
                    </a:lnTo>
                    <a:lnTo>
                      <a:pt x="104" y="352"/>
                    </a:lnTo>
                    <a:lnTo>
                      <a:pt x="130" y="314"/>
                    </a:lnTo>
                    <a:lnTo>
                      <a:pt x="156" y="276"/>
                    </a:lnTo>
                    <a:lnTo>
                      <a:pt x="319" y="52"/>
                    </a:lnTo>
                    <a:lnTo>
                      <a:pt x="248" y="0"/>
                    </a:lnTo>
                    <a:lnTo>
                      <a:pt x="187" y="8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8" name="Freeform 46"/>
              <p:cNvSpPr/>
              <p:nvPr/>
            </p:nvSpPr>
            <p:spPr bwMode="auto">
              <a:xfrm>
                <a:off x="8374817" y="3976831"/>
                <a:ext cx="569090" cy="661413"/>
              </a:xfrm>
              <a:custGeom>
                <a:avLst/>
                <a:gdLst>
                  <a:gd name="T0" fmla="*/ 312 w 334"/>
                  <a:gd name="T1" fmla="*/ 348 h 388"/>
                  <a:gd name="T2" fmla="*/ 293 w 334"/>
                  <a:gd name="T3" fmla="*/ 366 h 388"/>
                  <a:gd name="T4" fmla="*/ 40 w 334"/>
                  <a:gd name="T5" fmla="*/ 366 h 388"/>
                  <a:gd name="T6" fmla="*/ 22 w 334"/>
                  <a:gd name="T7" fmla="*/ 348 h 388"/>
                  <a:gd name="T8" fmla="*/ 22 w 334"/>
                  <a:gd name="T9" fmla="*/ 41 h 388"/>
                  <a:gd name="T10" fmla="*/ 40 w 334"/>
                  <a:gd name="T11" fmla="*/ 23 h 388"/>
                  <a:gd name="T12" fmla="*/ 293 w 334"/>
                  <a:gd name="T13" fmla="*/ 23 h 388"/>
                  <a:gd name="T14" fmla="*/ 312 w 334"/>
                  <a:gd name="T15" fmla="*/ 41 h 388"/>
                  <a:gd name="T16" fmla="*/ 312 w 334"/>
                  <a:gd name="T17" fmla="*/ 140 h 388"/>
                  <a:gd name="T18" fmla="*/ 334 w 334"/>
                  <a:gd name="T19" fmla="*/ 109 h 388"/>
                  <a:gd name="T20" fmla="*/ 334 w 334"/>
                  <a:gd name="T21" fmla="*/ 21 h 388"/>
                  <a:gd name="T22" fmla="*/ 313 w 334"/>
                  <a:gd name="T23" fmla="*/ 0 h 388"/>
                  <a:gd name="T24" fmla="*/ 21 w 334"/>
                  <a:gd name="T25" fmla="*/ 0 h 388"/>
                  <a:gd name="T26" fmla="*/ 0 w 334"/>
                  <a:gd name="T27" fmla="*/ 21 h 388"/>
                  <a:gd name="T28" fmla="*/ 0 w 334"/>
                  <a:gd name="T29" fmla="*/ 368 h 388"/>
                  <a:gd name="T30" fmla="*/ 21 w 334"/>
                  <a:gd name="T31" fmla="*/ 388 h 388"/>
                  <a:gd name="T32" fmla="*/ 313 w 334"/>
                  <a:gd name="T33" fmla="*/ 388 h 388"/>
                  <a:gd name="T34" fmla="*/ 334 w 334"/>
                  <a:gd name="T35" fmla="*/ 368 h 388"/>
                  <a:gd name="T36" fmla="*/ 334 w 334"/>
                  <a:gd name="T37" fmla="*/ 223 h 388"/>
                  <a:gd name="T38" fmla="*/ 312 w 334"/>
                  <a:gd name="T39" fmla="*/ 254 h 388"/>
                  <a:gd name="T40" fmla="*/ 312 w 334"/>
                  <a:gd name="T41" fmla="*/ 348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34" h="388" fill="norm" stroke="1" extrusionOk="0">
                    <a:moveTo>
                      <a:pt x="312" y="348"/>
                    </a:moveTo>
                    <a:cubicBezTo>
                      <a:pt x="312" y="358"/>
                      <a:pt x="303" y="366"/>
                      <a:pt x="293" y="366"/>
                    </a:cubicBezTo>
                    <a:cubicBezTo>
                      <a:pt x="40" y="366"/>
                      <a:pt x="40" y="366"/>
                      <a:pt x="40" y="366"/>
                    </a:cubicBezTo>
                    <a:cubicBezTo>
                      <a:pt x="30" y="366"/>
                      <a:pt x="22" y="358"/>
                      <a:pt x="22" y="348"/>
                    </a:cubicBezTo>
                    <a:cubicBezTo>
                      <a:pt x="22" y="41"/>
                      <a:pt x="22" y="41"/>
                      <a:pt x="22" y="41"/>
                    </a:cubicBezTo>
                    <a:cubicBezTo>
                      <a:pt x="22" y="31"/>
                      <a:pt x="30" y="23"/>
                      <a:pt x="40" y="23"/>
                    </a:cubicBezTo>
                    <a:cubicBezTo>
                      <a:pt x="293" y="23"/>
                      <a:pt x="293" y="23"/>
                      <a:pt x="293" y="23"/>
                    </a:cubicBezTo>
                    <a:cubicBezTo>
                      <a:pt x="303" y="23"/>
                      <a:pt x="312" y="31"/>
                      <a:pt x="312" y="41"/>
                    </a:cubicBezTo>
                    <a:cubicBezTo>
                      <a:pt x="312" y="140"/>
                      <a:pt x="312" y="140"/>
                      <a:pt x="312" y="140"/>
                    </a:cubicBezTo>
                    <a:cubicBezTo>
                      <a:pt x="334" y="109"/>
                      <a:pt x="334" y="109"/>
                      <a:pt x="334" y="109"/>
                    </a:cubicBezTo>
                    <a:cubicBezTo>
                      <a:pt x="334" y="21"/>
                      <a:pt x="334" y="21"/>
                      <a:pt x="334" y="21"/>
                    </a:cubicBezTo>
                    <a:cubicBezTo>
                      <a:pt x="334" y="10"/>
                      <a:pt x="325" y="0"/>
                      <a:pt x="313" y="0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9" y="0"/>
                      <a:pt x="0" y="10"/>
                      <a:pt x="0" y="21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9"/>
                      <a:pt x="9" y="388"/>
                      <a:pt x="21" y="388"/>
                    </a:cubicBezTo>
                    <a:cubicBezTo>
                      <a:pt x="313" y="388"/>
                      <a:pt x="313" y="388"/>
                      <a:pt x="313" y="388"/>
                    </a:cubicBezTo>
                    <a:cubicBezTo>
                      <a:pt x="325" y="388"/>
                      <a:pt x="334" y="379"/>
                      <a:pt x="334" y="368"/>
                    </a:cubicBezTo>
                    <a:cubicBezTo>
                      <a:pt x="334" y="223"/>
                      <a:pt x="334" y="223"/>
                      <a:pt x="334" y="223"/>
                    </a:cubicBezTo>
                    <a:cubicBezTo>
                      <a:pt x="312" y="254"/>
                      <a:pt x="312" y="254"/>
                      <a:pt x="312" y="254"/>
                    </a:cubicBezTo>
                    <a:lnTo>
                      <a:pt x="312" y="34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9" name="Freeform 47"/>
              <p:cNvSpPr/>
              <p:nvPr/>
            </p:nvSpPr>
            <p:spPr bwMode="auto">
              <a:xfrm>
                <a:off x="8806142" y="4377142"/>
                <a:ext cx="67800" cy="77177"/>
              </a:xfrm>
              <a:custGeom>
                <a:avLst/>
                <a:gdLst>
                  <a:gd name="T0" fmla="*/ 21 w 94"/>
                  <a:gd name="T1" fmla="*/ 0 h 107"/>
                  <a:gd name="T2" fmla="*/ 0 w 94"/>
                  <a:gd name="T3" fmla="*/ 107 h 107"/>
                  <a:gd name="T4" fmla="*/ 94 w 94"/>
                  <a:gd name="T5" fmla="*/ 52 h 107"/>
                  <a:gd name="T6" fmla="*/ 21 w 94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107" fill="norm" stroke="1" extrusionOk="0">
                    <a:moveTo>
                      <a:pt x="21" y="0"/>
                    </a:moveTo>
                    <a:lnTo>
                      <a:pt x="0" y="107"/>
                    </a:lnTo>
                    <a:lnTo>
                      <a:pt x="94" y="52"/>
                    </a:lnTo>
                    <a:lnTo>
                      <a:pt x="2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0" name="Rectangle 48"/>
              <p:cNvSpPr>
                <a:spLocks noChangeArrowheads="1"/>
              </p:cNvSpPr>
              <p:nvPr/>
            </p:nvSpPr>
            <p:spPr bwMode="auto">
              <a:xfrm>
                <a:off x="8459928" y="4504808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1" name="Rectangle 49"/>
              <p:cNvSpPr>
                <a:spLocks noChangeArrowheads="1"/>
              </p:cNvSpPr>
              <p:nvPr/>
            </p:nvSpPr>
            <p:spPr bwMode="auto">
              <a:xfrm>
                <a:off x="8459928" y="4428352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2" name="Rectangle 50"/>
              <p:cNvSpPr>
                <a:spLocks noChangeArrowheads="1"/>
              </p:cNvSpPr>
              <p:nvPr/>
            </p:nvSpPr>
            <p:spPr bwMode="auto">
              <a:xfrm>
                <a:off x="8459928" y="4354782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3" name="Rectangle 51"/>
              <p:cNvSpPr>
                <a:spLocks noChangeArrowheads="1"/>
              </p:cNvSpPr>
              <p:nvPr/>
            </p:nvSpPr>
            <p:spPr bwMode="auto">
              <a:xfrm>
                <a:off x="8459928" y="4278326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4" name="Rectangle 52"/>
              <p:cNvSpPr>
                <a:spLocks noChangeArrowheads="1"/>
              </p:cNvSpPr>
              <p:nvPr/>
            </p:nvSpPr>
            <p:spPr bwMode="auto">
              <a:xfrm>
                <a:off x="8459928" y="4201870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5" name="Rectangle 53"/>
              <p:cNvSpPr>
                <a:spLocks noChangeArrowheads="1"/>
              </p:cNvSpPr>
              <p:nvPr/>
            </p:nvSpPr>
            <p:spPr bwMode="auto">
              <a:xfrm>
                <a:off x="8459928" y="4124694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</p:grpSp>
        <p:sp>
          <p:nvSpPr>
            <p:cNvPr id="5" name="TextBox 59"/>
            <p:cNvSpPr>
              <a:spLocks noChangeArrowheads="1"/>
            </p:cNvSpPr>
            <p:nvPr/>
          </p:nvSpPr>
          <p:spPr bwMode="auto">
            <a:xfrm flipH="1">
              <a:off x="-9050" y="4652477"/>
              <a:ext cx="3455807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/>
                  <a:ea typeface="宋体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9pPr>
            </a:lstStyle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5400" b="1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David"/>
                </a:rPr>
                <a:t>CONTENTS </a:t>
              </a:r>
              <a:endParaRPr/>
            </a:p>
          </p:txBody>
        </p:sp>
      </p:grpSp>
      <p:sp>
        <p:nvSpPr>
          <p:cNvPr id="1066521922" name="Oval 4"/>
          <p:cNvSpPr/>
          <p:nvPr/>
        </p:nvSpPr>
        <p:spPr bwMode="auto">
          <a:xfrm>
            <a:off x="6595515" y="192539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1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828774134" name="Oval 4"/>
          <p:cNvSpPr/>
          <p:nvPr/>
        </p:nvSpPr>
        <p:spPr bwMode="auto">
          <a:xfrm>
            <a:off x="6595515" y="310397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2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277758612" name="Oval 4"/>
          <p:cNvSpPr/>
          <p:nvPr/>
        </p:nvSpPr>
        <p:spPr bwMode="auto">
          <a:xfrm>
            <a:off x="6595515" y="428255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3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94908985" name="Text Box 17"/>
          <p:cNvSpPr txBox="1">
            <a:spLocks noChangeArrowheads="1"/>
          </p:cNvSpPr>
          <p:nvPr/>
        </p:nvSpPr>
        <p:spPr bwMode="auto">
          <a:xfrm>
            <a:off x="7508667" y="2007689"/>
            <a:ext cx="3193305" cy="579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  <p:sp>
        <p:nvSpPr>
          <p:cNvPr id="784750240" name="Text Box 17"/>
          <p:cNvSpPr txBox="1">
            <a:spLocks noChangeArrowheads="1"/>
          </p:cNvSpPr>
          <p:nvPr/>
        </p:nvSpPr>
        <p:spPr bwMode="auto">
          <a:xfrm flipH="0" flipV="0">
            <a:off x="7479810" y="3230288"/>
            <a:ext cx="4155643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投影子空间视角</a:t>
            </a:r>
            <a:endParaRPr/>
          </a:p>
        </p:txBody>
      </p:sp>
      <p:sp>
        <p:nvSpPr>
          <p:cNvPr id="235839102" name="Text Box 17"/>
          <p:cNvSpPr txBox="1">
            <a:spLocks noChangeArrowheads="1"/>
          </p:cNvSpPr>
          <p:nvPr/>
        </p:nvSpPr>
        <p:spPr bwMode="auto">
          <a:xfrm flipH="0" flipV="0">
            <a:off x="7479810" y="4485934"/>
            <a:ext cx="4168716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7356304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918928935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72983156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800304686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899620531" name="矩形 7"/>
          <p:cNvSpPr/>
          <p:nvPr/>
        </p:nvSpPr>
        <p:spPr bwMode="auto">
          <a:xfrm>
            <a:off x="1630065" y="3046550"/>
            <a:ext cx="385688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01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319093145" name="矩形 8"/>
          <p:cNvSpPr/>
          <p:nvPr/>
        </p:nvSpPr>
        <p:spPr bwMode="auto">
          <a:xfrm>
            <a:off x="5959117" y="2875001"/>
            <a:ext cx="4923919" cy="1097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3324323" name=""/>
          <p:cNvSpPr txBox="1"/>
          <p:nvPr/>
        </p:nvSpPr>
        <p:spPr bwMode="auto">
          <a:xfrm rot="0" flipH="0" flipV="0">
            <a:off x="667082" y="3312034"/>
            <a:ext cx="2927492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207969672" name=""/>
          <p:cNvSpPr txBox="1"/>
          <p:nvPr/>
        </p:nvSpPr>
        <p:spPr bwMode="auto">
          <a:xfrm rot="0" flipH="0" flipV="0">
            <a:off x="5144874" y="4036211"/>
            <a:ext cx="1777614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JW 映射</a:t>
            </a:r>
            <a:endParaRPr/>
          </a:p>
        </p:txBody>
      </p:sp>
      <p:sp>
        <p:nvSpPr>
          <p:cNvPr id="1531576383" name=""/>
          <p:cNvSpPr txBox="1"/>
          <p:nvPr/>
        </p:nvSpPr>
        <p:spPr bwMode="auto">
          <a:xfrm rot="0" flipH="0" flipV="0">
            <a:off x="7940719" y="3183732"/>
            <a:ext cx="3131274" cy="5972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511173060" name=""/>
          <p:cNvSpPr txBox="1"/>
          <p:nvPr/>
        </p:nvSpPr>
        <p:spPr bwMode="auto">
          <a:xfrm rot="0" flipH="0" flipV="0">
            <a:off x="-244488" y="935901"/>
            <a:ext cx="5190223" cy="7282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194547587" name=""/>
          <p:cNvSpPr txBox="1"/>
          <p:nvPr/>
        </p:nvSpPr>
        <p:spPr bwMode="auto">
          <a:xfrm rot="0" flipH="0" flipV="0">
            <a:off x="7387520" y="1056576"/>
            <a:ext cx="4679072" cy="37722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804639800" name=""/>
          <p:cNvSpPr/>
          <p:nvPr/>
        </p:nvSpPr>
        <p:spPr bwMode="auto">
          <a:xfrm rot="0" flipH="0" flipV="0">
            <a:off x="9370909" y="1730099"/>
            <a:ext cx="294409" cy="12832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55586621" name=""/>
          <p:cNvSpPr/>
          <p:nvPr/>
        </p:nvSpPr>
        <p:spPr bwMode="auto">
          <a:xfrm rot="0" flipH="0" flipV="0">
            <a:off x="3628491" y="3361134"/>
            <a:ext cx="4312227" cy="347500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94824161" name=""/>
          <p:cNvSpPr/>
          <p:nvPr/>
        </p:nvSpPr>
        <p:spPr bwMode="auto">
          <a:xfrm rot="0" flipH="0" flipV="0">
            <a:off x="4348636" y="1149940"/>
            <a:ext cx="3099954" cy="190499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3282703" name=""/>
          <p:cNvSpPr/>
          <p:nvPr/>
        </p:nvSpPr>
        <p:spPr bwMode="auto">
          <a:xfrm rot="0" flipH="0" flipV="0">
            <a:off x="1924090" y="1816690"/>
            <a:ext cx="242454" cy="119667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4136928" name=""/>
          <p:cNvSpPr txBox="1"/>
          <p:nvPr/>
        </p:nvSpPr>
        <p:spPr bwMode="auto">
          <a:xfrm rot="0" flipH="0" flipV="0">
            <a:off x="1095736" y="399038"/>
            <a:ext cx="189916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谱参数YBE的解</a:t>
            </a:r>
            <a:endParaRPr/>
          </a:p>
        </p:txBody>
      </p:sp>
      <p:sp>
        <p:nvSpPr>
          <p:cNvPr id="1860261442" name=""/>
          <p:cNvSpPr txBox="1"/>
          <p:nvPr/>
        </p:nvSpPr>
        <p:spPr bwMode="auto">
          <a:xfrm rot="0" flipH="0" flipV="0">
            <a:off x="8712817" y="569781"/>
            <a:ext cx="16921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求解哈密顿</a:t>
            </a:r>
            <a:endParaRPr/>
          </a:p>
        </p:txBody>
      </p:sp>
      <p:sp>
        <p:nvSpPr>
          <p:cNvPr id="95326703" name=""/>
          <p:cNvSpPr txBox="1"/>
          <p:nvPr/>
        </p:nvSpPr>
        <p:spPr bwMode="auto">
          <a:xfrm rot="0" flipH="0" flipV="0">
            <a:off x="667082" y="3777806"/>
            <a:ext cx="263384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以majorana算符的表示</a:t>
            </a:r>
            <a:endParaRPr/>
          </a:p>
        </p:txBody>
      </p:sp>
      <p:sp>
        <p:nvSpPr>
          <p:cNvPr id="2135778687" name=""/>
          <p:cNvSpPr txBox="1"/>
          <p:nvPr/>
        </p:nvSpPr>
        <p:spPr bwMode="auto">
          <a:xfrm rot="0" flipH="0" flipV="0">
            <a:off x="8504999" y="3847078"/>
            <a:ext cx="3152629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pauli张量积</a:t>
            </a:r>
            <a:r>
              <a:rPr lang="en-US"/>
              <a:t>，二体算符表示</a:t>
            </a:r>
            <a:endParaRPr/>
          </a:p>
        </p:txBody>
      </p:sp>
      <p:sp>
        <p:nvSpPr>
          <p:cNvPr id="711044819" name=""/>
          <p:cNvSpPr/>
          <p:nvPr/>
        </p:nvSpPr>
        <p:spPr bwMode="auto">
          <a:xfrm rot="0" flipH="0" flipV="0">
            <a:off x="9575203" y="4287468"/>
            <a:ext cx="121227" cy="1150439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13237890" name=""/>
          <p:cNvSpPr txBox="1"/>
          <p:nvPr/>
        </p:nvSpPr>
        <p:spPr bwMode="auto">
          <a:xfrm rot="0" flipH="0" flipV="0">
            <a:off x="7250105" y="5474983"/>
            <a:ext cx="477142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280682127" name=""/>
          <p:cNvSpPr txBox="1"/>
          <p:nvPr/>
        </p:nvSpPr>
        <p:spPr bwMode="auto">
          <a:xfrm rot="0" flipH="0" flipV="0">
            <a:off x="8163769" y="5994527"/>
            <a:ext cx="344152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投影子空间上的SU(2)表示</a:t>
            </a:r>
            <a:endParaRPr/>
          </a:p>
        </p:txBody>
      </p:sp>
      <p:sp>
        <p:nvSpPr>
          <p:cNvPr id="1805931079" name=""/>
          <p:cNvSpPr/>
          <p:nvPr/>
        </p:nvSpPr>
        <p:spPr bwMode="auto">
          <a:xfrm rot="0" flipH="0" flipV="0">
            <a:off x="1924090" y="4329545"/>
            <a:ext cx="45720" cy="11083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1538227" name=""/>
          <p:cNvSpPr txBox="1"/>
          <p:nvPr/>
        </p:nvSpPr>
        <p:spPr bwMode="auto">
          <a:xfrm rot="0" flipH="0" flipV="0">
            <a:off x="226870" y="5489863"/>
            <a:ext cx="34455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=iγ⋅(δ⋅γ)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737121171" name=""/>
          <p:cNvSpPr txBox="1"/>
          <p:nvPr/>
        </p:nvSpPr>
        <p:spPr bwMode="auto">
          <a:xfrm rot="0" flipH="0" flipV="0">
            <a:off x="573272" y="5940136"/>
            <a:ext cx="344588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bloch球旋转的形式</a:t>
            </a:r>
            <a:endParaRPr/>
          </a:p>
        </p:txBody>
      </p:sp>
      <p:sp>
        <p:nvSpPr>
          <p:cNvPr id="704563836" name=""/>
          <p:cNvSpPr txBox="1"/>
          <p:nvPr/>
        </p:nvSpPr>
        <p:spPr bwMode="auto">
          <a:xfrm rot="0" flipH="0" flipV="0">
            <a:off x="140317" y="1909954"/>
            <a:ext cx="725885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accent2"/>
                </a:solidFill>
              </a:rPr>
              <a:t>论文路线</a:t>
            </a:r>
            <a:endParaRPr/>
          </a:p>
        </p:txBody>
      </p:sp>
      <p:sp>
        <p:nvSpPr>
          <p:cNvPr id="2077241636" name=""/>
          <p:cNvSpPr txBox="1"/>
          <p:nvPr/>
        </p:nvSpPr>
        <p:spPr bwMode="auto">
          <a:xfrm rot="0" flipH="0" flipV="0">
            <a:off x="11225413" y="1909954"/>
            <a:ext cx="864430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rgbClr val="7030A0"/>
                </a:solidFill>
              </a:rPr>
              <a:t>模型路线</a:t>
            </a:r>
            <a:endParaRPr/>
          </a:p>
        </p:txBody>
      </p:sp>
      <p:sp>
        <p:nvSpPr>
          <p:cNvPr id="709923523" name=""/>
          <p:cNvSpPr txBox="1"/>
          <p:nvPr/>
        </p:nvSpPr>
        <p:spPr bwMode="auto">
          <a:xfrm rot="0" flipH="0" flipV="0">
            <a:off x="4868181" y="1543834"/>
            <a:ext cx="20543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在路径上编织</a:t>
            </a:r>
            <a:endParaRPr/>
          </a:p>
        </p:txBody>
      </p:sp>
      <p:sp>
        <p:nvSpPr>
          <p:cNvPr id="5153907" name=""/>
          <p:cNvSpPr txBox="1"/>
          <p:nvPr/>
        </p:nvSpPr>
        <p:spPr bwMode="auto">
          <a:xfrm rot="0" flipH="0" flipV="0">
            <a:off x="4560293" y="141111"/>
            <a:ext cx="2946775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>
                <a:solidFill>
                  <a:srgbClr val="00B050"/>
                </a:solidFill>
              </a:rPr>
              <a:t>1.非阿贝尔操作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117735" name=""/>
          <p:cNvSpPr txBox="1"/>
          <p:nvPr/>
        </p:nvSpPr>
        <p:spPr bwMode="auto">
          <a:xfrm rot="0" flipH="0" flipV="0">
            <a:off x="4128543" y="822211"/>
            <a:ext cx="4059465" cy="4159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子空间代数封闭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↔PRP没有泄漏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1102022454" name=""/>
          <p:cNvSpPr txBox="1"/>
          <p:nvPr/>
        </p:nvSpPr>
        <p:spPr bwMode="auto">
          <a:xfrm rot="0" flipH="0" flipV="0">
            <a:off x="4618649" y="2832709"/>
            <a:ext cx="3079249" cy="71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schur补为0,没有虚跃迁</a:t>
            </a:r>
            <a:endParaRPr lang="en-US" sz="2000"/>
          </a:p>
          <a:p>
            <a:pPr>
              <a:defRPr/>
            </a:pPr>
            <a:r>
              <a:rPr lang="en-US" sz="2000"/>
              <a:t>得到有效哈密顿</a:t>
            </a:r>
            <a:endParaRPr sz="2000"/>
          </a:p>
        </p:txBody>
      </p:sp>
      <p:sp>
        <p:nvSpPr>
          <p:cNvPr id="926925577" name=""/>
          <p:cNvSpPr/>
          <p:nvPr/>
        </p:nvSpPr>
        <p:spPr bwMode="auto">
          <a:xfrm rot="0" flipH="0" flipV="0">
            <a:off x="6051902" y="1333739"/>
            <a:ext cx="88194" cy="1040694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48346793" name=""/>
          <p:cNvSpPr/>
          <p:nvPr/>
        </p:nvSpPr>
        <p:spPr bwMode="auto">
          <a:xfrm rot="19205843" flipH="0" flipV="0">
            <a:off x="4013489" y="4281748"/>
            <a:ext cx="1571254" cy="211666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9431397" name=""/>
          <p:cNvSpPr txBox="1"/>
          <p:nvPr/>
        </p:nvSpPr>
        <p:spPr bwMode="auto">
          <a:xfrm rot="0" flipH="0" flipV="0">
            <a:off x="1559675" y="5036500"/>
            <a:ext cx="3203085" cy="13310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几何上</a:t>
            </a:r>
            <a:r>
              <a:rPr lang="en-US" sz="2000"/>
              <a:t>:</a:t>
            </a:r>
            <a:r>
              <a:rPr sz="2000"/>
              <a:t>定义出非阿贝尔曲率</a:t>
            </a:r>
            <a:r>
              <a:rPr lang="en-US" sz="2000"/>
              <a:t>,</a:t>
            </a:r>
            <a:endParaRPr sz="2000"/>
          </a:p>
          <a:p>
            <a:pPr>
              <a:defRPr/>
            </a:pPr>
            <a:r>
              <a:rPr sz="2000"/>
              <a:t>讨论schur补里面各项如何得到非阿贝尔产生</a:t>
            </a:r>
            <a:endParaRPr/>
          </a:p>
        </p:txBody>
      </p:sp>
      <p:sp>
        <p:nvSpPr>
          <p:cNvPr id="1482639045" name=""/>
          <p:cNvSpPr/>
          <p:nvPr/>
        </p:nvSpPr>
        <p:spPr bwMode="auto">
          <a:xfrm rot="13110890" flipH="0" flipV="0">
            <a:off x="6705100" y="4304443"/>
            <a:ext cx="1571254" cy="211665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4130450" name=""/>
          <p:cNvSpPr txBox="1"/>
          <p:nvPr/>
        </p:nvSpPr>
        <p:spPr bwMode="auto">
          <a:xfrm rot="0" flipH="0" flipV="0">
            <a:off x="6533842" y="4898002"/>
            <a:ext cx="3762849" cy="13283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schur补得到green函数</a:t>
            </a:r>
            <a:endParaRPr sz="2000"/>
          </a:p>
          <a:p>
            <a:pPr>
              <a:defRPr/>
            </a:pPr>
            <a:r>
              <a:rPr sz="2000"/>
              <a:t>用pauli张量积的哈密顿模型代入</a:t>
            </a:r>
            <a:endParaRPr sz="2000"/>
          </a:p>
          <a:p>
            <a:pPr>
              <a:defRPr/>
            </a:pPr>
            <a:r>
              <a:rPr sz="2000"/>
              <a:t>得到具体计算模型</a:t>
            </a:r>
            <a:endParaRPr/>
          </a:p>
        </p:txBody>
      </p:sp>
      <p:sp>
        <p:nvSpPr>
          <p:cNvPr id="647772008" name=""/>
          <p:cNvSpPr txBox="1"/>
          <p:nvPr/>
        </p:nvSpPr>
        <p:spPr bwMode="auto">
          <a:xfrm rot="0" flipH="0" flipV="0">
            <a:off x="4449034" y="244270"/>
            <a:ext cx="4169616" cy="4993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>
                <a:solidFill>
                  <a:srgbClr val="00B050"/>
                </a:solidFill>
              </a:rPr>
              <a:t>2.量化非阿贝尔性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439667" name="矩形 29"/>
          <p:cNvSpPr/>
          <p:nvPr/>
        </p:nvSpPr>
        <p:spPr bwMode="auto">
          <a:xfrm>
            <a:off x="1893060" y="412751"/>
            <a:ext cx="8420639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结果总览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18929880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9"/>
            <a:ext cx="5516880" cy="1717040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456916014" name="组合 15"/>
          <p:cNvGrpSpPr/>
          <p:nvPr/>
        </p:nvGrpSpPr>
        <p:grpSpPr bwMode="auto">
          <a:xfrm>
            <a:off x="0" y="2529839"/>
            <a:ext cx="12192000" cy="1757680"/>
            <a:chOff x="0" y="2529839"/>
            <a:chExt cx="12192000" cy="1757680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2" name="矩形 1"/>
            <p:cNvSpPr/>
            <p:nvPr/>
          </p:nvSpPr>
          <p:spPr bwMode="auto">
            <a:xfrm>
              <a:off x="0" y="2529839"/>
              <a:ext cx="5516880" cy="1717040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3" name="矩形 12"/>
            <p:cNvSpPr/>
            <p:nvPr/>
          </p:nvSpPr>
          <p:spPr bwMode="auto">
            <a:xfrm>
              <a:off x="11348720" y="2529839"/>
              <a:ext cx="843280" cy="1757680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338675883" name="矩形 7"/>
          <p:cNvSpPr/>
          <p:nvPr/>
        </p:nvSpPr>
        <p:spPr bwMode="auto">
          <a:xfrm>
            <a:off x="1630065" y="3046550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02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2004747652" name="矩形 8"/>
          <p:cNvSpPr/>
          <p:nvPr/>
        </p:nvSpPr>
        <p:spPr bwMode="auto">
          <a:xfrm flipH="0" flipV="0">
            <a:off x="5516876" y="2912369"/>
            <a:ext cx="5742827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666390" name="矩形 29"/>
          <p:cNvSpPr/>
          <p:nvPr/>
        </p:nvSpPr>
        <p:spPr bwMode="auto">
          <a:xfrm>
            <a:off x="1893060" y="412751"/>
            <a:ext cx="841523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模型改进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674413025" name=""/>
          <p:cNvSpPr txBox="1"/>
          <p:nvPr/>
        </p:nvSpPr>
        <p:spPr bwMode="auto">
          <a:xfrm rot="0" flipH="0" flipV="0">
            <a:off x="711817" y="1697181"/>
            <a:ext cx="11554063" cy="39047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上一次的模型</a:t>
            </a:r>
            <a:r>
              <a:rPr lang="en-US" sz="2200"/>
              <a:t>:</a:t>
            </a:r>
            <a:endParaRPr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R=exp(iH)</m:t>
                      </m:r>
                    </m:oMath>
                  </m:oMathPara>
                </a14:m>
              </mc:Choice>
              <mc:Fallback/>
            </mc:AlternateContent>
            <a:endParaRPr lang="en-US" sz="22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a:r>
              <a:rPr sz="2200"/>
              <a:t>存在如下问题</a:t>
            </a:r>
            <a:r>
              <a:rPr lang="en-US" sz="2200"/>
              <a:t>, 这是一个代数模型，对应的可以认为是一个静态的解，并不能符合一般都物理算符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U=T ∫</m:t>
                      </m:r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iH(s)ds</m:t>
                      </m:r>
                    </m:oMath>
                  </m:oMathPara>
                </a14:m>
              </mc:Choice>
              <mc:Fallback/>
            </mc:AlternateContent>
            <a:r>
              <a:rPr lang="en-US" sz="2200"/>
              <a:t> （T:路径有序算符）. 所以沿着时间路径演化对应的R应该看作一系列静态的组合，是对应的一族的解。</a:t>
            </a:r>
            <a:endParaRPr lang="en-US" sz="2200"/>
          </a:p>
          <a:p>
            <a:pPr>
              <a:defRPr/>
            </a:pPr>
            <a:endParaRPr lang="en-US" sz="2200"/>
          </a:p>
          <a:p>
            <a:pPr>
              <a:defRPr/>
            </a:pPr>
            <a:r>
              <a:rPr lang="en-US" sz="2200"/>
              <a:t>所以考虑带有谱参数的Yang Baxter方程: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447137" name=""/>
          <p:cNvSpPr txBox="1"/>
          <p:nvPr/>
        </p:nvSpPr>
        <p:spPr bwMode="auto">
          <a:xfrm rot="0" flipH="0" flipV="0">
            <a:off x="642545" y="831272"/>
            <a:ext cx="11031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959723458" name=""/>
          <p:cNvSpPr txBox="1"/>
          <p:nvPr/>
        </p:nvSpPr>
        <p:spPr bwMode="auto">
          <a:xfrm rot="0" flipH="0" flipV="0">
            <a:off x="798409" y="1264227"/>
            <a:ext cx="10244797" cy="506635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在引入了谱参数后</a:t>
            </a:r>
            <a:r>
              <a:rPr lang="en-US" sz="2000"/>
              <a:t>，把谱参数看作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， 则谱参数的变化就体现了时间上的演化。进一步可以把R(u)和哈密顿写为： 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可以得到生成元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：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使用pauli张量积表示为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非阿贝尔性不在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本身,而在本征态随 u 的变化结构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=i〈m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n(u)〉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776409" name=""/>
          <p:cNvSpPr txBox="1"/>
          <p:nvPr/>
        </p:nvSpPr>
        <p:spPr bwMode="auto">
          <a:xfrm rot="0" flipH="0" flipV="0">
            <a:off x="573271" y="1091044"/>
            <a:ext cx="11540873" cy="49635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参考论文的观点</a:t>
            </a:r>
            <a:r>
              <a:rPr lang="en-US" sz="2000"/>
              <a:t>，把演化写成几何项和动力学的额外项乘积：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-i∫E(t)dt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表示了几何项这个非阿贝尔演化: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∫A(u)du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/>
              <a:t>或者更直观的: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-iθ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能谱用来区分 MZM 与 ABS</a:t>
            </a:r>
            <a:r>
              <a:rPr lang="en-US" sz="2000"/>
              <a:t>：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MZM: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E≈0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且受拓扑/局域性保护；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ABS: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 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（或仅在有限系统中近似零能）；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trivial: 有较大能隙，无零模。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1877877683" name=""/>
          <p:cNvSpPr txBox="1"/>
          <p:nvPr/>
        </p:nvSpPr>
        <p:spPr bwMode="auto">
          <a:xfrm rot="0" flipH="0" flipV="0">
            <a:off x="548610" y="5344583"/>
            <a:ext cx="1061249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如果要将之前的YBE的解</a:t>
            </a:r>
            <a:r>
              <a:rPr lang="en-US"/>
              <a:t>R(u)和具有braid项和动力学项的形式的算符联系起来,可以考虑以下变换: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80621" name=""/>
          <p:cNvSpPr txBox="1"/>
          <p:nvPr/>
        </p:nvSpPr>
        <p:spPr bwMode="auto">
          <a:xfrm rot="0" flipH="0" flipV="0">
            <a:off x="53726" y="398317"/>
            <a:ext cx="12095966" cy="59156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定义本征态矩阵</a:t>
            </a:r>
            <a:r>
              <a:rPr lang="en-US" sz="2000"/>
              <a:t>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=(|1(u)〉,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|2(u)〉...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有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(u)|n(u)〉</m:t>
                      </m:r>
                    </m:oMath>
                  </m:oMathPara>
                </a14:m>
              </mc:Choice>
              <mc:Fallback/>
            </mc:AlternateContent>
            <a:endParaRPr lang="en-US" sz="1800"/>
          </a:p>
          <a:p>
            <a:pPr>
              <a:defRPr/>
            </a:pPr>
            <a:r>
              <a:rPr lang="en-US" sz="1800"/>
              <a:t>根据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则有瞬时本征分解：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=V(u)E(u)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diag{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(u),...}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把任意态写成本征基的展开：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|"/>
                          <m:endChr m:val="|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〉=V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acc>
                        <m:accPr>
                          <m:chr m:val="̃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代入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|ψ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〉=H(u)|ψ(u)〉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左</a:t>
            </a:r>
            <a:r>
              <a:rPr lang="en-US"/>
              <a:t>乘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,: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V)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E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移项得到: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E-A</m:t>
                          </m:r>
                        </m:e>
                      </m:d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, 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/>
              <a:t>生成元为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E-A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89696" name=""/>
          <p:cNvSpPr txBox="1"/>
          <p:nvPr/>
        </p:nvSpPr>
        <p:spPr bwMode="auto">
          <a:xfrm rot="0" flipH="0" flipV="0">
            <a:off x="330817" y="727362"/>
            <a:ext cx="11838675" cy="45120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在简并子空间</a:t>
            </a:r>
            <a:r>
              <a:rPr lang="en-US" sz="2000"/>
              <a:t>S上投影: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a∈S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|a(u)〉〈a(u)|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=P(u)H(u)P(u)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表示能谱(对角),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为berry connection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非阿贝尔性产生的来源:</a:t>
            </a:r>
            <a:endParaRPr lang="en-US" sz="2000"/>
          </a:p>
          <a:p>
            <a:pPr>
              <a:defRPr/>
            </a:pPr>
            <a:r>
              <a:rPr lang="en-US" sz="2000"/>
              <a:t>1,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,参考下面的推导,否则出现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2,</a:t>
            </a:r>
            <a:r>
              <a:rPr sz="1900" b="0" i="1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子空间内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〈a|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|b〉≠0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,否则所有项都是对角,是abel</a:t>
            </a:r>
            <a:endParaRPr lang="en-US" sz="2000"/>
          </a:p>
          <a:p>
            <a:pPr>
              <a:defRPr/>
            </a:pPr>
            <a:r>
              <a:rPr lang="en-US" sz="2000"/>
              <a:t>3,路径非对易,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(u)]≠0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40828" name=""/>
          <p:cNvSpPr txBox="1"/>
          <p:nvPr/>
        </p:nvSpPr>
        <p:spPr bwMode="auto">
          <a:xfrm rot="0" flipH="0" flipV="0">
            <a:off x="566248" y="811387"/>
            <a:ext cx="10854397" cy="13547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总演化算符: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U(u)=V(u) exp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</m:t>
                          </m:r>
                          <m:nary>
                            <m:naryPr>
                              <m:grow m:val="off"/>
                              <m:limLoc m:val="undOv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-A(s)ds</m:t>
                              </m:r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</p:txBody>
      </p:sp>
      <p:sp>
        <p:nvSpPr>
          <p:cNvPr id="1744439765" name=""/>
          <p:cNvSpPr txBox="1"/>
          <p:nvPr/>
        </p:nvSpPr>
        <p:spPr bwMode="auto">
          <a:xfrm rot="0" flipH="0" flipV="0">
            <a:off x="566248" y="2434166"/>
            <a:ext cx="10768006" cy="11477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分离条件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(在下面推导)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：只有当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[D(s),A(s')]=0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（例如在本征基下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为对角）或在严格绝热极限（跨本征的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≪|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下，动力学因子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与几何因子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(路径有序)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可近似分离为产物形式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621833266" name=""/>
          <p:cNvSpPr txBox="1"/>
          <p:nvPr/>
        </p:nvSpPr>
        <p:spPr bwMode="auto">
          <a:xfrm rot="0" flipH="0" flipV="0">
            <a:off x="707360" y="3986388"/>
            <a:ext cx="10313718" cy="14857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如果想要消去动力学项的影响</a:t>
            </a:r>
            <a:r>
              <a:rPr lang="en-US"/>
              <a:t>,也就是退化成全局相位,由上式容易得到: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/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903264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60030" y="-51954"/>
            <a:ext cx="11386325" cy="6909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982531" name=""/>
          <p:cNvSpPr txBox="1"/>
          <p:nvPr/>
        </p:nvSpPr>
        <p:spPr bwMode="auto">
          <a:xfrm rot="0" flipH="0" flipV="0">
            <a:off x="336943" y="370415"/>
            <a:ext cx="11737793" cy="12608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下面通过引入一个简单的例子</a:t>
            </a:r>
            <a:r>
              <a:rPr lang="en-US" sz="2000"/>
              <a:t>,说明把现在的pauli张量积投影到子空间后,会呈现出简单的SU(2)群结构.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选取子空间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span{|01〉,|10〉}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 下面的具体模型都会选择用这个子空间为例.</a:t>
            </a:r>
            <a:r>
              <a:rPr lang="zh-CN" sz="18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若改变基序或对本征向量做非平凡局部相位变换，矩阵表示会相应改变。</a:t>
            </a:r>
            <a:endParaRPr/>
          </a:p>
        </p:txBody>
      </p:sp>
      <p:sp>
        <p:nvSpPr>
          <p:cNvPr id="548581596" name=""/>
          <p:cNvSpPr txBox="1"/>
          <p:nvPr/>
        </p:nvSpPr>
        <p:spPr bwMode="auto">
          <a:xfrm rot="0" flipH="0" flipV="0">
            <a:off x="446187" y="1763887"/>
            <a:ext cx="11519665" cy="33245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Y=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Z=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,YY,ZZ等同理 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,利用张量积运算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A⊗B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C⊗D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C)⊗(B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|01〉=(X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|0〉)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|1〉)=|1〉⊗|0〉=|10〉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也就是说这里XX</a:t>
            </a:r>
            <a:r>
              <a:rPr sz="2000">
                <a:latin typeface="Arial"/>
                <a:ea typeface="Arial"/>
                <a:cs typeface="Arial"/>
              </a:rPr>
              <a:t>~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和X门作用一致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以及: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X⊗Z |01〉=|1〉⊗(-</m:t>
                      </m:r>
                      <m:d>
                        <m:dPr>
                          <m:begChr m:val="|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1〉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=-|11〉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,不在子空间.下面会记这种现象为泄漏,这里XZ投影后矩阵元在子空间里都是0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依次运算得到如下对照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: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graphicFrame>
        <p:nvGraphicFramePr>
          <p:cNvPr id="339654173" name=""/>
          <p:cNvGraphicFramePr>
            <a:graphicFrameLocks xmlns:a="http://schemas.openxmlformats.org/drawingml/2006/main"/>
          </p:cNvGraphicFramePr>
          <p:nvPr/>
        </p:nvGraphicFramePr>
        <p:xfrm rot="0">
          <a:off x="1591027" y="5419074"/>
          <a:ext cx="8127999" cy="109727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3600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二次积形式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投影后形式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I⊗X, I⊗Y,X⊗I,Y⊗I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X⊗Z, Z⊗X,Y⊗Z, Z⊗Y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725380878" name=""/>
          <p:cNvGraphicFramePr>
            <a:graphicFrameLocks xmlns:a="http://schemas.openxmlformats.org/drawingml/2006/main"/>
          </p:cNvGraphicFramePr>
          <p:nvPr/>
        </p:nvGraphicFramePr>
        <p:xfrm rot="0">
          <a:off x="2031999" y="1371600"/>
          <a:ext cx="8127999" cy="13460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4064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</a:t>
                      </a:r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393496" name=""/>
          <p:cNvSpPr txBox="1"/>
          <p:nvPr/>
        </p:nvSpPr>
        <p:spPr bwMode="auto">
          <a:xfrm rot="0" flipH="0" flipV="0">
            <a:off x="566248" y="793748"/>
            <a:ext cx="11326705" cy="59360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由于基底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{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I,σ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,也就是SU(2)基底的完备性,任何的2*2厄米矩阵都能在上面展开.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en-US" sz="2000"/>
              <a:t>,如果有哈密顿: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H=aXX+bYY+cXY+dZZ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在子空间表示下,等价于: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更一般的</a:t>
            </a:r>
            <a:r>
              <a:rPr lang="en-US" sz="2000"/>
              <a:t>,记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,具体为: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508421" name=""/>
          <p:cNvSpPr txBox="1"/>
          <p:nvPr/>
        </p:nvSpPr>
        <p:spPr bwMode="auto">
          <a:xfrm rot="0" flipH="0" flipV="0">
            <a:off x="866109" y="846666"/>
            <a:ext cx="10715099" cy="41204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取一般都哈密顿形式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 ∈ I,X,Y,Z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有如下对照:(严格推导参考文件append/s1.md)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/>
              <a:t>这样</a:t>
            </a:r>
            <a:r>
              <a:rPr lang="en-US"/>
              <a:t>,在逻辑子空间里面,张量积形式就等价为了SU(2)下,也就是可以描述为SU(2)旋转的形式.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009702" name=""/>
          <p:cNvSpPr txBox="1"/>
          <p:nvPr/>
        </p:nvSpPr>
        <p:spPr bwMode="auto">
          <a:xfrm rot="0" flipH="0" flipV="0">
            <a:off x="478055" y="723194"/>
            <a:ext cx="11148497" cy="9732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的物理意义</a:t>
            </a:r>
            <a:r>
              <a:rPr lang="en-US" sz="2000"/>
              <a:t>: 在子空间里的演化对应着: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graphicFrame>
        <p:nvGraphicFramePr>
          <p:cNvPr id="141446911" name=""/>
          <p:cNvGraphicFramePr>
            <a:graphicFrameLocks xmlns:a="http://schemas.openxmlformats.org/drawingml/2006/main"/>
          </p:cNvGraphicFramePr>
          <p:nvPr/>
        </p:nvGraphicFramePr>
        <p:xfrm rot="0">
          <a:off x="1255888" y="1442155"/>
          <a:ext cx="10052444" cy="1129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350814"/>
                <a:gridCol w="3350814"/>
                <a:gridCol w="3350814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分量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来源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作用</a:t>
                      </a:r>
                      <a:endParaRPr/>
                    </a:p>
                  </a:txBody>
                  <a:tcPr/>
                </a:tc>
              </a:tr>
              <a:tr h="35424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XX</a:t>
                      </a:r>
                      <a:r>
                        <a:rPr lang="en-US"/>
                        <a:t>, YY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几何旋转</a:t>
                      </a:r>
                      <a:r>
                        <a:rPr lang="en-US"/>
                        <a:t>,hopping/pairing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XY,YX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相位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ZI</a:t>
                      </a:r>
                      <a:r>
                        <a:rPr lang="en-US"/>
                        <a:t>,IZ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能量不对称,分裂等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26721013" name=""/>
          <p:cNvSpPr txBox="1"/>
          <p:nvPr/>
        </p:nvSpPr>
        <p:spPr bwMode="auto">
          <a:xfrm rot="0" flipH="0" flipV="0">
            <a:off x="425137" y="3280833"/>
            <a:ext cx="11730590" cy="305546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注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这里的判断是针对投影后的逻辑子空间低能演化，而不是直接给出整个链的全局拓扑结论。因为现在给出的都是子空间的瞬时的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,并不能代表全局.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具体分析各个分量的物理意义: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{|01〉,|10〉}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下,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把两个逻辑态互相翻转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也把两个逻辑态互相翻转，但带上相位；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直接在两个逻辑态之间引入能量差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489696" name=""/>
          <p:cNvSpPr txBox="1"/>
          <p:nvPr/>
        </p:nvSpPr>
        <p:spPr bwMode="auto">
          <a:xfrm rot="0" flipH="0" flipV="0">
            <a:off x="301665" y="617360"/>
            <a:ext cx="11819149" cy="59179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负责逻辑子空间里的“横向混合 / 旋转”，它们决定有效两能级的几何旋转方向；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负责逻辑子空间里的“纵向偏置”，它直接给态之间加上能量差。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将具体形式带入</a:t>
            </a:r>
            <a:r>
              <a:rPr lang="en-US" sz="2000"/>
              <a:t>,得到瞬时的本征值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总的能级分裂是：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ΔE=2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前文提到的退化为全局相位的条件是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在这里也可以表示成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705747" name=""/>
          <p:cNvSpPr txBox="1"/>
          <p:nvPr/>
        </p:nvSpPr>
        <p:spPr bwMode="auto">
          <a:xfrm rot="0" flipH="0" flipV="0">
            <a:off x="213472" y="458610"/>
            <a:ext cx="117827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791800893" name=""/>
          <p:cNvSpPr txBox="1"/>
          <p:nvPr/>
        </p:nvSpPr>
        <p:spPr bwMode="auto">
          <a:xfrm rot="0" flipH="0" flipV="0">
            <a:off x="213471" y="493884"/>
            <a:ext cx="11819867" cy="60180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具体示例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/>
              <a:t>取yang baxter的解的椭圆形式, eight vertex类型: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R(u)=</m:t>
                      </m:r>
                      <m:d>
                        <m:dPr>
                          <m:ctrlPr>
                            <a:rPr lang="en-US" sz="20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通过</a:t>
            </a: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得到哈密顿: (这里简化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+O(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,对小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展开)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func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YX-XY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(ZI-IZ)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瞬时能级的本征值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6099041" name=""/>
          <p:cNvSpPr txBox="1"/>
          <p:nvPr/>
        </p:nvSpPr>
        <p:spPr bwMode="auto">
          <a:xfrm rot="0" flipH="0" flipV="0">
            <a:off x="160555" y="440971"/>
            <a:ext cx="11906619" cy="38773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在上述例子模型里面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所以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增大能量幅度并引入额外累积相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∫|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 dt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，改变重叠随 T 的行为。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如果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δ=0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对应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哈密顿量在 xy 平面，演化主要是平面旋转（几何/拓扑主导），对应理想化的 Majorana zero mode（MZM-like）行为 ,对 braiding time 不那么敏感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,在 z 方向出现分量，导致瞬时能级分裂（finite-energy），等效于形成局域 Andreev bound state（ABS）；这会产生额外的动力学相（dynamic phase），使最终重叠/门更依赖时间和参数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(这一部分会在最后面给出具体的结果,类比论文fig3-5的部分)</a:t>
            </a:r>
            <a:endParaRPr lang="en-US" sz="2000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449094" name=""/>
          <p:cNvSpPr txBox="1"/>
          <p:nvPr/>
        </p:nvSpPr>
        <p:spPr bwMode="auto">
          <a:xfrm rot="0" flipH="0" flipV="0">
            <a:off x="213471" y="423333"/>
            <a:ext cx="12105693" cy="53898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根据论文</a:t>
            </a:r>
            <a:endParaRPr lang="zh-CN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Non-Abelian statistics of Majorana zero modes in the presence of an Andreev bound state</a:t>
            </a:r>
            <a:endParaRPr lang="zh-CN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Wenqin Chen,1 Jiachen Wang,1 Yijia Wu ,2 Junjie Qi,3 Jie Liu ,1,* and X. C. Xie2,3,4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,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DOI: 10.1103/PhysRevB.105.054507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有两个主要观点需要我们的模型复现出来: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1. 在存在 ABS 的情况下，braid 和 hybridization 的叠加会把单比特演化写成 Bloch 球上的一般SU(2)旋转(一个全局相位)；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2. 若通过调节门电压、Zeeman 场或耦合强度使动力学相退化为全局相，则总演化恢复到近似纯编织门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，从而恢复理想 non-Abelian statistics。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第二点根据前文的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已经可以说明,只需要调节对应的物理参数搭建路径u(t),就可以实现.下面着重说明第一点的复现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646247" name=""/>
          <p:cNvSpPr txBox="1"/>
          <p:nvPr/>
        </p:nvSpPr>
        <p:spPr bwMode="auto">
          <a:xfrm rot="0" flipH="0" flipV="0">
            <a:off x="178192" y="458608"/>
            <a:ext cx="12251136" cy="62600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复现前的准备pre1:</a:t>
            </a:r>
            <a:endParaRPr lang="en-US" sz="2600" b="1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首先需要先说明我们的模型能否做到SU</a:t>
            </a:r>
            <a:r>
              <a:rPr lang="en-US" sz="2000"/>
              <a:t>(2)的任意旋转,这里给出命题: (完整证明也在append/s1.md)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表示出任意旋转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↔H(u)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张成Lie su(2)代数,形式一点都说法是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李代数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Lie{i 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  <m:sSub>
                        <m:sSub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u∈ Τ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=su(2)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当且仅当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参数轨迹的像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D={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u): u∈ Τ}</m:t>
                      </m:r>
                    </m:oMath>
                  </m:oMathPara>
                </a14:m>
              </mc:Choice>
              <mc:Fallback/>
            </mc:AlternateContent>
            <a:r>
              <a:rPr/>
              <a:t>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也就是要满足: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 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更强的三点判据（等价）：存在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使得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det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]</m:t>
                          </m:r>
                        </m:e>
                      </m:fun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⋅[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]≠0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简单说明证明要点：对任意两个方向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，有 Lie 对易子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σ,id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⋅σ]=-2i(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因此只要存在两不共线向量，便可通过一次对易得到第三个方向；三线性独立则生成全 su(2)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969246" name=""/>
          <p:cNvSpPr txBox="1"/>
          <p:nvPr/>
        </p:nvSpPr>
        <p:spPr bwMode="auto">
          <a:xfrm rot="0" flipH="0" flipV="0">
            <a:off x="178194" y="423333"/>
            <a:ext cx="117298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359792031" name=""/>
          <p:cNvSpPr txBox="1"/>
          <p:nvPr/>
        </p:nvSpPr>
        <p:spPr bwMode="auto">
          <a:xfrm rot="0" flipH="0" flipV="0">
            <a:off x="125276" y="352776"/>
            <a:ext cx="12196774" cy="64915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pre2:</a:t>
            </a:r>
            <a:endParaRPr lang="en-US"/>
          </a:p>
          <a:p>
            <a:pPr>
              <a:defRPr/>
            </a:pPr>
            <a:r>
              <a:rPr lang="en-US" sz="2000"/>
              <a:t>下面要将用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表示的杂化以及braid操作对应到我们的简化的模型上:</a:t>
            </a:r>
            <a:endParaRPr lang="en-US" sz="2000"/>
          </a:p>
          <a:p>
            <a:pPr>
              <a:defRPr/>
            </a:pPr>
            <a:r>
              <a:rPr lang="en-US" sz="2000"/>
              <a:t>引入Jordan Wigner变换: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zh-CN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于是同一费米模上的杂化项里的张量积直接变成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对最近邻的 Majorana 二次项，有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因此,得到一般结论: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(t)=i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a&lt;b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143102" name=""/>
          <p:cNvSpPr txBox="1"/>
          <p:nvPr/>
        </p:nvSpPr>
        <p:spPr bwMode="auto">
          <a:xfrm rot="0" flipH="0" flipV="0">
            <a:off x="160555" y="493888"/>
            <a:ext cx="12126939" cy="36590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其中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Pauli 串或两体张量积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则由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JW 产生的Z串共同决定</a:t>
            </a:r>
            <a:r>
              <a:rPr lang="en-US" sz="2000"/>
              <a:t>.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若只关心逻辑比特，继续投影到编码子空间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这里的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来自于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H(u(t))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braid操作,例如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B=exp(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→exp(-i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也可以由同样的方法推导得到.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(更一般的证明可以参考append/s1.md)</a:t>
            </a:r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891458" name=""/>
          <p:cNvSpPr txBox="1"/>
          <p:nvPr/>
        </p:nvSpPr>
        <p:spPr bwMode="auto">
          <a:xfrm rot="0" flipH="0" flipV="0">
            <a:off x="160553" y="423331"/>
            <a:ext cx="12047013" cy="48106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复现流程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把论文中的器件控制参数统一记作</a:t>
            </a:r>
            <a:r>
              <a:rPr/>
              <a:t>路径</a:t>
            </a:r>
            <a:r>
              <a:rPr lang="en-US"/>
              <a:t>,表示为如下形式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其中：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是四个门的开关变量，控制各臂之间是否连通；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 Zeeman 场；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是上下纳米线之间的相位差；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是量子点或局域势阱深度，用于产生/调节 ABS；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是器件与中心 trivial superconductor 的时变耦合。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是统一的基准跃迁幅度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参考supplement_materialV2附录,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先设计门控路径，再得到时变微观哈密顿量；随后把它投影到低能零模子空间，得到 Majorana 的有效耦合；最后区分出理想 MZM 的非阿贝尔 braid，以及 ABS 参与时的动力学相积累。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路径设计的本质，就是按时间调节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，让某些 Majorana 先杂化、再交换、再回到杂化。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918139" name=""/>
          <p:cNvSpPr txBox="1"/>
          <p:nvPr/>
        </p:nvSpPr>
        <p:spPr bwMode="auto">
          <a:xfrm rot="0" flipH="0" flipV="0">
            <a:off x="160554" y="458609"/>
            <a:ext cx="11924616" cy="584123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(i)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(t)</m:t>
                          </m:r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因此总演化是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tot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/>
              <a:t>(注,下面会把初始状态也计入,因此下面是6个步骤)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011485" name=""/>
          <p:cNvSpPr txBox="1"/>
          <p:nvPr/>
        </p:nvSpPr>
        <p:spPr bwMode="auto">
          <a:xfrm rot="0" flipH="0" flipV="0">
            <a:off x="107637" y="405693"/>
            <a:ext cx="12243924" cy="265214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总结支持材料里面的整个哈密顿可以写为</a:t>
            </a:r>
            <a:r>
              <a:rPr lang="en-US" sz="2000"/>
              <a:t>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sz="14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sz="14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!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0                                   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+h.c</m:t>
                      </m:r>
                    </m:oMath>
                  </m:oMathPara>
                </a14:m>
              </mc:Choice>
              <mc:Fallback/>
            </mc:AlternateContent>
            <a:endParaRPr lang="en-US" sz="14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1935869323" name=""/>
          <p:cNvSpPr txBox="1"/>
          <p:nvPr/>
        </p:nvSpPr>
        <p:spPr bwMode="auto">
          <a:xfrm rot="0" flipH="0" flipV="0">
            <a:off x="275030" y="3026788"/>
            <a:ext cx="11900499" cy="342408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接下来考虑带入到我们的pauli张量积模型中</a:t>
            </a:r>
            <a:r>
              <a:rPr lang="en-US" sz="2000"/>
              <a:t>,首先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本身不是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μν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，它先决定一组随时间变化的控制幅度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(p(t))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。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于是微观哈密顿量可统一写成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(0)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λ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是固定的张量积算符基。若改写到 Pauli 张量基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μ,ν∈{0,x,y,z}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构造逻辑: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{μν}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R(u)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YBE.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327439" name=""/>
          <p:cNvSpPr txBox="1"/>
          <p:nvPr/>
        </p:nvSpPr>
        <p:spPr bwMode="auto">
          <a:xfrm rot="0" flipH="0" flipV="0">
            <a:off x="125276" y="423333"/>
            <a:ext cx="12135567" cy="610452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取四个相关 Majorana 的固定顺序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并用两 qubit 的 JW 表示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=X⊗I,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=Y⊗I 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=Z⊗X,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=Z⊗Y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则六个双线性项变成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=-Z⊗I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=-Y⊗X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=-I⊗Z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因此支撑材料中的低能哈密顿量可写成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I⊗Z+h.c.)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/>
              <a:t>非零系数: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若显式保留 h.c.且系数实数，则整体统一乘以 2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732654" name=""/>
          <p:cNvSpPr txBox="1"/>
          <p:nvPr/>
        </p:nvSpPr>
        <p:spPr bwMode="auto">
          <a:xfrm rot="0" flipH="0" flipV="0">
            <a:off x="178194" y="440971"/>
            <a:ext cx="12008134" cy="28850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在逻辑子空间进行投影</a:t>
            </a:r>
            <a:r>
              <a:rPr lang="en-US" sz="2000"/>
              <a:t>,应用我们之前的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的变换规律: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于是该两 qubit Pauli 张量积哈密顿量在逻辑子空间中的严格结果为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=d⋅σ=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488218110" name=""/>
          <p:cNvSpPr txBox="1"/>
          <p:nvPr/>
        </p:nvSpPr>
        <p:spPr bwMode="auto">
          <a:xfrm rot="0" flipH="0" flipV="0">
            <a:off x="301665" y="3429000"/>
            <a:ext cx="11704666" cy="16466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下面开始设计路径</a:t>
            </a:r>
            <a:r>
              <a:rPr lang="en-US" sz="2000"/>
              <a:t>,并进行复现: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初始配置: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=0, 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这意味着只有某些臂与中心区相连，三个低能 Majorana 对被局域在不同的 domain wall 上。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440939" name=""/>
          <p:cNvSpPr txBox="1"/>
          <p:nvPr/>
        </p:nvSpPr>
        <p:spPr bwMode="auto">
          <a:xfrm rot="0" flipH="0" flipV="0">
            <a:off x="195832" y="440971"/>
            <a:ext cx="12244293" cy="590279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把准备也视为第一段路径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,则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前三段路径写成统一的段内归一化参数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a∈[0,1]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a,0,1-a,1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1-a,a,0,1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0,1-a,a,1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其中参数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t-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=nT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是该段的起始时间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,T是每段的时间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t∈[3T,6T]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重复一次前 3 段。把它直接代入 9.2.2.1 的两比特 Pauli 基哈密顿量，得到每一段的精确微观形式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Y⊗X+uY⊗Y-(1-u)I⊗Z]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Y⊗Y-uX⊗Y]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X⊗Y-uI⊗Z]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投影到子空间: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[(1-a)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+u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-a(1-a)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+(1-a)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+a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403225" name=""/>
          <p:cNvSpPr txBox="1"/>
          <p:nvPr/>
        </p:nvSpPr>
        <p:spPr bwMode="auto">
          <a:xfrm rot="0" flipH="0" flipV="0">
            <a:off x="213471" y="458609"/>
            <a:ext cx="12116496" cy="57784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每段的物理时间长度为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T,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段内演化的精确结果是路径有序指数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exp(-iT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(k)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(a)da)</m:t>
                          </m:r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k=1,2,3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en-US" sz="2000"/>
              <a:t>表示时间有序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六步总演化(含初始状态)就是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接下来就是验证,在我们的模型表示下,braid 和 hybridization 的操作会把单比特演化写成 Bloch 球上的一般SU(2)旋转(一个全局相位)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注:具体代码步骤和分析可以参考re1.md文档.下面只说明思路和结果.</a:t>
            </a:r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第 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段的数值积分可按网格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离散为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nary>
                        <m:naryPr>
                          <m:chr m:val="∏"/>
                          <m:grow m:val="off"/>
                          <m:limLoc m:val="undOvr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m=M-1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exp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iTΔaH</m:t>
                                  </m:r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  Δa=</m:t>
                          </m:r>
                          <m:f>
                            <m:f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354302" name=""/>
          <p:cNvSpPr txBox="1"/>
          <p:nvPr/>
        </p:nvSpPr>
        <p:spPr bwMode="auto">
          <a:xfrm rot="0" flipH="0" flipV="0">
            <a:off x="266387" y="352776"/>
            <a:ext cx="12004178" cy="48497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这里乘积从右向左累积，和路径有序指数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的方向一致。六步总门就是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然后与论文的理想 braid 门比较：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sz="2000" b="0" i="1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den>
                          </m:f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∼exp(-i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数值检验时，最直接的残差是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limLowPr>
                            <m:e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min</m:t>
                              </m:r>
                            </m:e>
                            <m:lim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ϕ∈R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iϕ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L,F</m:t>
                                      </m:r>
                                    </m:sub>
                                  </m:s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braid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</mc:Choice>
              <mc:Fallback/>
            </mc:AlternateContent>
            <a:endParaRPr sz="200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而如果要检查 braid/YBE 形式本身，就把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braid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作为两体门嵌入三体空间，验证</a:t>
            </a:r>
            <a:endParaRPr sz="2000"/>
          </a:p>
          <a:p>
            <a:pPr>
              <a:defRPr/>
            </a:pPr>
            <a:br>
              <a:rPr sz="20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</a:b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-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/>
              <a:t>注</a:t>
            </a:r>
            <a:r>
              <a:rPr lang="en-US"/>
              <a:t>:上述演化在实际计算中,参考了论文里面定义的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[0.59 + 0.03 cos(t/T · π )]Δ</m:t>
                      </m:r>
                    </m:oMath>
                  </m:oMathPara>
                </a14:m>
              </mc:Choice>
              <mc:Fallback/>
            </mc:AlternateContent>
            <a:r>
              <a:rPr/>
              <a:t>这种余弦形式</a:t>
            </a:r>
            <a:r>
              <a:rPr lang="en-US"/>
              <a:t>,作为路径积分的调参.</a:t>
            </a: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41469" name=""/>
          <p:cNvSpPr txBox="1"/>
          <p:nvPr/>
        </p:nvSpPr>
        <p:spPr bwMode="auto">
          <a:xfrm rot="0" flipH="0" flipV="0">
            <a:off x="231111" y="423333"/>
            <a:ext cx="11825976" cy="5929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复现结果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左图：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`x`, `y`, `z`：逻辑门和三个理想 braid 轴 `exp(-i π/4 σ_a)` 的相位对齐残差；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`braid`：braid relation 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`YBE`：constant YBE 残差。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右图: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||e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iϕ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||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也就是先把逻辑门 `R_L` 做全局相位对齐，再看它与理想 braid 门逐个元素的绝对差。</a:t>
            </a:r>
            <a:endParaRPr/>
          </a:p>
        </p:txBody>
      </p:sp>
      <p:pic>
        <p:nvPicPr>
          <p:cNvPr id="8681976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83472" y="485086"/>
            <a:ext cx="8644777" cy="35265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346969" name=""/>
          <p:cNvSpPr txBox="1"/>
          <p:nvPr/>
        </p:nvSpPr>
        <p:spPr bwMode="auto">
          <a:xfrm rot="0" flipH="0" flipV="0">
            <a:off x="213472" y="352777"/>
            <a:ext cx="12074019" cy="605482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上述数值结果显示：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门是非平凡的，确实有 braid-like 结构；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但当前路径和参数并没有把逻辑门压到论文里那个“理想、时间无关、接近标准 braid 算符”的极限。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主要原因是因为这个简化模型里面对于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这些参数的精度不够,进一步调参有望得到更精确的结果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接下来是具体分析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braiding时MZM和ABS的行为: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我们构建一个简单的模型: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我们在代码里面用 网格给出时间点、每步用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计算短时传播子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，累积得到总演化 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U,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再计算重叠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overlaps[i]=</m:t>
                      </m:r>
                      <m:d>
                        <m:dPr>
                          <m:begChr m:val="⟨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ψ(0)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)⟩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最终取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|overlaps[-1]|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作为 final-overlap.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0519" name=""/>
          <p:cNvSpPr txBox="1"/>
          <p:nvPr/>
        </p:nvSpPr>
        <p:spPr bwMode="auto">
          <a:xfrm rot="0" flipH="0" flipV="0">
            <a:off x="442777" y="546805"/>
            <a:ext cx="11247493" cy="5896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这里的: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baseline = 脚本里的参考/默认参数下得到的参考曲线；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best = 自动搜索（run_auto_scan）选出的“最 paper-like”参数下的曲线（最大化对应的 trend_score）；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3880380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9" y="892703"/>
            <a:ext cx="8304076" cy="40784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455032" name=""/>
          <p:cNvSpPr txBox="1"/>
          <p:nvPr/>
        </p:nvSpPr>
        <p:spPr bwMode="auto">
          <a:xfrm rot="0" flipH="0" flipV="0">
            <a:off x="442777" y="546805"/>
            <a:ext cx="11240653" cy="675268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“ABS 的拐点”：不是一个真正的相变点，也不是能隙突然闭合的点，而是一个crossover（交叉过渡）。在这个简化模型里，拐点意味着两件事发生了切换：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低能态不再只是“跟着路径平滑地走”，而开始明显感受到有限能量分支的弯折。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绝热跟随与动力学相积累之间的平衡被打破，导致谱线斜率改变、曲线出现折弯。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换句话说，这个拐点说明 ABS 不是像 MZM 那样被拓扑钉住的零能模；它会随着控制路径和时间尺度改变自己的瞬时能量，所以它对 braiding time 更敏感。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69688343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9" y="892703"/>
            <a:ext cx="8304076" cy="40784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218625" name=""/>
          <p:cNvSpPr txBox="1"/>
          <p:nvPr/>
        </p:nvSpPr>
        <p:spPr bwMode="auto">
          <a:xfrm rot="0" flipH="0" flipV="0">
            <a:off x="266388" y="423333"/>
            <a:ext cx="117827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696091177" name=""/>
          <p:cNvSpPr txBox="1"/>
          <p:nvPr/>
        </p:nvSpPr>
        <p:spPr bwMode="auto">
          <a:xfrm rot="0" flipH="0" flipV="0">
            <a:off x="195833" y="423333"/>
            <a:ext cx="11556354" cy="12748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论文里这一部分有两个层次：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V_x=[0.59+0.02\cos(t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时，重叠的幅度已经基本不依赖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，但相位仍会随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振荡。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V_x=[0.57+0.02\cos(t\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且只作用于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[4T,6T]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时，连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1,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也被消掉，于是幅度和相位都对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不敏感，接近真正的 MZM 式稳定非阿贝尔交换。</a:t>
            </a:r>
            <a:endParaRPr/>
          </a:p>
        </p:txBody>
      </p:sp>
      <p:pic>
        <p:nvPicPr>
          <p:cNvPr id="152271266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55787" y="2301698"/>
            <a:ext cx="9046851" cy="32083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6259103" name=""/>
          <p:cNvSpPr txBox="1"/>
          <p:nvPr/>
        </p:nvSpPr>
        <p:spPr bwMode="auto">
          <a:xfrm rot="0" flipH="0" flipV="0">
            <a:off x="266388" y="423333"/>
            <a:ext cx="117827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pic>
        <p:nvPicPr>
          <p:cNvPr id="212523683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139706" y="1357761"/>
            <a:ext cx="8212531" cy="4142476"/>
          </a:xfrm>
          <a:prstGeom prst="rect">
            <a:avLst/>
          </a:prstGeom>
        </p:spPr>
      </p:pic>
      <p:sp>
        <p:nvSpPr>
          <p:cNvPr id="1691406439" name=""/>
          <p:cNvSpPr txBox="1"/>
          <p:nvPr/>
        </p:nvSpPr>
        <p:spPr bwMode="auto">
          <a:xfrm rot="0" flipH="0" flipV="0">
            <a:off x="195833" y="282222"/>
            <a:ext cx="11613593" cy="65612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在我们的模型里面</a:t>
            </a:r>
            <a:r>
              <a:rPr lang="en-US" sz="2000"/>
              <a:t>,做了如下的趋势上的近似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先让结果看起来不再强烈依赖 T，这表示动态相正在被取消。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出现振荡,即可以调制出负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进一步看调制是否足够强，能不能把剩下的方位相也压掉。</a:t>
            </a:r>
            <a:endParaRPr lang="en-US" sz="2000"/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a 与 case b 是两种正弦调制配置，比较它们能否把动态相（由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分量产生的时间相位）抵消，从而使 overlap 对 T 更平坦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cs typeface="等线"/>
              </a:rPr>
              <a:t>.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815258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157777" y="607434"/>
            <a:ext cx="5842362" cy="3626148"/>
          </a:xfrm>
          <a:prstGeom prst="rect">
            <a:avLst/>
          </a:prstGeom>
        </p:spPr>
      </p:pic>
      <p:sp>
        <p:nvSpPr>
          <p:cNvPr id="2048789406" name=""/>
          <p:cNvSpPr txBox="1"/>
          <p:nvPr/>
        </p:nvSpPr>
        <p:spPr bwMode="auto">
          <a:xfrm rot="0" flipH="0" flipV="0">
            <a:off x="178194" y="388055"/>
            <a:ext cx="10805445" cy="56829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这里我们的模型显示了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低振幅 vs 高振幅 的 final-overlap 随 T 比较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在大 T（更绝热）处两曲线靠拢说明“振幅不敏感”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即调制机制在绝热极限下鲁棒。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不同振幅曲线彼此靠近，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说明对振幅扰动的响应减弱。</a:t>
            </a:r>
            <a:endParaRPr/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曲线尾部趋于平坦，体现绝热极限下的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“参数不敏感性”。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论文原文给出的具体比较是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=[0.59+0.01cos(t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=[0.59+0.03\cos(t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它要说明的是：只要 braiding 足够慢，振幅从 0.01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变到 0.03，最终交换统计几乎不变。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这意味着去掉动态相的机制不是一个需要精细调参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才成立的，而是一个在绝热条件下相当鲁棒的机制。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58766" name=""/>
          <p:cNvSpPr txBox="1"/>
          <p:nvPr/>
        </p:nvSpPr>
        <p:spPr bwMode="auto">
          <a:xfrm rot="0" flipH="0" flipV="0">
            <a:off x="389860" y="511527"/>
            <a:ext cx="10992627" cy="38253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这次针对论文 Fig.3/Fig.4/Fig.5 的复现，总结为:已经在简化模型中复现了论文的趋势和机理，但还没有做到完整 BdG 模型下的定量一致。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更具体地说：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Fig.3-like 主要复现了“ABS 随 braiding time 更敏感、MZM 更稳定”的对比趋势；默认版已经能看出差异，自动扫描版把差异放得更明显。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Fig.4-like 复现了“通过正弦调制抵消动力学相，使 braiding 结果更接近时间无关”的趋势。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 Fig.5-like 复现了“在绝热区，不同调制振幅下的结果趋于一致”的鲁棒性趋势。</a:t>
            </a:r>
            <a:endParaRPr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2273621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2124204469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1174096033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517643422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209641020" name="矩形 7"/>
          <p:cNvSpPr/>
          <p:nvPr/>
        </p:nvSpPr>
        <p:spPr bwMode="auto">
          <a:xfrm>
            <a:off x="1630064" y="3046549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03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050065566" name="矩形 8"/>
          <p:cNvSpPr/>
          <p:nvPr/>
        </p:nvSpPr>
        <p:spPr bwMode="auto">
          <a:xfrm flipH="0" flipV="0">
            <a:off x="5516875" y="2912368"/>
            <a:ext cx="5778466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47</Slides>
  <Notes>47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4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/>
  <cp:revision>47</cp:revision>
  <dcterms:created xsi:type="dcterms:W3CDTF">2022-05-23T10:27:50Z</dcterms:created>
  <dcterms:modified xsi:type="dcterms:W3CDTF">2026-05-18T22:09:24Z</dcterms:modified>
</cp:coreProperties>
</file>