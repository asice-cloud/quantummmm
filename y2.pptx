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7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31.xml" ContentType="application/vnd.openxmlformats-officedocument.presentationml.slide+xml"/>
  <Override PartName="/ppt/slides/slide77.xml" ContentType="application/vnd.openxmlformats-officedocument.presentationml.slide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15.xml" ContentType="application/vnd.openxmlformats-officedocument.presentationml.slide+xml"/>
  <Override PartName="/ppt/slides/slide40.xml" ContentType="application/vnd.openxmlformats-officedocument.presentationml.slide+xml"/>
  <Override PartName="/ppt/slides/slide24.xml" ContentType="application/vnd.openxmlformats-officedocument.presentationml.slide+xml"/>
  <Override PartName="/ppt/slides/slide27.xml" ContentType="application/vnd.openxmlformats-officedocument.presentationml.slide+xml"/>
  <Override PartName="/ppt/slides/slide69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6.xml" ContentType="application/vnd.openxmlformats-officedocument.presentationml.slide+xml"/>
  <Override PartName="/ppt/slides/slide68.xml" ContentType="application/vnd.openxmlformats-officedocument.presentationml.slide+xml"/>
  <Override PartName="/ppt/slides/slide7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22.xml" ContentType="application/vnd.openxmlformats-officedocument.presentationml.slide+xml"/>
  <Override PartName="/ppt/slides/slide16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docProps/core.xml" ContentType="application/vnd.openxmlformats-package.core-properties+xml"/>
  <Override PartName="/ppt/slides/slide25.xml" ContentType="application/vnd.openxmlformats-officedocument.presentationml.slide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8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s/slide30.xml" ContentType="application/vnd.openxmlformats-officedocument.presentationml.slide+xml"/>
  <Override PartName="/ppt/theme/theme2.xml" ContentType="application/vnd.openxmlformats-officedocument.theme+xml"/>
  <Override PartName="/ppt/notesSlides/notesSlide27.xml" ContentType="application/vnd.openxmlformats-officedocument.presentationml.notesSlide+xml"/>
  <Override PartName="/ppt/slides/slide61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notesSlides/notesSlide49.xml" ContentType="application/vnd.openxmlformats-officedocument.presentationml.notesSlide+xml"/>
  <Override PartName="/ppt/slides/slide20.xml" ContentType="application/vnd.openxmlformats-officedocument.presentationml.slide+xml"/>
  <Override PartName="/ppt/slides/slide47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58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notesSlides/notesSlide46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72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.xml" ContentType="application/vnd.openxmlformats-officedocument.presentationml.notesSlide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49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71.xml" ContentType="application/vnd.openxmlformats-officedocument.presentationml.slide+xml"/>
  <Override PartName="/ppt/slides/slide39.xml" ContentType="application/vnd.openxmlformats-officedocument.presentationml.slide+xml"/>
  <Override PartName="/ppt/slides/slide33.xml" ContentType="application/vnd.openxmlformats-officedocument.presentationml.slide+xml"/>
  <Override PartName="/ppt/slides/slide63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notesSlides/notesSlide73.xml" ContentType="application/vnd.openxmlformats-officedocument.presentationml.notesSlide+xml"/>
  <Override PartName="/ppt/notesSlides/notesSlide48.xml" ContentType="application/vnd.openxmlformats-officedocument.presentationml.notesSlide+xml"/>
  <Override PartName="/ppt/slides/slide45.xml" ContentType="application/vnd.openxmlformats-officedocument.presentationml.slide+xml"/>
  <Override PartName="/ppt/slides/slide53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notesSlides/notesSlide6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0.xml" ContentType="application/vnd.openxmlformats-officedocument.presentationml.slide+xml"/>
  <Override PartName="/ppt/slides/slide8.xml" ContentType="application/vnd.openxmlformats-officedocument.presentationml.slide+xml"/>
  <Override PartName="/ppt/slides/slide51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2.xml" ContentType="application/vnd.openxmlformats-officedocument.presentationml.slide+xml"/>
  <Override PartName="/ppt/slides/slide55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2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64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65.xml" ContentType="application/vnd.openxmlformats-officedocument.presentationml.slide+xml"/>
  <Override PartName="/ppt/slides/slide72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43.xml" ContentType="application/vnd.openxmlformats-officedocument.presentationml.slide+xml"/>
  <Override PartName="/ppt/slides/slide7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73.xml" ContentType="application/vnd.openxmlformats-officedocument.presentationml.slide+xml"/>
  <Override PartName="/ppt/slides/slide75.xml" ContentType="application/vnd.openxmlformats-officedocument.presentationml.slide+xml"/>
  <Override PartName="/ppt/slides/slide54.xml" ContentType="application/vnd.openxmlformats-officedocument.presentationml.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6" d="100"/>
          <a:sy n="86" d="100"/>
        </p:scale>
        <p:origin x="562" y="67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 /><Relationship Id="rId84" Type="http://schemas.openxmlformats.org/officeDocument/2006/relationships/tableStyles" Target="tableStyles.xml" /><Relationship Id="rId8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303971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76413024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382FE30-D1CB-4640-A759-810F00360910}" type="datetimeFigureOut">
              <a:rPr lang="zh-CN"/>
              <a:t>2022/6/24</a:t>
            </a:fld>
            <a:endParaRPr lang="zh-CN"/>
          </a:p>
        </p:txBody>
      </p:sp>
      <p:sp>
        <p:nvSpPr>
          <p:cNvPr id="97173423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69668239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790955173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26729348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024435C-6EC0-481B-A838-74E1A0E375B9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 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 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 ?>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 ?>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 ?>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 ?>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 ?>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 ?>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 ?>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 ?>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 ?>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 ?>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 ?>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 ?>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 ?>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 ?>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 ?>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 ?>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 ?>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 ?>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 ?>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 ?>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 ?>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 ?>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 ?>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 ?>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 ?>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 ?>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 ?>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 ?>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 ?>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5417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2649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08944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BAEE65-8045-A9B3-FD2E-2F89AA941D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0809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6666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01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C37281-EDF7-3A5F-D467-6A2C92C0A7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6760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67813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257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7B2519-3C56-F9A9-3951-EEE60B8259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92354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7078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124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03C45F-358F-6D6D-FCC7-4B5FD4D51A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66320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47849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786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A5858-B282-1531-0FB3-E460877B49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3606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89437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5986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5DE5D1-20B4-5255-B211-67DDCA7677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2988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46915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397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4AB0D4-CC30-9396-13D3-DF7F9DF55BF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99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6720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9035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267DC9-2837-32EE-1ABC-E67EC3694E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1088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06817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34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03DA7-9DB3-3B02-6ABD-4F6904C4B4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3530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822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3662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8F061-323E-9348-A1A2-F9DFC0B5AF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8019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60991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9359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17DCCC-11E1-DB6F-3C8D-FEFE53AA95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7066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34403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203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3605F4-1AF2-E27F-EEFD-D067B5AC13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71891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0555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128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CC27D5-5D22-EECF-C31F-E7333DC810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694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1645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912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032C3B-1BD9-27BA-EA21-086304F151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2034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6627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391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D2645-33AF-77F3-C743-AACE7727C8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5250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0488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9098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744E73-1F52-B22C-55CF-4682888914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2498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2060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997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0EF37-8CED-B8D6-2726-67713AE9A7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864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6202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827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7DA659-02E4-C9F6-2ABC-C7A748861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2561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54384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2701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98415-3EE0-9F38-6CCC-138E6CFD48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3397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57647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8729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5DF01-36D2-2AC3-7621-C3298747CC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3476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1746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147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87507-0CCC-4F14-3BFD-67FA10A766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5950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2987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076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772127-5B3D-6960-6E92-CAEC84BB84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2090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81294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72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62E30B-0A0E-784F-86C9-FEB9C80567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94275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81575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311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7B87FB-51E3-44C5-EC29-5189C29A51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078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06212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778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CADCF3-6C81-2A92-14F7-25C9C1E9CFF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64508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10816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687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8B8DC6-6B3E-11E9-6877-452D1268D5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1233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8403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0396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6DB815-C16D-A01E-54BF-D3776446700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0065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31405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7961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731C6E-D061-8CC6-8143-A1FDCFA3BB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2229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8726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157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D4601-96AE-199E-5483-8CD96E6A689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15922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69433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85299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EE47D6-4B1A-41CB-CD64-BE9ADB94E40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556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40788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85935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0E7390-F804-ADD7-2327-B33B7FD25B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67852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6275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6536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39F10B-4DAC-FD18-988D-51CCB13728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B4254C-3E73-BA4E-BE1F-F637726D85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5353DD-2BE5-5F6E-896C-CEEEB5468C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2338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4571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7833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5949605-A984-7A3B-6BDB-E447F0D0B1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350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359090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612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BB547-2EA1-8CE1-F700-C2BA0E70B7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8892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9860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0741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07A3033-C079-8EE2-F416-322D0A38C7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7546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82545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355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FA6D27-B52A-A2CF-AD43-294699C043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5494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325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48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81BF1E-64EE-AC86-E77F-DDAF600CA6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4675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01503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2490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5EAC2B-0FE1-CF4B-BBBE-5E282DAD8F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0074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288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509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00F409-3C10-0312-B398-F7E5E461B9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57972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54610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4866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A27964-AE98-91D6-9A8D-851B2EC88E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8036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1119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3541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988E1-5D1C-82A7-2131-0AF5026EF3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8370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3675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5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7A1D60-EFBC-1C11-6710-BB8EE1A1096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2689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6471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8615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CD16CF-076A-38BB-489D-DFBB464C3E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929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82531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99841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E5CF-D5ED-C686-74CC-2FDD76B87E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177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8941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218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6ED8099-A09A-CE98-97C8-0FA04129C4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2882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37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168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27B4BD-AA41-9F8D-5DDE-448FC3D173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540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686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8207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8992DF-9D3A-5F00-CC2B-54E42FBCB1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0999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0757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957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A4E28E-D70C-E24F-C0DA-3A187CC697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1564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29355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10052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BE8788-FDA9-EDFB-A164-122EF7C4F43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9109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54399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23209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C701FB-5E6B-C66F-6DFB-69F1662B6C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5118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09577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028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7546CC-AFA1-FE89-4085-B3915C2DD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82957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1557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74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D80C7E-85BD-359E-D7A3-90EC1BC01F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7491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5099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389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3E93EA-B506-875F-850A-D0796B91BA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6921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84130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318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D9C8C9-5C19-F02F-00CE-8136D53EC3B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2016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19092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214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1B68C0-B90A-A84B-F5D4-AFC7BFB21FB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132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05715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5389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49C09C-D4A2-A772-0962-19BB659824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9434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8117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78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C0ED2C-B9F8-1367-0EF0-B101FA8AC7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63241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4552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0485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B8292B-B8AE-81DE-CFA3-9290B15D54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603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79001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3875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7B3BD6-F396-09D8-B45D-9043D3A2C82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4045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8927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4181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9A1E62-AE8B-FDB8-CE7B-F21C0A9405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1801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3993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02831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39C2E7-BE67-4434-7738-B8234910301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1722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708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447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4751B6-0966-7D8B-FC8F-C9BF18CD167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4387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1938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535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754799-0C06-8994-AD87-9529C3CBB3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9652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02110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299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616A9A-C5BA-7543-E713-EEFDE663D4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5437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37886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94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A141A4-B991-0C6C-899C-480CD16C69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357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7485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178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13ED88-20F5-887E-E73C-B6237248D8C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2627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4063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4855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53B079-C3CC-2855-B10B-24318F242C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027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6995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1035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52969A-9E4F-55C3-D1A5-3C3468FEF9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47082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17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226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6A1639-89D2-527C-74DC-F0F33F7D89C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1DC585-18EC-6D50-DA4C-DB1475A941C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BAF54E-2058-AB74-DE30-DB79BBC2BB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6C27E6-CBD8-D3A4-8BC9-D3E77956E7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FB0EBD-C9A7-4E66-6353-CAD28F5E10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E623BE-E706-6055-44A0-A095FB2721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0691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9867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706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3F40F3-2B32-374A-DEC4-AB162BD592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09191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61328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2845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A220BB-90C6-3121-57E1-3C76BE19B5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733162" name="矩形 1"/>
          <p:cNvSpPr/>
          <p:nvPr userDrawn="1"/>
        </p:nvSpPr>
        <p:spPr bwMode="auto">
          <a:xfrm>
            <a:off x="3835400" y="0"/>
            <a:ext cx="4521200" cy="182880"/>
          </a:xfrm>
          <a:prstGeom prst="rect">
            <a:avLst/>
          </a:prstGeom>
          <a:solidFill>
            <a:srgbClr val="2B77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自定义版式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.pn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7.png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8.png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8.png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9.png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0.png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png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2.png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3.png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4.png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5.png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19.png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0.png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1.png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22.png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23.png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275245" name="矩形 17"/>
          <p:cNvSpPr/>
          <p:nvPr/>
        </p:nvSpPr>
        <p:spPr bwMode="auto">
          <a:xfrm>
            <a:off x="0" y="0"/>
            <a:ext cx="4793942" cy="6858000"/>
          </a:xfrm>
          <a:prstGeom prst="rect">
            <a:avLst/>
          </a:prstGeom>
          <a:blipFill rotWithShape="1">
            <a:blip r:embed="rId3"/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1403701655" name="矩形 22"/>
          <p:cNvSpPr/>
          <p:nvPr/>
        </p:nvSpPr>
        <p:spPr bwMode="auto">
          <a:xfrm>
            <a:off x="0" y="1"/>
            <a:ext cx="4793942" cy="6857999"/>
          </a:xfrm>
          <a:prstGeom prst="rect">
            <a:avLst/>
          </a:prstGeom>
          <a:blipFill rotWithShape="1">
            <a:blip r:embed="rId4">
              <a:alphaModFix amt="86000"/>
            </a:blip>
            <a:stretch>
              <a:fillRect l="-52412" t="0" r="-142586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+mn-cs"/>
            </a:endParaRPr>
          </a:p>
        </p:txBody>
      </p:sp>
      <p:grpSp>
        <p:nvGrpSpPr>
          <p:cNvPr id="1488033602" name="组合 2"/>
          <p:cNvGrpSpPr/>
          <p:nvPr/>
        </p:nvGrpSpPr>
        <p:grpSpPr bwMode="auto">
          <a:xfrm>
            <a:off x="488304" y="1569098"/>
            <a:ext cx="3455807" cy="3408168"/>
            <a:chOff x="-9050" y="2167639"/>
            <a:chExt cx="3455807" cy="3408168"/>
          </a:xfrm>
          <a:solidFill>
            <a:schemeClr val="bg1"/>
          </a:solidFill>
        </p:grpSpPr>
        <p:grpSp>
          <p:nvGrpSpPr>
            <p:cNvPr id="4" name="组合 3"/>
            <p:cNvGrpSpPr/>
            <p:nvPr/>
          </p:nvGrpSpPr>
          <p:grpSpPr bwMode="auto">
            <a:xfrm>
              <a:off x="734486" y="2167639"/>
              <a:ext cx="2487741" cy="2288124"/>
              <a:chOff x="8374817" y="3976831"/>
              <a:chExt cx="719115" cy="661413"/>
            </a:xfrm>
            <a:grpFill/>
          </p:grpSpPr>
          <p:sp>
            <p:nvSpPr>
              <p:cNvPr id="6" name="Freeform 44"/>
              <p:cNvSpPr/>
              <p:nvPr/>
            </p:nvSpPr>
            <p:spPr bwMode="auto">
              <a:xfrm>
                <a:off x="9018919" y="4072040"/>
                <a:ext cx="75013" cy="68522"/>
              </a:xfrm>
              <a:custGeom>
                <a:avLst/>
                <a:gdLst>
                  <a:gd name="T0" fmla="*/ 28 w 44"/>
                  <a:gd name="T1" fmla="*/ 11 h 40"/>
                  <a:gd name="T2" fmla="*/ 0 w 44"/>
                  <a:gd name="T3" fmla="*/ 18 h 40"/>
                  <a:gd name="T4" fmla="*/ 31 w 44"/>
                  <a:gd name="T5" fmla="*/ 40 h 40"/>
                  <a:gd name="T6" fmla="*/ 28 w 44"/>
                  <a:gd name="T7" fmla="*/ 11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0" fill="norm" stroke="1" extrusionOk="0">
                    <a:moveTo>
                      <a:pt x="28" y="11"/>
                    </a:moveTo>
                    <a:cubicBezTo>
                      <a:pt x="13" y="0"/>
                      <a:pt x="0" y="18"/>
                      <a:pt x="0" y="18"/>
                    </a:cubicBezTo>
                    <a:cubicBezTo>
                      <a:pt x="31" y="40"/>
                      <a:pt x="31" y="40"/>
                      <a:pt x="31" y="40"/>
                    </a:cubicBezTo>
                    <a:cubicBezTo>
                      <a:pt x="31" y="40"/>
                      <a:pt x="44" y="22"/>
                      <a:pt x="28" y="1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7" name="Freeform 45"/>
              <p:cNvSpPr/>
              <p:nvPr/>
            </p:nvSpPr>
            <p:spPr bwMode="auto">
              <a:xfrm>
                <a:off x="8831387" y="4116759"/>
                <a:ext cx="230088" cy="284184"/>
              </a:xfrm>
              <a:custGeom>
                <a:avLst/>
                <a:gdLst>
                  <a:gd name="T0" fmla="*/ 187 w 319"/>
                  <a:gd name="T1" fmla="*/ 85 h 394"/>
                  <a:gd name="T2" fmla="*/ 156 w 319"/>
                  <a:gd name="T3" fmla="*/ 125 h 394"/>
                  <a:gd name="T4" fmla="*/ 104 w 319"/>
                  <a:gd name="T5" fmla="*/ 198 h 394"/>
                  <a:gd name="T6" fmla="*/ 0 w 319"/>
                  <a:gd name="T7" fmla="*/ 342 h 394"/>
                  <a:gd name="T8" fmla="*/ 74 w 319"/>
                  <a:gd name="T9" fmla="*/ 394 h 394"/>
                  <a:gd name="T10" fmla="*/ 104 w 319"/>
                  <a:gd name="T11" fmla="*/ 352 h 394"/>
                  <a:gd name="T12" fmla="*/ 130 w 319"/>
                  <a:gd name="T13" fmla="*/ 314 h 394"/>
                  <a:gd name="T14" fmla="*/ 156 w 319"/>
                  <a:gd name="T15" fmla="*/ 276 h 394"/>
                  <a:gd name="T16" fmla="*/ 319 w 319"/>
                  <a:gd name="T17" fmla="*/ 52 h 394"/>
                  <a:gd name="T18" fmla="*/ 248 w 319"/>
                  <a:gd name="T19" fmla="*/ 0 h 394"/>
                  <a:gd name="T20" fmla="*/ 187 w 319"/>
                  <a:gd name="T21" fmla="*/ 85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9" h="394" fill="norm" stroke="1" extrusionOk="0">
                    <a:moveTo>
                      <a:pt x="187" y="85"/>
                    </a:moveTo>
                    <a:lnTo>
                      <a:pt x="156" y="125"/>
                    </a:lnTo>
                    <a:lnTo>
                      <a:pt x="104" y="198"/>
                    </a:lnTo>
                    <a:lnTo>
                      <a:pt x="0" y="342"/>
                    </a:lnTo>
                    <a:lnTo>
                      <a:pt x="74" y="394"/>
                    </a:lnTo>
                    <a:lnTo>
                      <a:pt x="104" y="352"/>
                    </a:lnTo>
                    <a:lnTo>
                      <a:pt x="130" y="314"/>
                    </a:lnTo>
                    <a:lnTo>
                      <a:pt x="156" y="276"/>
                    </a:lnTo>
                    <a:lnTo>
                      <a:pt x="319" y="52"/>
                    </a:lnTo>
                    <a:lnTo>
                      <a:pt x="248" y="0"/>
                    </a:lnTo>
                    <a:lnTo>
                      <a:pt x="187" y="8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8" name="Freeform 46"/>
              <p:cNvSpPr/>
              <p:nvPr/>
            </p:nvSpPr>
            <p:spPr bwMode="auto">
              <a:xfrm>
                <a:off x="8374817" y="3976831"/>
                <a:ext cx="569090" cy="661413"/>
              </a:xfrm>
              <a:custGeom>
                <a:avLst/>
                <a:gdLst>
                  <a:gd name="T0" fmla="*/ 312 w 334"/>
                  <a:gd name="T1" fmla="*/ 348 h 388"/>
                  <a:gd name="T2" fmla="*/ 293 w 334"/>
                  <a:gd name="T3" fmla="*/ 366 h 388"/>
                  <a:gd name="T4" fmla="*/ 40 w 334"/>
                  <a:gd name="T5" fmla="*/ 366 h 388"/>
                  <a:gd name="T6" fmla="*/ 22 w 334"/>
                  <a:gd name="T7" fmla="*/ 348 h 388"/>
                  <a:gd name="T8" fmla="*/ 22 w 334"/>
                  <a:gd name="T9" fmla="*/ 41 h 388"/>
                  <a:gd name="T10" fmla="*/ 40 w 334"/>
                  <a:gd name="T11" fmla="*/ 23 h 388"/>
                  <a:gd name="T12" fmla="*/ 293 w 334"/>
                  <a:gd name="T13" fmla="*/ 23 h 388"/>
                  <a:gd name="T14" fmla="*/ 312 w 334"/>
                  <a:gd name="T15" fmla="*/ 41 h 388"/>
                  <a:gd name="T16" fmla="*/ 312 w 334"/>
                  <a:gd name="T17" fmla="*/ 140 h 388"/>
                  <a:gd name="T18" fmla="*/ 334 w 334"/>
                  <a:gd name="T19" fmla="*/ 109 h 388"/>
                  <a:gd name="T20" fmla="*/ 334 w 334"/>
                  <a:gd name="T21" fmla="*/ 21 h 388"/>
                  <a:gd name="T22" fmla="*/ 313 w 334"/>
                  <a:gd name="T23" fmla="*/ 0 h 388"/>
                  <a:gd name="T24" fmla="*/ 21 w 334"/>
                  <a:gd name="T25" fmla="*/ 0 h 388"/>
                  <a:gd name="T26" fmla="*/ 0 w 334"/>
                  <a:gd name="T27" fmla="*/ 21 h 388"/>
                  <a:gd name="T28" fmla="*/ 0 w 334"/>
                  <a:gd name="T29" fmla="*/ 368 h 388"/>
                  <a:gd name="T30" fmla="*/ 21 w 334"/>
                  <a:gd name="T31" fmla="*/ 388 h 388"/>
                  <a:gd name="T32" fmla="*/ 313 w 334"/>
                  <a:gd name="T33" fmla="*/ 388 h 388"/>
                  <a:gd name="T34" fmla="*/ 334 w 334"/>
                  <a:gd name="T35" fmla="*/ 368 h 388"/>
                  <a:gd name="T36" fmla="*/ 334 w 334"/>
                  <a:gd name="T37" fmla="*/ 223 h 388"/>
                  <a:gd name="T38" fmla="*/ 312 w 334"/>
                  <a:gd name="T39" fmla="*/ 254 h 388"/>
                  <a:gd name="T40" fmla="*/ 312 w 334"/>
                  <a:gd name="T41" fmla="*/ 348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34" h="388" fill="norm" stroke="1" extrusionOk="0">
                    <a:moveTo>
                      <a:pt x="312" y="348"/>
                    </a:moveTo>
                    <a:cubicBezTo>
                      <a:pt x="312" y="358"/>
                      <a:pt x="303" y="366"/>
                      <a:pt x="293" y="366"/>
                    </a:cubicBezTo>
                    <a:cubicBezTo>
                      <a:pt x="40" y="366"/>
                      <a:pt x="40" y="366"/>
                      <a:pt x="40" y="366"/>
                    </a:cubicBezTo>
                    <a:cubicBezTo>
                      <a:pt x="30" y="366"/>
                      <a:pt x="22" y="358"/>
                      <a:pt x="22" y="348"/>
                    </a:cubicBezTo>
                    <a:cubicBezTo>
                      <a:pt x="22" y="41"/>
                      <a:pt x="22" y="41"/>
                      <a:pt x="22" y="41"/>
                    </a:cubicBezTo>
                    <a:cubicBezTo>
                      <a:pt x="22" y="31"/>
                      <a:pt x="30" y="23"/>
                      <a:pt x="40" y="23"/>
                    </a:cubicBezTo>
                    <a:cubicBezTo>
                      <a:pt x="293" y="23"/>
                      <a:pt x="293" y="23"/>
                      <a:pt x="293" y="23"/>
                    </a:cubicBezTo>
                    <a:cubicBezTo>
                      <a:pt x="303" y="23"/>
                      <a:pt x="312" y="31"/>
                      <a:pt x="312" y="41"/>
                    </a:cubicBezTo>
                    <a:cubicBezTo>
                      <a:pt x="312" y="140"/>
                      <a:pt x="312" y="140"/>
                      <a:pt x="312" y="140"/>
                    </a:cubicBezTo>
                    <a:cubicBezTo>
                      <a:pt x="334" y="109"/>
                      <a:pt x="334" y="109"/>
                      <a:pt x="334" y="109"/>
                    </a:cubicBezTo>
                    <a:cubicBezTo>
                      <a:pt x="334" y="21"/>
                      <a:pt x="334" y="21"/>
                      <a:pt x="334" y="21"/>
                    </a:cubicBezTo>
                    <a:cubicBezTo>
                      <a:pt x="334" y="10"/>
                      <a:pt x="325" y="0"/>
                      <a:pt x="313" y="0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9" y="0"/>
                      <a:pt x="0" y="10"/>
                      <a:pt x="0" y="21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9"/>
                      <a:pt x="9" y="388"/>
                      <a:pt x="21" y="388"/>
                    </a:cubicBezTo>
                    <a:cubicBezTo>
                      <a:pt x="313" y="388"/>
                      <a:pt x="313" y="388"/>
                      <a:pt x="313" y="388"/>
                    </a:cubicBezTo>
                    <a:cubicBezTo>
                      <a:pt x="325" y="388"/>
                      <a:pt x="334" y="379"/>
                      <a:pt x="334" y="368"/>
                    </a:cubicBezTo>
                    <a:cubicBezTo>
                      <a:pt x="334" y="223"/>
                      <a:pt x="334" y="223"/>
                      <a:pt x="334" y="223"/>
                    </a:cubicBezTo>
                    <a:cubicBezTo>
                      <a:pt x="312" y="254"/>
                      <a:pt x="312" y="254"/>
                      <a:pt x="312" y="254"/>
                    </a:cubicBezTo>
                    <a:lnTo>
                      <a:pt x="312" y="34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9" name="Freeform 47"/>
              <p:cNvSpPr/>
              <p:nvPr/>
            </p:nvSpPr>
            <p:spPr bwMode="auto">
              <a:xfrm>
                <a:off x="8806142" y="4377142"/>
                <a:ext cx="67800" cy="77177"/>
              </a:xfrm>
              <a:custGeom>
                <a:avLst/>
                <a:gdLst>
                  <a:gd name="T0" fmla="*/ 21 w 94"/>
                  <a:gd name="T1" fmla="*/ 0 h 107"/>
                  <a:gd name="T2" fmla="*/ 0 w 94"/>
                  <a:gd name="T3" fmla="*/ 107 h 107"/>
                  <a:gd name="T4" fmla="*/ 94 w 94"/>
                  <a:gd name="T5" fmla="*/ 52 h 107"/>
                  <a:gd name="T6" fmla="*/ 21 w 94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107" fill="norm" stroke="1" extrusionOk="0">
                    <a:moveTo>
                      <a:pt x="21" y="0"/>
                    </a:moveTo>
                    <a:lnTo>
                      <a:pt x="0" y="107"/>
                    </a:lnTo>
                    <a:lnTo>
                      <a:pt x="94" y="52"/>
                    </a:lnTo>
                    <a:lnTo>
                      <a:pt x="2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0" name="Rectangle 48"/>
              <p:cNvSpPr>
                <a:spLocks noChangeArrowheads="1"/>
              </p:cNvSpPr>
              <p:nvPr/>
            </p:nvSpPr>
            <p:spPr bwMode="auto">
              <a:xfrm>
                <a:off x="8459928" y="4504808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1" name="Rectangle 49"/>
              <p:cNvSpPr>
                <a:spLocks noChangeArrowheads="1"/>
              </p:cNvSpPr>
              <p:nvPr/>
            </p:nvSpPr>
            <p:spPr bwMode="auto">
              <a:xfrm>
                <a:off x="8459928" y="4428352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2" name="Rectangle 50"/>
              <p:cNvSpPr>
                <a:spLocks noChangeArrowheads="1"/>
              </p:cNvSpPr>
              <p:nvPr/>
            </p:nvSpPr>
            <p:spPr bwMode="auto">
              <a:xfrm>
                <a:off x="8459928" y="4354782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3" name="Rectangle 51"/>
              <p:cNvSpPr>
                <a:spLocks noChangeArrowheads="1"/>
              </p:cNvSpPr>
              <p:nvPr/>
            </p:nvSpPr>
            <p:spPr bwMode="auto">
              <a:xfrm>
                <a:off x="8459928" y="4278326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4" name="Rectangle 52"/>
              <p:cNvSpPr>
                <a:spLocks noChangeArrowheads="1"/>
              </p:cNvSpPr>
              <p:nvPr/>
            </p:nvSpPr>
            <p:spPr bwMode="auto">
              <a:xfrm>
                <a:off x="8459928" y="4201870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5" name="Rectangle 53"/>
              <p:cNvSpPr>
                <a:spLocks noChangeArrowheads="1"/>
              </p:cNvSpPr>
              <p:nvPr/>
            </p:nvSpPr>
            <p:spPr bwMode="auto">
              <a:xfrm>
                <a:off x="8459928" y="4124694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</p:grpSp>
        <p:sp>
          <p:nvSpPr>
            <p:cNvPr id="5" name="TextBox 59"/>
            <p:cNvSpPr>
              <a:spLocks noChangeArrowheads="1"/>
            </p:cNvSpPr>
            <p:nvPr/>
          </p:nvSpPr>
          <p:spPr bwMode="auto">
            <a:xfrm flipH="1">
              <a:off x="-9050" y="4652477"/>
              <a:ext cx="3455807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/>
                  <a:ea typeface="宋体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9pPr>
            </a:lstStyle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5400" b="1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David"/>
                </a:rPr>
                <a:t>CONTENTS </a:t>
              </a:r>
              <a:endParaRPr/>
            </a:p>
          </p:txBody>
        </p:sp>
      </p:grpSp>
      <p:sp>
        <p:nvSpPr>
          <p:cNvPr id="409891651" name="Oval 4"/>
          <p:cNvSpPr/>
          <p:nvPr/>
        </p:nvSpPr>
        <p:spPr bwMode="auto">
          <a:xfrm>
            <a:off x="6330931" y="107559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1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608151360" name="Oval 4"/>
          <p:cNvSpPr/>
          <p:nvPr/>
        </p:nvSpPr>
        <p:spPr bwMode="auto">
          <a:xfrm>
            <a:off x="6330931" y="225417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2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971341467" name="Oval 4"/>
          <p:cNvSpPr/>
          <p:nvPr/>
        </p:nvSpPr>
        <p:spPr bwMode="auto">
          <a:xfrm>
            <a:off x="6330931" y="343275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3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700091836" name="Text Box 17"/>
          <p:cNvSpPr txBox="1">
            <a:spLocks noChangeArrowheads="1"/>
          </p:cNvSpPr>
          <p:nvPr/>
        </p:nvSpPr>
        <p:spPr bwMode="auto">
          <a:xfrm>
            <a:off x="7244083" y="1157893"/>
            <a:ext cx="3193305" cy="579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  <p:sp>
        <p:nvSpPr>
          <p:cNvPr id="64171681" name="Text Box 17"/>
          <p:cNvSpPr txBox="1">
            <a:spLocks noChangeArrowheads="1"/>
          </p:cNvSpPr>
          <p:nvPr/>
        </p:nvSpPr>
        <p:spPr bwMode="auto">
          <a:xfrm flipH="0" flipV="0">
            <a:off x="7215226" y="2380492"/>
            <a:ext cx="4155643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投影子空间视角</a:t>
            </a:r>
            <a:endParaRPr/>
          </a:p>
        </p:txBody>
      </p:sp>
      <p:sp>
        <p:nvSpPr>
          <p:cNvPr id="1945264527" name="Text Box 17"/>
          <p:cNvSpPr txBox="1">
            <a:spLocks noChangeArrowheads="1"/>
          </p:cNvSpPr>
          <p:nvPr/>
        </p:nvSpPr>
        <p:spPr bwMode="auto">
          <a:xfrm flipH="0" flipV="0">
            <a:off x="7215226" y="3636138"/>
            <a:ext cx="4168716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  <p:sp>
        <p:nvSpPr>
          <p:cNvPr id="664367670" name="Oval 4"/>
          <p:cNvSpPr/>
          <p:nvPr/>
        </p:nvSpPr>
        <p:spPr bwMode="auto">
          <a:xfrm>
            <a:off x="6359788" y="4643491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Arial"/>
              </a:rPr>
              <a:t>4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Arial"/>
            </a:endParaRPr>
          </a:p>
        </p:txBody>
      </p:sp>
      <p:sp>
        <p:nvSpPr>
          <p:cNvPr id="968231583" name="Text Box 17"/>
          <p:cNvSpPr txBox="1">
            <a:spLocks noChangeArrowheads="1"/>
          </p:cNvSpPr>
          <p:nvPr/>
        </p:nvSpPr>
        <p:spPr bwMode="auto">
          <a:xfrm flipH="0" flipV="0">
            <a:off x="7244083" y="4846872"/>
            <a:ext cx="4184915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599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验证和复现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00245988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782445533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72983156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800304686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219117379" name="矩形 7"/>
          <p:cNvSpPr/>
          <p:nvPr/>
        </p:nvSpPr>
        <p:spPr bwMode="auto">
          <a:xfrm>
            <a:off x="1630065" y="3046550"/>
            <a:ext cx="3856889" cy="1200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01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1195672285" name="矩形 8"/>
          <p:cNvSpPr/>
          <p:nvPr/>
        </p:nvSpPr>
        <p:spPr bwMode="auto">
          <a:xfrm>
            <a:off x="5959117" y="2875001"/>
            <a:ext cx="4923919" cy="1097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9044357" name=""/>
          <p:cNvSpPr txBox="1"/>
          <p:nvPr/>
        </p:nvSpPr>
        <p:spPr bwMode="auto">
          <a:xfrm rot="0" flipH="0" flipV="0">
            <a:off x="667081" y="3312033"/>
            <a:ext cx="2940091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ic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1623164439" name=""/>
          <p:cNvSpPr txBox="1"/>
          <p:nvPr/>
        </p:nvSpPr>
        <p:spPr bwMode="auto">
          <a:xfrm rot="0" flipH="0" flipV="0">
            <a:off x="5144874" y="4036211"/>
            <a:ext cx="1777614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JW 映射</a:t>
            </a:r>
            <a:endParaRPr/>
          </a:p>
        </p:txBody>
      </p:sp>
      <p:sp>
        <p:nvSpPr>
          <p:cNvPr id="1973936980" name=""/>
          <p:cNvSpPr txBox="1"/>
          <p:nvPr/>
        </p:nvSpPr>
        <p:spPr bwMode="auto">
          <a:xfrm rot="0" flipH="0" flipV="0">
            <a:off x="7940719" y="3183732"/>
            <a:ext cx="3131274" cy="5972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632965487" name=""/>
          <p:cNvSpPr txBox="1"/>
          <p:nvPr/>
        </p:nvSpPr>
        <p:spPr bwMode="auto">
          <a:xfrm rot="0" flipH="0" flipV="0">
            <a:off x="-244488" y="935901"/>
            <a:ext cx="5190223" cy="7282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378860145" name=""/>
          <p:cNvSpPr txBox="1"/>
          <p:nvPr/>
        </p:nvSpPr>
        <p:spPr bwMode="auto">
          <a:xfrm rot="0" flipH="0" flipV="0">
            <a:off x="7387520" y="1056576"/>
            <a:ext cx="4679072" cy="37722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269552374" name=""/>
          <p:cNvSpPr/>
          <p:nvPr/>
        </p:nvSpPr>
        <p:spPr bwMode="auto">
          <a:xfrm rot="0" flipH="0" flipV="0">
            <a:off x="9370909" y="1730099"/>
            <a:ext cx="294409" cy="12832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63111652" name=""/>
          <p:cNvSpPr/>
          <p:nvPr/>
        </p:nvSpPr>
        <p:spPr bwMode="auto">
          <a:xfrm rot="0" flipH="0" flipV="0">
            <a:off x="3628491" y="3361134"/>
            <a:ext cx="4312227" cy="347500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6759792" name=""/>
          <p:cNvSpPr/>
          <p:nvPr/>
        </p:nvSpPr>
        <p:spPr bwMode="auto">
          <a:xfrm rot="0" flipH="0" flipV="0">
            <a:off x="4348636" y="1149940"/>
            <a:ext cx="3099954" cy="190499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85241593" name=""/>
          <p:cNvSpPr/>
          <p:nvPr/>
        </p:nvSpPr>
        <p:spPr bwMode="auto">
          <a:xfrm rot="0" flipH="0" flipV="0">
            <a:off x="1924090" y="1816690"/>
            <a:ext cx="242454" cy="1196672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21043372" name=""/>
          <p:cNvSpPr txBox="1"/>
          <p:nvPr/>
        </p:nvSpPr>
        <p:spPr bwMode="auto">
          <a:xfrm rot="0" flipH="0" flipV="0">
            <a:off x="1095736" y="399038"/>
            <a:ext cx="189916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谱参数YBE的解</a:t>
            </a:r>
            <a:endParaRPr/>
          </a:p>
        </p:txBody>
      </p:sp>
      <p:sp>
        <p:nvSpPr>
          <p:cNvPr id="481677725" name=""/>
          <p:cNvSpPr txBox="1"/>
          <p:nvPr/>
        </p:nvSpPr>
        <p:spPr bwMode="auto">
          <a:xfrm rot="0" flipH="0" flipV="0">
            <a:off x="8712817" y="569781"/>
            <a:ext cx="16921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求解哈密顿</a:t>
            </a:r>
            <a:endParaRPr/>
          </a:p>
        </p:txBody>
      </p:sp>
      <p:sp>
        <p:nvSpPr>
          <p:cNvPr id="1370827455" name=""/>
          <p:cNvSpPr txBox="1"/>
          <p:nvPr/>
        </p:nvSpPr>
        <p:spPr bwMode="auto">
          <a:xfrm rot="0" flipH="0" flipV="0">
            <a:off x="728035" y="3777803"/>
            <a:ext cx="322560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调整门电压实现的各种操作</a:t>
            </a:r>
            <a:endParaRPr/>
          </a:p>
        </p:txBody>
      </p:sp>
      <p:sp>
        <p:nvSpPr>
          <p:cNvPr id="1685259674" name=""/>
          <p:cNvSpPr txBox="1"/>
          <p:nvPr/>
        </p:nvSpPr>
        <p:spPr bwMode="auto">
          <a:xfrm rot="0" flipH="0" flipV="0">
            <a:off x="8504999" y="3847078"/>
            <a:ext cx="3152629" cy="3782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pauli张量积</a:t>
            </a:r>
            <a:r>
              <a:rPr lang="en-US"/>
              <a:t>，二体算符表示</a:t>
            </a:r>
            <a:endParaRPr/>
          </a:p>
        </p:txBody>
      </p:sp>
      <p:sp>
        <p:nvSpPr>
          <p:cNvPr id="32270426" name=""/>
          <p:cNvSpPr/>
          <p:nvPr/>
        </p:nvSpPr>
        <p:spPr bwMode="auto">
          <a:xfrm rot="0" flipH="0" flipV="0">
            <a:off x="9575203" y="4287468"/>
            <a:ext cx="121227" cy="1150439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88786729" name=""/>
          <p:cNvSpPr txBox="1"/>
          <p:nvPr/>
        </p:nvSpPr>
        <p:spPr bwMode="auto">
          <a:xfrm rot="0" flipH="0" flipV="0">
            <a:off x="7250104" y="5474982"/>
            <a:ext cx="477430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⋅σ+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312491788" name=""/>
          <p:cNvSpPr txBox="1"/>
          <p:nvPr/>
        </p:nvSpPr>
        <p:spPr bwMode="auto">
          <a:xfrm rot="0" flipH="0" flipV="0">
            <a:off x="8163768" y="5994526"/>
            <a:ext cx="3447640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投影子空间上的SU(2)表示+偏移</a:t>
            </a:r>
            <a:endParaRPr/>
          </a:p>
        </p:txBody>
      </p:sp>
      <p:sp>
        <p:nvSpPr>
          <p:cNvPr id="1643944489" name=""/>
          <p:cNvSpPr/>
          <p:nvPr/>
        </p:nvSpPr>
        <p:spPr bwMode="auto">
          <a:xfrm rot="0" flipH="0" flipV="0">
            <a:off x="1924090" y="4329545"/>
            <a:ext cx="45720" cy="11083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87365333" name=""/>
          <p:cNvSpPr txBox="1"/>
          <p:nvPr/>
        </p:nvSpPr>
        <p:spPr bwMode="auto">
          <a:xfrm rot="0" flipH="0" flipV="0">
            <a:off x="226869" y="5489861"/>
            <a:ext cx="346428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=iγ⋅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δ⋅γ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+iϵ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668628655" name=""/>
          <p:cNvSpPr txBox="1"/>
          <p:nvPr/>
        </p:nvSpPr>
        <p:spPr bwMode="auto">
          <a:xfrm rot="0" flipH="0" flipV="0">
            <a:off x="1095735" y="5994526"/>
            <a:ext cx="3470360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bloch球</a:t>
            </a:r>
            <a:r>
              <a:rPr lang="en-US"/>
              <a:t>+相位累积</a:t>
            </a:r>
            <a:endParaRPr/>
          </a:p>
        </p:txBody>
      </p:sp>
      <p:sp>
        <p:nvSpPr>
          <p:cNvPr id="1714303833" name=""/>
          <p:cNvSpPr txBox="1"/>
          <p:nvPr/>
        </p:nvSpPr>
        <p:spPr bwMode="auto">
          <a:xfrm rot="0" flipH="0" flipV="0">
            <a:off x="140317" y="1909954"/>
            <a:ext cx="725885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accent2"/>
                </a:solidFill>
              </a:rPr>
              <a:t>论文路线</a:t>
            </a:r>
            <a:endParaRPr/>
          </a:p>
        </p:txBody>
      </p:sp>
      <p:sp>
        <p:nvSpPr>
          <p:cNvPr id="1974423776" name=""/>
          <p:cNvSpPr txBox="1"/>
          <p:nvPr/>
        </p:nvSpPr>
        <p:spPr bwMode="auto">
          <a:xfrm rot="0" flipH="0" flipV="0">
            <a:off x="11225413" y="1909954"/>
            <a:ext cx="864430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rgbClr val="7030A0"/>
                </a:solidFill>
              </a:rPr>
              <a:t>模型路线</a:t>
            </a:r>
            <a:endParaRPr/>
          </a:p>
        </p:txBody>
      </p:sp>
      <p:sp>
        <p:nvSpPr>
          <p:cNvPr id="920359157" name=""/>
          <p:cNvSpPr txBox="1"/>
          <p:nvPr/>
        </p:nvSpPr>
        <p:spPr bwMode="auto">
          <a:xfrm rot="0" flipH="0" flipV="0">
            <a:off x="4868181" y="1543834"/>
            <a:ext cx="205430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在路径上编织</a:t>
            </a:r>
            <a:endParaRPr/>
          </a:p>
        </p:txBody>
      </p:sp>
      <p:sp>
        <p:nvSpPr>
          <p:cNvPr id="1502239913" name=""/>
          <p:cNvSpPr txBox="1"/>
          <p:nvPr/>
        </p:nvSpPr>
        <p:spPr bwMode="auto">
          <a:xfrm rot="0" flipH="0" flipV="0">
            <a:off x="4560293" y="141111"/>
            <a:ext cx="2946775" cy="4679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>
                <a:solidFill>
                  <a:srgbClr val="00B050"/>
                </a:solidFill>
              </a:rPr>
              <a:t>1.非阿贝尔操作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3125192" name=""/>
          <p:cNvSpPr txBox="1"/>
          <p:nvPr/>
        </p:nvSpPr>
        <p:spPr bwMode="auto">
          <a:xfrm rot="0" flipH="0" flipV="0">
            <a:off x="4128543" y="822210"/>
            <a:ext cx="4077464" cy="4159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子空间代数封闭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↔是否存在传播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1432760618" name=""/>
          <p:cNvSpPr txBox="1"/>
          <p:nvPr/>
        </p:nvSpPr>
        <p:spPr bwMode="auto">
          <a:xfrm rot="0" flipH="0" flipV="0">
            <a:off x="4618648" y="2832708"/>
            <a:ext cx="3128208" cy="10148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schur补为0,没有虚跃迁</a:t>
            </a:r>
            <a:endParaRPr lang="en-US" sz="2000"/>
          </a:p>
          <a:p>
            <a:pPr>
              <a:defRPr/>
            </a:pPr>
            <a:r>
              <a:rPr lang="en-US" sz="2000"/>
              <a:t>用传播的思路描述非阿贝尔过程</a:t>
            </a:r>
            <a:endParaRPr sz="2000"/>
          </a:p>
        </p:txBody>
      </p:sp>
      <p:sp>
        <p:nvSpPr>
          <p:cNvPr id="1192020407" name=""/>
          <p:cNvSpPr/>
          <p:nvPr/>
        </p:nvSpPr>
        <p:spPr bwMode="auto">
          <a:xfrm rot="0" flipH="0" flipV="0">
            <a:off x="6051902" y="1333739"/>
            <a:ext cx="88194" cy="1040694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06428238" name=""/>
          <p:cNvSpPr/>
          <p:nvPr/>
        </p:nvSpPr>
        <p:spPr bwMode="auto">
          <a:xfrm rot="19205843" flipH="0" flipV="0">
            <a:off x="4013489" y="4281748"/>
            <a:ext cx="1571254" cy="211666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47889299" name=""/>
          <p:cNvSpPr txBox="1"/>
          <p:nvPr/>
        </p:nvSpPr>
        <p:spPr bwMode="auto">
          <a:xfrm rot="0" flipH="0" flipV="0">
            <a:off x="1383283" y="5046066"/>
            <a:ext cx="3774955" cy="10235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green函数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-&gt;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schur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 complement</a:t>
            </a:r>
            <a:endParaRPr sz="2000"/>
          </a:p>
          <a:p>
            <a:pPr>
              <a:defRPr/>
            </a:pPr>
            <a:r>
              <a:rPr sz="2000"/>
              <a:t>讨论schur补如何影响非阿贝尔性</a:t>
            </a:r>
            <a:endParaRPr/>
          </a:p>
        </p:txBody>
      </p:sp>
      <p:sp>
        <p:nvSpPr>
          <p:cNvPr id="1365510950" name=""/>
          <p:cNvSpPr/>
          <p:nvPr/>
        </p:nvSpPr>
        <p:spPr bwMode="auto">
          <a:xfrm rot="13110890" flipH="0" flipV="0">
            <a:off x="6705100" y="4304443"/>
            <a:ext cx="1571254" cy="211665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37304055" name=""/>
          <p:cNvSpPr txBox="1"/>
          <p:nvPr/>
        </p:nvSpPr>
        <p:spPr bwMode="auto">
          <a:xfrm rot="0" flipH="0" flipV="0">
            <a:off x="6674952" y="5046066"/>
            <a:ext cx="4176208" cy="710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用pauli张量积的哈密顿模型代入</a:t>
            </a:r>
            <a:endParaRPr sz="2000"/>
          </a:p>
          <a:p>
            <a:pPr>
              <a:defRPr/>
            </a:pPr>
            <a:r>
              <a:rPr sz="2000"/>
              <a:t>得到具体计算模型</a:t>
            </a:r>
            <a:endParaRPr/>
          </a:p>
        </p:txBody>
      </p:sp>
      <p:sp>
        <p:nvSpPr>
          <p:cNvPr id="798589037" name=""/>
          <p:cNvSpPr txBox="1"/>
          <p:nvPr/>
        </p:nvSpPr>
        <p:spPr bwMode="auto">
          <a:xfrm rot="0" flipH="0" flipV="0">
            <a:off x="4449034" y="244270"/>
            <a:ext cx="4169616" cy="4993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>
                <a:solidFill>
                  <a:srgbClr val="00B050"/>
                </a:solidFill>
              </a:rPr>
              <a:t>2.量化非阿贝尔性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6041783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9"/>
            <a:ext cx="5516880" cy="1717040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85372275" name="组合 15"/>
          <p:cNvGrpSpPr/>
          <p:nvPr/>
        </p:nvGrpSpPr>
        <p:grpSpPr bwMode="auto">
          <a:xfrm>
            <a:off x="0" y="2529839"/>
            <a:ext cx="12192000" cy="1757680"/>
            <a:chOff x="0" y="2529839"/>
            <a:chExt cx="12192000" cy="1757680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2" name="矩形 1"/>
            <p:cNvSpPr/>
            <p:nvPr/>
          </p:nvSpPr>
          <p:spPr bwMode="auto">
            <a:xfrm>
              <a:off x="0" y="2529839"/>
              <a:ext cx="5516880" cy="1717040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3" name="矩形 12"/>
            <p:cNvSpPr/>
            <p:nvPr/>
          </p:nvSpPr>
          <p:spPr bwMode="auto">
            <a:xfrm>
              <a:off x="11348720" y="2529839"/>
              <a:ext cx="843280" cy="1757680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317813374" name="矩形 7"/>
          <p:cNvSpPr/>
          <p:nvPr/>
        </p:nvSpPr>
        <p:spPr bwMode="auto">
          <a:xfrm>
            <a:off x="1630065" y="3046550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02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446919764" name="矩形 8"/>
          <p:cNvSpPr/>
          <p:nvPr/>
        </p:nvSpPr>
        <p:spPr bwMode="auto">
          <a:xfrm flipH="0" flipV="0">
            <a:off x="5516876" y="2912369"/>
            <a:ext cx="5742827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338883" name="矩形 29"/>
          <p:cNvSpPr/>
          <p:nvPr/>
        </p:nvSpPr>
        <p:spPr bwMode="auto">
          <a:xfrm>
            <a:off x="1893060" y="412751"/>
            <a:ext cx="841523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模型改进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759490438" name=""/>
          <p:cNvSpPr txBox="1"/>
          <p:nvPr/>
        </p:nvSpPr>
        <p:spPr bwMode="auto">
          <a:xfrm rot="0" flipH="0" flipV="0">
            <a:off x="711817" y="1697181"/>
            <a:ext cx="11554063" cy="390470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上一次的模型</a:t>
            </a:r>
            <a:r>
              <a:rPr lang="en-US" sz="2200"/>
              <a:t>:</a:t>
            </a:r>
            <a:endParaRPr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R=exp(iH)</m:t>
                      </m:r>
                    </m:oMath>
                  </m:oMathPara>
                </a14:m>
              </mc:Choice>
              <mc:Fallback/>
            </mc:AlternateContent>
            <a:endParaRPr lang="en-US" sz="22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a:r>
              <a:rPr sz="2200"/>
              <a:t>存在如下问题</a:t>
            </a:r>
            <a:r>
              <a:rPr lang="en-US" sz="2200"/>
              <a:t>, 这是一个代数模型，对应的可以认为是一个静态的解，并不能符合一般都物理算符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U=T ∫</m:t>
                      </m:r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iH(s)ds</m:t>
                      </m:r>
                    </m:oMath>
                  </m:oMathPara>
                </a14:m>
              </mc:Choice>
              <mc:Fallback/>
            </mc:AlternateContent>
            <a:r>
              <a:rPr lang="en-US" sz="2200"/>
              <a:t> （T:路径有序算符）. 所以沿着时间路径演化对应的R应该看作一系列静态的组合，是对应的一族的解。</a:t>
            </a:r>
            <a:endParaRPr lang="en-US" sz="2200"/>
          </a:p>
          <a:p>
            <a:pPr>
              <a:defRPr/>
            </a:pPr>
            <a:endParaRPr lang="en-US" sz="2200"/>
          </a:p>
          <a:p>
            <a:pPr>
              <a:defRPr/>
            </a:pPr>
            <a:r>
              <a:rPr lang="en-US" sz="2200"/>
              <a:t>所以考虑带有谱参数的Yang Baxter方程: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348981" name=""/>
          <p:cNvSpPr txBox="1"/>
          <p:nvPr/>
        </p:nvSpPr>
        <p:spPr bwMode="auto">
          <a:xfrm rot="0" flipH="0" flipV="0">
            <a:off x="642545" y="831272"/>
            <a:ext cx="11031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891099904" name=""/>
          <p:cNvSpPr txBox="1"/>
          <p:nvPr/>
        </p:nvSpPr>
        <p:spPr bwMode="auto">
          <a:xfrm rot="0" flipH="0" flipV="0">
            <a:off x="798408" y="1264226"/>
            <a:ext cx="10292676" cy="53658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在引入了谱参数后</a:t>
            </a:r>
            <a:r>
              <a:rPr lang="en-US" sz="2000"/>
              <a:t>，把谱参数看作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， 则谱参数的变化就体现了时间上的演化。进一步可以把R(u)和哈密顿写为： 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b="0"/>
              <a:t>表示路径有序</a:t>
            </a:r>
            <a:r>
              <a:rPr lang="en-US" b="0"/>
              <a:t>,因为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,H(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)]≠0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可以得到生成元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：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使用pauli张量积表示为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非阿贝尔性不在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本身,而在本征态随 u 的变化结构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=i〈m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n(u)〉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209804" name=""/>
          <p:cNvSpPr txBox="1"/>
          <p:nvPr/>
        </p:nvSpPr>
        <p:spPr bwMode="auto">
          <a:xfrm rot="0" flipH="0" flipV="0">
            <a:off x="573271" y="1091044"/>
            <a:ext cx="11540873" cy="49635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参考论文的观点</a:t>
            </a:r>
            <a:r>
              <a:rPr lang="en-US" sz="2000"/>
              <a:t>，把演化写成几何项和动力学的额外项乘积：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-i∫E(t)dt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表示了几何项这个非阿贝尔演化: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∫A(u)du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/>
              <a:t>或者更直观的: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-iθ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能谱用来区分 MZM 与 ABS</a:t>
            </a:r>
            <a:r>
              <a:rPr lang="en-US" sz="2000"/>
              <a:t>：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MZM: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E≈0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且受拓扑/局域性保护；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ABS: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 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（或仅在有限系统中近似零能）；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trivial: 有较大能隙，无零模。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1359051234" name=""/>
          <p:cNvSpPr txBox="1"/>
          <p:nvPr/>
        </p:nvSpPr>
        <p:spPr bwMode="auto">
          <a:xfrm rot="0" flipH="0" flipV="0">
            <a:off x="548610" y="5344583"/>
            <a:ext cx="1061249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如果要将之前的YBE的解</a:t>
            </a:r>
            <a:r>
              <a:rPr lang="en-US"/>
              <a:t>R(u)和具有braid项和动力学项的形式的算符联系起来,可以考虑以下变换: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73725" name=""/>
          <p:cNvSpPr txBox="1"/>
          <p:nvPr/>
        </p:nvSpPr>
        <p:spPr bwMode="auto">
          <a:xfrm rot="0" flipH="0" flipV="0">
            <a:off x="53726" y="398317"/>
            <a:ext cx="12095966" cy="59156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定义本征态矩阵</a:t>
            </a:r>
            <a:r>
              <a:rPr lang="en-US" sz="2000"/>
              <a:t>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=(|1(u)〉,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|2(u)〉...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1800"/>
              <a:t>有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(u)|n(u)〉</m:t>
                      </m:r>
                    </m:oMath>
                  </m:oMathPara>
                </a14:m>
              </mc:Choice>
              <mc:Fallback/>
            </mc:AlternateContent>
            <a:endParaRPr lang="en-US" sz="1800"/>
          </a:p>
          <a:p>
            <a:pPr>
              <a:defRPr/>
            </a:pPr>
            <a:r>
              <a:rPr lang="en-US" sz="1800"/>
              <a:t>根据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则有瞬时本征分解：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=V(u)E(u)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diag{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(u),...}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把任意态写成本征基的展开：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|"/>
                          <m:endChr m:val="|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〉=V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</m:d>
                      <m:acc>
                        <m:accPr>
                          <m:chr m:val="̃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代入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|ψ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〉=H(u)|ψ(u)〉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左</a:t>
            </a:r>
            <a:r>
              <a:rPr lang="en-US"/>
              <a:t>乘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,: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V)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E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移项得到: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E-A</m:t>
                          </m:r>
                        </m:e>
                      </m:d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, 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/>
              <a:t>生成元为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E-A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5517302" name=""/>
          <p:cNvSpPr txBox="1"/>
          <p:nvPr/>
        </p:nvSpPr>
        <p:spPr bwMode="auto">
          <a:xfrm rot="0" flipH="0" flipV="0">
            <a:off x="330817" y="727362"/>
            <a:ext cx="11838675" cy="45120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在简并子空间</a:t>
            </a:r>
            <a:r>
              <a:rPr lang="en-US" sz="2000"/>
              <a:t>S上投影: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a∈S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|a(u)〉〈a(u)|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=P(u)H(u)P(u)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表示能谱(对角),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为berry connection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非阿贝尔性产生的来源:</a:t>
            </a:r>
            <a:endParaRPr lang="en-US" sz="2000"/>
          </a:p>
          <a:p>
            <a:pPr>
              <a:defRPr/>
            </a:pPr>
            <a:r>
              <a:rPr lang="en-US" sz="2000"/>
              <a:t>1,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,参考下面的推导,否则出现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2,</a:t>
            </a:r>
            <a:r>
              <a:rPr sz="1900" b="0" i="1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子空间内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〈a|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|b〉≠0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,否则所有项都是对角,是abel</a:t>
            </a:r>
            <a:endParaRPr lang="en-US" sz="2000"/>
          </a:p>
          <a:p>
            <a:pPr>
              <a:defRPr/>
            </a:pPr>
            <a:r>
              <a:rPr lang="en-US" sz="2000"/>
              <a:t>3,路径非对易,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(u)]≠0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678487" name=""/>
          <p:cNvSpPr txBox="1"/>
          <p:nvPr/>
        </p:nvSpPr>
        <p:spPr bwMode="auto">
          <a:xfrm rot="0" flipH="0" flipV="0">
            <a:off x="566248" y="811387"/>
            <a:ext cx="10854397" cy="13547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总演化算符: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U(u)=V(u) exp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</m:t>
                          </m:r>
                          <m:nary>
                            <m:naryPr>
                              <m:grow m:val="off"/>
                              <m:limLoc m:val="undOv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-A(s)ds</m:t>
                              </m:r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</p:txBody>
      </p:sp>
      <p:sp>
        <p:nvSpPr>
          <p:cNvPr id="74227923" name=""/>
          <p:cNvSpPr txBox="1"/>
          <p:nvPr/>
        </p:nvSpPr>
        <p:spPr bwMode="auto">
          <a:xfrm rot="0" flipH="0" flipV="0">
            <a:off x="566248" y="2434166"/>
            <a:ext cx="10768006" cy="11477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分离条件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(在下面推导)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：只有当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[D(s),A(s')]=0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（例如在本征基下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为对角）或在严格绝热极限（跨本征的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≪|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下，动力学因子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与几何因子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(路径有序)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可近似分离为产物形式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854568872" name=""/>
          <p:cNvSpPr txBox="1"/>
          <p:nvPr/>
        </p:nvSpPr>
        <p:spPr bwMode="auto">
          <a:xfrm rot="0" flipH="0" flipV="0">
            <a:off x="707360" y="3986388"/>
            <a:ext cx="10313718" cy="14857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如果想要消去动力学项的影响</a:t>
            </a:r>
            <a:r>
              <a:rPr lang="en-US"/>
              <a:t>,也就是退化成全局相位,由上式容易得到: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/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83577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60030" y="-51954"/>
            <a:ext cx="11386325" cy="6909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5932303" name=""/>
          <p:cNvSpPr txBox="1"/>
          <p:nvPr/>
        </p:nvSpPr>
        <p:spPr bwMode="auto">
          <a:xfrm rot="0" flipH="0" flipV="0">
            <a:off x="336942" y="370414"/>
            <a:ext cx="11815552" cy="1295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下面通过引入一个简单的例子</a:t>
            </a:r>
            <a:r>
              <a:rPr lang="en-US" sz="2000"/>
              <a:t>,说明把现在的pauli张量积投影到子空间后,会呈现出简单的SU(2)群结构.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选取子空间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span{|01〉,|10〉}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以后将此空间记作逻辑子空间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logical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=spac{|</m:t>
                      </m:r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〉,|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〉}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/>
              <a:t>下面的具体模型都会选择用逻辑子空间为例.</a:t>
            </a:r>
            <a:r>
              <a:rPr lang="zh-CN" sz="18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若改变基序或对本征向量做非平凡局部相位变换，矩阵表示会相应改变。</a:t>
            </a:r>
            <a:endParaRPr/>
          </a:p>
        </p:txBody>
      </p:sp>
      <p:sp>
        <p:nvSpPr>
          <p:cNvPr id="963081562" name=""/>
          <p:cNvSpPr txBox="1"/>
          <p:nvPr/>
        </p:nvSpPr>
        <p:spPr bwMode="auto">
          <a:xfrm rot="0" flipH="0" flipV="0">
            <a:off x="446187" y="1763887"/>
            <a:ext cx="11519665" cy="33245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Y=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Z=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,YY,ZZ等同理 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,利用张量积运算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A⊗B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C⊗D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=(A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C)⊗(B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|01〉=(X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|0〉)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|1〉)=|1〉⊗|0〉=|10〉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也就是说这里XX</a:t>
            </a:r>
            <a:r>
              <a:rPr sz="2000">
                <a:latin typeface="Arial"/>
                <a:ea typeface="Arial"/>
                <a:cs typeface="Arial"/>
              </a:rPr>
              <a:t>~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和X门作用一致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以及: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X⊗Z |01〉=|1〉⊗(-</m:t>
                      </m:r>
                      <m:d>
                        <m:dPr>
                          <m:begChr m:val="|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1〉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=-|11〉</m:t>
                      </m:r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,不在子空间.下面会记这种现象为泄漏,这里XZ投影后矩阵元在子空间里都是0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依次运算得到如下对照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: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graphicFrame>
        <p:nvGraphicFramePr>
          <p:cNvPr id="444302782" name=""/>
          <p:cNvGraphicFramePr>
            <a:graphicFrameLocks xmlns:a="http://schemas.openxmlformats.org/drawingml/2006/main"/>
          </p:cNvGraphicFramePr>
          <p:nvPr/>
        </p:nvGraphicFramePr>
        <p:xfrm rot="0">
          <a:off x="1591027" y="5419074"/>
          <a:ext cx="8127999" cy="109727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3600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二次积形式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投影后形式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I⊗X, I⊗Y,X⊗I,Y⊗I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X⊗Z, Z⊗X,Y⊗Z, Z⊗Y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468674123" name=""/>
          <p:cNvGraphicFramePr>
            <a:graphicFrameLocks xmlns:a="http://schemas.openxmlformats.org/drawingml/2006/main"/>
          </p:cNvGraphicFramePr>
          <p:nvPr/>
        </p:nvGraphicFramePr>
        <p:xfrm rot="0">
          <a:off x="2031999" y="1371600"/>
          <a:ext cx="8127999" cy="134608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4064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</a:t>
                      </a:r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682783" name=""/>
          <p:cNvSpPr txBox="1"/>
          <p:nvPr/>
        </p:nvSpPr>
        <p:spPr bwMode="auto">
          <a:xfrm rot="0" flipH="0" flipV="0">
            <a:off x="566248" y="793748"/>
            <a:ext cx="11326705" cy="59360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由于基底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{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I,σ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,也就是SU(2)基底的完备性,任何的2*2厄米矩阵都能在上面展开.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en-US" sz="2000"/>
              <a:t>,如果有哈密顿: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H=aXX+bYY+cXY+dZZ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在子空间表示下,等价于: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更一般的</a:t>
            </a:r>
            <a:r>
              <a:rPr lang="en-US" sz="2000"/>
              <a:t>,记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,具体为: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781228" name=""/>
          <p:cNvSpPr txBox="1"/>
          <p:nvPr/>
        </p:nvSpPr>
        <p:spPr bwMode="auto">
          <a:xfrm rot="0" flipH="0" flipV="0">
            <a:off x="866109" y="846666"/>
            <a:ext cx="10715099" cy="41204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取一般都哈密顿形式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 ∈ I,X,Y,Z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有如下对照:(严格推导参考文件append/s1.md)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/>
              <a:t>这样</a:t>
            </a:r>
            <a:r>
              <a:rPr lang="en-US"/>
              <a:t>,在逻辑子空间里面,张量积形式就等价为了SU(2)下,也就是可以描述为SU(2)旋转的形式.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181678" name=""/>
          <p:cNvSpPr txBox="1"/>
          <p:nvPr/>
        </p:nvSpPr>
        <p:spPr bwMode="auto">
          <a:xfrm rot="0" flipH="0" flipV="0">
            <a:off x="478055" y="723194"/>
            <a:ext cx="11148497" cy="9732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r>
              <a:rPr sz="2000"/>
              <a:t>的物理意义</a:t>
            </a:r>
            <a:r>
              <a:rPr lang="en-US" sz="2000"/>
              <a:t>: 在子空间里的演化对应着: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graphicFrame>
        <p:nvGraphicFramePr>
          <p:cNvPr id="2105734457" name=""/>
          <p:cNvGraphicFramePr>
            <a:graphicFrameLocks xmlns:a="http://schemas.openxmlformats.org/drawingml/2006/main"/>
          </p:cNvGraphicFramePr>
          <p:nvPr/>
        </p:nvGraphicFramePr>
        <p:xfrm rot="0">
          <a:off x="1255888" y="1442155"/>
          <a:ext cx="10052444" cy="1129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350814"/>
                <a:gridCol w="3350814"/>
                <a:gridCol w="3350814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分量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来源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作用</a:t>
                      </a:r>
                      <a:endParaRPr/>
                    </a:p>
                  </a:txBody>
                  <a:tcPr/>
                </a:tc>
              </a:tr>
              <a:tr h="35424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XX</a:t>
                      </a:r>
                      <a:r>
                        <a:rPr lang="en-US"/>
                        <a:t>, YY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几何旋转</a:t>
                      </a:r>
                      <a:r>
                        <a:rPr lang="en-US"/>
                        <a:t>,hopping/pairing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XY,YX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相位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ZI</a:t>
                      </a:r>
                      <a:r>
                        <a:rPr lang="en-US"/>
                        <a:t>,IZ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能量不对称,分裂等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04716423" name=""/>
          <p:cNvSpPr txBox="1"/>
          <p:nvPr/>
        </p:nvSpPr>
        <p:spPr bwMode="auto">
          <a:xfrm rot="0" flipH="0" flipV="0">
            <a:off x="425136" y="3280833"/>
            <a:ext cx="11754709" cy="30353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注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这里的判断是针对投影后的逻辑子空间低能演化，而不是直接给出整个链的全局拓扑结论。因为现在给出的都是子空间的瞬时的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,并不能代表全局.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具体分析各个分量的物理意义: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在逻辑子空间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把两个逻辑态互相翻转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;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也把两个逻辑态互相翻转，但带上相位；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直接在两个逻辑态之间引入能量差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050083" name=""/>
          <p:cNvSpPr txBox="1"/>
          <p:nvPr/>
        </p:nvSpPr>
        <p:spPr bwMode="auto">
          <a:xfrm rot="0" flipH="0" flipV="0">
            <a:off x="301665" y="617360"/>
            <a:ext cx="11819149" cy="59179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负责逻辑子空间里的“横向混合 / 旋转”，它们决定有效两能级的几何旋转方向；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负责逻辑子空间里的“纵向偏置”，它直接给态之间加上能量差。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将具体形式带入</a:t>
            </a:r>
            <a:r>
              <a:rPr lang="en-US" sz="2000"/>
              <a:t>,得到瞬时的本征值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 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总的能级分裂是：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ΔE=2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前文提到的退化为全局相位的条件是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在这里也可以表示成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056151" name=""/>
          <p:cNvSpPr txBox="1"/>
          <p:nvPr/>
        </p:nvSpPr>
        <p:spPr bwMode="auto">
          <a:xfrm rot="0" flipH="0" flipV="0">
            <a:off x="213472" y="458610"/>
            <a:ext cx="117827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427022425" name=""/>
          <p:cNvSpPr txBox="1"/>
          <p:nvPr/>
        </p:nvSpPr>
        <p:spPr bwMode="auto">
          <a:xfrm rot="0" flipH="0" flipV="0">
            <a:off x="213471" y="493884"/>
            <a:ext cx="11819867" cy="60180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具体示例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/>
              <a:t>取yang baxter的解的椭圆形式, eight vertex类型: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R(u)=</m:t>
                      </m:r>
                      <m:d>
                        <m:dPr>
                          <m:ctrlPr>
                            <a:rPr lang="en-US" sz="20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通过</a:t>
            </a: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得到哈密顿: (这里简化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+O(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,对小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展开)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sin</m:t>
                              </m:r>
                            </m:fName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func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YX-XY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(ZI-IZ)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矩阵形式: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-δ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瞬时能级的本征值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59976" name=""/>
          <p:cNvSpPr txBox="1"/>
          <p:nvPr/>
        </p:nvSpPr>
        <p:spPr bwMode="auto">
          <a:xfrm rot="0" flipH="0" flipV="0">
            <a:off x="160554" y="440970"/>
            <a:ext cx="11935418" cy="38773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在上述例子模型里面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所以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δ&gt;0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增大能量幅度并引入额外累积相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∫|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 dt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，改变重叠随 T 的行为。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如果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δ=0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对应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哈密顿量在 xy 平面，演化主要是平面旋转（几何/拓扑主导），对应理想化的 Majorana zero mode（MZM-like）在braiding中的行为 ,对 braiding time 不那么敏感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δ&gt;0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,在 z 方向出现分量，导致瞬时能级分裂（finite-energy），有局域 Andreev bound state（ABS）；这会产生额外的动力学相（dynamic phase），使最终重叠/门更依赖时间和参数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(这一部分会在最后面给出具体的结果,类比论文fig3-5的部分)</a:t>
            </a:r>
            <a:endParaRPr lang="en-US" sz="2000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9274608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763538710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1174096033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517643422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515590486" name="矩形 7"/>
          <p:cNvSpPr/>
          <p:nvPr/>
        </p:nvSpPr>
        <p:spPr bwMode="auto">
          <a:xfrm>
            <a:off x="1630064" y="3046549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03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1978430819" name="矩形 8"/>
          <p:cNvSpPr/>
          <p:nvPr/>
        </p:nvSpPr>
        <p:spPr bwMode="auto">
          <a:xfrm flipH="0" flipV="0">
            <a:off x="5516875" y="2912368"/>
            <a:ext cx="5778466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8935033" name=""/>
          <p:cNvSpPr txBox="1"/>
          <p:nvPr/>
        </p:nvSpPr>
        <p:spPr bwMode="auto">
          <a:xfrm rot="0" flipH="0" flipV="0">
            <a:off x="195831" y="352774"/>
            <a:ext cx="12026128" cy="640566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在前文我们提到了</a:t>
            </a:r>
            <a:r>
              <a:rPr lang="en-US" sz="2000"/>
              <a:t>,非阿贝尔braid变换应该是在子空间流形内部的几何旋转,对应的哈密顿写成了bloch+相位累积的形式.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同时我们之前讨论的演化一直存在于这个简并流形里面</a:t>
            </a:r>
            <a:r>
              <a:rPr lang="en-US" sz="2000"/>
              <a:t>.</a:t>
            </a:r>
            <a:r>
              <a:rPr lang="en-US" sz="2000"/>
              <a:t>正如braid的本质是holonomy on ground state,产生berry holonmy需要演化始终在一个低能流形里面.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但是如果考虑如下形式: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=PHP, ... </m:t>
                      </m:r>
                    </m:oMath>
                  </m:oMathPara>
                </a14:m>
              </mc:Choice>
              <mc:Fallback/>
            </mc:AlternateContent>
            <a:r>
              <a:rPr sz="2000"/>
              <a:t>投影算符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, 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=Q, P+Q=I, PQ=QP=0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其中,Hilbert空间</a:t>
            </a:r>
            <a:r>
              <a:rPr lang="en-US" sz="2000"/>
              <a:t>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V=(P⊕Q)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×(P⊕Q)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, P为逻辑子空间</a:t>
            </a:r>
            <a:r>
              <a:rPr lang="en-US" sz="2000"/>
              <a:t>,Q为其正交补空间</a:t>
            </a:r>
            <a:endParaRPr sz="2000"/>
          </a:p>
          <a:p>
            <a:pPr>
              <a:defRPr/>
            </a:pPr>
            <a:r>
              <a:rPr lang="en-US" sz="2000"/>
              <a:t>如果对应的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也就是没有直接的跃迁,即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PHQ≠0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 sz="2000"/>
              <a:t>演化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R: V → V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就出现了 P-&gt;Q的这样的泄漏情况.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leakage使 non-Abelian braid 从“纯几何拓扑过程”退化成“普通动力学过程”</a:t>
            </a:r>
            <a:r>
              <a:rPr lang="en-US" sz="2000" b="1"/>
              <a:t>,</a:t>
            </a:r>
            <a:r>
              <a:rPr lang="en-US" sz="2000" b="0"/>
              <a:t>因为这会导致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Berry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leak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2000" b="0"/>
              <a:t>不再满足yang</a:t>
            </a:r>
            <a:r>
              <a:rPr lang="en-US" sz="2000" b="0"/>
              <a:t> baxter 方程,</a:t>
            </a:r>
            <a:endParaRPr sz="2000" b="0"/>
          </a:p>
          <a:p>
            <a:pPr>
              <a:defRPr/>
            </a:pPr>
            <a:endParaRPr sz="2000" b="1"/>
          </a:p>
          <a:p>
            <a:pPr>
              <a:defRPr/>
            </a:pPr>
            <a:endParaRPr sz="20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775487" name=""/>
          <p:cNvSpPr txBox="1"/>
          <p:nvPr/>
        </p:nvSpPr>
        <p:spPr bwMode="auto">
          <a:xfrm rot="0" flipH="0" flipV="0">
            <a:off x="107637" y="423333"/>
            <a:ext cx="11921007" cy="60352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因此</a:t>
            </a:r>
            <a:r>
              <a:rPr lang="en-US" sz="2000"/>
              <a:t>,我们可以通过判断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PHP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是否闭合,也就是是否满足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PHQ=QHP=0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如果满足,则有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因此我们的演化后的算符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RP ∈P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或者描述为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logical manifold不与bulk混合。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如果发生了泄漏,为了描述这个过程,下面引入Green函数:</a:t>
            </a: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定义resolvent：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z-H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其中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z∈C ,  z=E+iη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Green函数和路径的关系表示为下面的Laplace对偶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∞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du 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izu</m:t>
                              </m:r>
                            </m:sup>
                          </m:s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R(u)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Green~逆矩阵,接下来引入schur补的概念来辅助描述P-&gt;Q的过程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2499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6069" y="376129"/>
            <a:ext cx="11819860" cy="61057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8096" name=""/>
          <p:cNvSpPr txBox="1"/>
          <p:nvPr/>
        </p:nvSpPr>
        <p:spPr bwMode="auto">
          <a:xfrm rot="0" flipH="0" flipV="0">
            <a:off x="178193" y="388054"/>
            <a:ext cx="11968902" cy="58311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Green函数: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G(z)=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满足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z-H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即: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sz="2000"/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sz="2000"/>
              <a:t>引入schur</a:t>
            </a:r>
            <a:r>
              <a:rPr lang="en-US" sz="2000"/>
              <a:t> complement的概念,得到: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PP</m:t>
                                  </m:r>
                                </m:sub>
                              </m:s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-Σ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对应的物理意义为:</a:t>
            </a:r>
            <a:r>
              <a:rPr lang="en-US" sz="2000"/>
              <a:t>理想MZM下: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 →  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 →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PP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logical manifold封闭</a:t>
            </a:r>
            <a:r>
              <a:rPr lang="en-US" sz="2000"/>
              <a:t>. 反之在引起ABS的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 → 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, logical manifold被bulk renormalize</a:t>
            </a:r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2305961" name=""/>
          <p:cNvSpPr txBox="1"/>
          <p:nvPr/>
        </p:nvSpPr>
        <p:spPr bwMode="auto">
          <a:xfrm rot="0" flipH="0" flipV="0">
            <a:off x="266387" y="440970"/>
            <a:ext cx="12005979" cy="59271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定义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+Σ(z)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于是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eff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设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|n〉=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|n〉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则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zh-CN" sz="20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PQ</m:t>
                                  </m:r>
                                </m:sub>
                              </m:s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|n〉〈n|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QP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ϵ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表示了</a:t>
            </a:r>
            <a:r>
              <a:rPr lang="en-US" sz="2000"/>
              <a:t> P -&gt; Q -&gt; P的虚跃迁过程</a:t>
            </a:r>
            <a:r>
              <a:rPr lang="en-US" sz="2000"/>
              <a:t> , 引入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Schur补在 Green 函数里的意义：把“不可见自由度”压缩成自能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Q-子空间被积分掉后，在 P-子空间诱导出有效传播/自能。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Σ(z)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天然是非厄米 + 能量依赖 + 非对角耦合结构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下面来考虑如何把模型进行推广,把局域的作用能放到全局讨论. 对于之前的,有具体的局域哈密顿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,可以通过做直和的形式,也就是对应我们之前说过的这种嵌入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R=I⊗I...⊗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⊗I...⊗I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在全局上就变成了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all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⊗...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075977" name=""/>
          <p:cNvSpPr txBox="1"/>
          <p:nvPr/>
        </p:nvSpPr>
        <p:spPr bwMode="auto">
          <a:xfrm rot="0" flipH="0" flipV="0">
            <a:off x="160552" y="277804"/>
            <a:ext cx="12111087" cy="643782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PHQ=0只能说明形成非阿贝尔没有直接局域的跃迁,但是如果改写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ω-H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den>
                      </m:f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den>
                      </m:f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den>
                      </m:f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+...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也就是说,</a:t>
            </a:r>
            <a:r>
              <a:rPr lang="en-US" sz="2000"/>
              <a:t>在全局上,就可能存在中间态来达成高阶的跃迁</a:t>
            </a:r>
            <a:r>
              <a:rPr lang="en-US" sz="2000"/>
              <a:t>.所以需要结合上面的嵌入全局的思路来考虑.</a:t>
            </a:r>
            <a:r>
              <a:rPr lang="en-US" sz="2000"/>
              <a:t> </a:t>
            </a:r>
            <a:endParaRPr lang="en-US" sz="2000"/>
          </a:p>
          <a:p>
            <a:pPr>
              <a:defRPr/>
            </a:pPr>
            <a:r>
              <a:rPr lang="en-US" sz="2000"/>
              <a:t>把这种思路搬到我们现在的Green函数</a:t>
            </a:r>
            <a:r>
              <a:rPr lang="en-US" sz="2000"/>
              <a:t>传输模型上,考虑把局部的传输过程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P→Q→P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改写为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...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的传输方式.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更一般的,讨论子空间之间的传播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在具体的通道上,定义传播核: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RQ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RP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 resolvent 表示下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sub>
                      </m:sSub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因此：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effective propagation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Schur kernel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的矩阵元。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139378" name=""/>
          <p:cNvSpPr txBox="1"/>
          <p:nvPr/>
        </p:nvSpPr>
        <p:spPr bwMode="auto">
          <a:xfrm rot="0" flipH="0" flipV="0">
            <a:off x="168972" y="246943"/>
            <a:ext cx="11890412" cy="65042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有效哈密顿可以通过上面的schur核诱导得到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+Σ(z)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写成pauli张量积形式时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α,β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αβ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eff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αβ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〈m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/>
              <a:t>代入到具体的传播核: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sub>
                      </m:sSub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schur传播核: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ω-</m:t>
                                  </m:r>
                                  <m:sSub>
                                    <m:sSubPr>
                                      <m:ctrlPr>
                                        <a:rPr lang="zh-CN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zh-CN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zh-CN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QQ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QQ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如果每个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2000"/>
              <a:t>内部具有majorana分量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 H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eff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ik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PP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ik,ab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ik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然后对这个4*4继续pauli张量积展开即可.</a:t>
            </a:r>
            <a:endParaRPr lang="en-US" sz="2000"/>
          </a:p>
          <a:p>
            <a:pPr>
              <a:defRPr/>
            </a:pPr>
            <a:r>
              <a:rPr lang="en-US" sz="2000"/>
              <a:t>也就是说,引入了pauli张量积,就可以通过以下步骤解释schur传播如何产生非阿贝尔交换: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Schur 补给出传播核（operator），Pauli 投影把该 operator 映射到 Pauli Lie 代数坐标，非阿贝尔性由对易子在 Lie 代数上量化</a:t>
            </a:r>
            <a:endParaRPr lang="en-US"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892841" name=""/>
          <p:cNvSpPr txBox="1"/>
          <p:nvPr/>
        </p:nvSpPr>
        <p:spPr bwMode="auto">
          <a:xfrm rot="0" flipH="0" flipV="0">
            <a:off x="231111" y="476248"/>
            <a:ext cx="12109654" cy="652604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下面具体代入我们的pauli张量积模型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sz="2000"/>
              <a:t>对于具体的演化算符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使用Dyson展开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(1)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(2)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...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一阶: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(1)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(1)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α,β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αβ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p>
                              </m:s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β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二阶: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(2)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(-i)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∫"/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(-i)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∫"/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α,β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μ,ν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αβ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)⊗(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ν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(2)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α,β,μ,ν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</m:t>
                          </m:r>
                          <m:nary>
                            <m:naryPr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μ,ν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αβ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μν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p>
                      </m:sSup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)⊗(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sup>
                      </m:sSup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ν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573834" name=""/>
          <p:cNvSpPr txBox="1"/>
          <p:nvPr/>
        </p:nvSpPr>
        <p:spPr bwMode="auto">
          <a:xfrm rot="0" flipH="0" flipV="0">
            <a:off x="128827" y="224394"/>
            <a:ext cx="11935785" cy="640921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三阶: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(-i)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∫"/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  <m:nary>
                            <m:naryPr>
                              <m:chr m:val="∫"/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-i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nary>
                        <m:naryPr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nary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a,b,c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我们可以选择一个三体空间嵌入:定义在空间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sz="2000"/>
              <a:t>上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/>
              <a:t>嵌入的哈密顿为: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α,β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αβ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⊗I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μ,ν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ν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对应演化算符: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66720" name=""/>
          <p:cNvSpPr txBox="1"/>
          <p:nvPr/>
        </p:nvSpPr>
        <p:spPr bwMode="auto">
          <a:xfrm rot="0" flipH="0" flipV="0">
            <a:off x="160555" y="458610"/>
            <a:ext cx="12232053" cy="589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对于Yang</a:t>
            </a:r>
            <a:r>
              <a:rPr lang="en-US" sz="2000"/>
              <a:t> Baxter Equation: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u,v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Δ=0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,YBE成立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代入Dyson展开: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+...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=I+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+...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A是上面的</a:t>
            </a:r>
            <a:r>
              <a:rPr lang="en-US" sz="2000"/>
              <a:t>一阶展开,则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YBE deviation一阶项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二阶项包括: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等.全部整理后仍然抵消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因此,三阶项是最低阶的non abelian的产生的来源: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整理后得到: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Δ∼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)]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1710271" name=""/>
          <p:cNvSpPr txBox="1"/>
          <p:nvPr/>
        </p:nvSpPr>
        <p:spPr bwMode="auto">
          <a:xfrm rot="0" flipH="0" flipV="0">
            <a:off x="248748" y="423333"/>
            <a:ext cx="11982942" cy="510427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代入计算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2iϵ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abc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因此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=2i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αβ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βμγ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于是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Δ∼2i 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αβ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μν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ϵ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βμγ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/>
              <a:t>非阿贝尔量化,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定义non-Abelian measure：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N=</m:t>
                      </m:r>
                      <m:rad>
                        <m:radPr>
                          <m:degHide m:val="on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Tr(</m:t>
                          </m:r>
                          <m:sSup>
                            <m:sSup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</m:ra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利用Pauli的正交关系: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得到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N∼</m:t>
                      </m:r>
                      <m:rad>
                        <m:radPr>
                          <m:degHide m:val="on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nary>
                            <m:naryPr>
                              <m:chr m:val="∫"/>
                              <m:grow m:val="off"/>
                              <m:subHide m:val="on"/>
                              <m:supHide m:val="on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grow m:val="off"/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20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sz="2000" b="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αβ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|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 </m:t>
                                  </m:r>
                                  <m:sSup>
                                    <m:sSupPr>
                                      <m:ctrlPr>
                                        <a:rPr lang="en-US" sz="200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|h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μν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|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n-US" sz="200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ϵ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βμγ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nary>
                        </m:e>
                      </m:ra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</p:txBody>
      </p:sp>
      <p:sp>
        <p:nvSpPr>
          <p:cNvPr id="174187680" name=""/>
          <p:cNvSpPr txBox="1"/>
          <p:nvPr/>
        </p:nvSpPr>
        <p:spPr bwMode="auto">
          <a:xfrm rot="0" flipH="0" flipV="0">
            <a:off x="3598026" y="5527607"/>
            <a:ext cx="499630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655482" name=""/>
          <p:cNvSpPr txBox="1"/>
          <p:nvPr/>
        </p:nvSpPr>
        <p:spPr bwMode="auto">
          <a:xfrm rot="0" flipH="0" flipV="0">
            <a:off x="3315804" y="1292736"/>
            <a:ext cx="4995946" cy="8858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[4⋅2</m:t>
                          </m:r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α,β,μ,ν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18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b="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∬"/>
                                          <m:grow m:val="off"/>
                                          <m:limLoc m:val="undOvr"/>
                                          <m:subHide m:val="on"/>
                                          <m:supHide m:val="on"/>
                                          <m:ctrlPr>
                                            <a:rPr lang="en-US" sz="1800" i="1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naryPr>
                                        <m:sub/>
                                        <m:sup/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  <m:d>
                                            <m:dPr>
                                              <m:begChr m:val="("/>
                                              <m:endChr m:val=")"/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s,t</m:t>
                                              </m:r>
                                            </m:e>
                                          </m:d>
                                          <m:sSub>
                                            <m:sSubPr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αβ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begChr m:val="("/>
                                              <m:endChr m:val=")"/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</m:t>
                                              </m:r>
                                            </m:e>
                                          </m:d>
                                          <m:sSub>
                                            <m:sSubPr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μν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lang="en-US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(t)dsdt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]</m:t>
                              </m:r>
                            </m:e>
                          </m:nary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1/2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155990834" name=""/>
          <p:cNvSpPr txBox="1"/>
          <p:nvPr/>
        </p:nvSpPr>
        <p:spPr bwMode="auto">
          <a:xfrm rot="0" flipH="0" flipV="0">
            <a:off x="503042" y="666988"/>
            <a:ext cx="11493213" cy="488501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/>
              <a:t>最后我们在验证后会给出一个更精确的,保留了相位信息的公式:</a:t>
            </a:r>
            <a:endParaRPr sz="2000"/>
          </a:p>
          <a:p>
            <a:pPr algn="l">
              <a:defRPr/>
            </a:pPr>
            <a:endParaRPr sz="2000"/>
          </a:p>
          <a:p>
            <a:pPr algn="l">
              <a:defRPr/>
            </a:pPr>
            <a:endParaRPr sz="2000"/>
          </a:p>
          <a:p>
            <a:pPr algn="l">
              <a:defRPr/>
            </a:pPr>
            <a:endParaRPr sz="2000"/>
          </a:p>
          <a:p>
            <a:pPr algn="l">
              <a:defRPr/>
            </a:pPr>
            <a:endParaRPr sz="2000"/>
          </a:p>
          <a:p>
            <a:pPr algn="l"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常数因子说明：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4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来自交换子代数常数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-i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-2i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=-2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的平方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来自三个位点的 Pauli 基迹因子；因此整体前因子为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4⋅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 algn="l">
              <a:defRPr/>
            </a:pPr>
            <a:endParaRPr sz="2000"/>
          </a:p>
          <a:p>
            <a:pPr algn="l"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时间核 K(s,t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):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由三重时间有序积分经 Heaviside 函数组合得到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它包含路径序约束与积分限信息。</a:t>
            </a:r>
            <a:r>
              <a:rPr lang="en-US" sz="2000"/>
              <a:t>(具体形式见下一页)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 algn="l">
              <a:defRPr/>
            </a:pPr>
            <a:endParaRPr sz="2000"/>
          </a:p>
          <a:p>
            <a:pPr algn="l"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相位保留：积分结果通常为复数，应当先计算双重积分再取模平方（如上式所示），而不是先对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h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取模再积分；这样可保留干涉相位对非阿贝尔性的贡献。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 algn="l">
              <a:defRPr/>
            </a:pPr>
            <a:endParaRPr sz="2000"/>
          </a:p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ϵ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βμγ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等价于脚标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β≠μ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，可在需要时用该条件替换求和以简化实现。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46410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23472" y="734338"/>
            <a:ext cx="11766944" cy="52482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3170202" name=""/>
          <p:cNvSpPr txBox="1"/>
          <p:nvPr/>
        </p:nvSpPr>
        <p:spPr bwMode="auto">
          <a:xfrm rot="0" flipH="0" flipV="0">
            <a:off x="231111" y="298255"/>
            <a:ext cx="11872068" cy="626148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一个具体例子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标准 Kitaev Hamiltonian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H=-μ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†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-t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 </m:t>
                                  </m:r>
                                  <m:sSup>
                                    <m:sSup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†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+h.c.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i+1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+h.c.)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定义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iA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ib</m:t>
                              </m:r>
                            </m:sub>
                          </m:sSub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2δ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=-μ[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iA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iB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t+Δ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i+1,A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+(-t+Δ)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iA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i+1,B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t=Δ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时,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iB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iB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i+1,A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定义: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=span{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=span{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iA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因此在每个site</a:t>
            </a:r>
            <a:r>
              <a:rPr lang="en-US" sz="2000"/>
              <a:t>,有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405232" name=""/>
          <p:cNvSpPr txBox="1"/>
          <p:nvPr/>
        </p:nvSpPr>
        <p:spPr bwMode="auto">
          <a:xfrm rot="0" flipH="0" flipV="0">
            <a:off x="336943" y="493887"/>
            <a:ext cx="11771619" cy="620816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则可以得到传播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onsite: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 对应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-iμ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 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nearest beighboor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对应</a:t>
            </a:r>
            <a:r>
              <a:rPr lang="en-US" sz="2000"/>
              <a:t>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itγ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i+1,A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因此存在真实的传播轨迹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→ </m:t>
                      </m:r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 → </m:t>
                      </m:r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i+1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 或者等价的QPQ的形式</a:t>
            </a:r>
            <a:endParaRPr lang="en-US" sz="2000"/>
          </a:p>
          <a:p>
            <a:pPr>
              <a:defRPr/>
            </a:pPr>
            <a:endParaRPr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/>
              <a:t>schur传播核:</a:t>
            </a:r>
            <a:endParaRPr lang="en-US" sz="2000"/>
          </a:p>
          <a:p>
            <a:pPr>
              <a:defRPr/>
            </a:pPr>
            <a:r>
              <a:rPr lang="en-US" sz="2000"/>
              <a:t>引入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z-H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i,i+1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+1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i+1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i+1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t=Δ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点,具体的哈密顿表示为: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i+1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=it,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Q+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1,P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i+1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iμ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i,i+1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μt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2ω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也就是只有P-&gt;Q,Q-&gt;P, 而没有P-&gt;P,Q-&gt;Q. 从我们现在的哈密顿形式里面只有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就可以说明</a:t>
            </a:r>
            <a:endParaRPr lang="en-US"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559516" name=""/>
          <p:cNvSpPr txBox="1"/>
          <p:nvPr/>
        </p:nvSpPr>
        <p:spPr bwMode="auto">
          <a:xfrm rot="0" flipH="0" flipV="0">
            <a:off x="160554" y="317498"/>
            <a:ext cx="12105693" cy="62173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2000"/>
              <a:t>形成零模:</a:t>
            </a:r>
            <a:endParaRPr lang="en-US" sz="2000"/>
          </a:p>
          <a:p>
            <a:pPr>
              <a:defRPr/>
            </a:pPr>
            <a:r>
              <a:rPr lang="en-US" sz="2000"/>
              <a:t>若存在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Hψ=0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iA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代入哈密顿得到: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2ta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即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2t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解出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f>
                            <m:f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</m:t>
                              </m:r>
                            </m:den>
                          </m:f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传播收缩: 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|&lt;1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-i/</m:t>
                          </m:r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ξ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,因此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0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sz="20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μ</m:t>
                                  </m:r>
                                </m:num>
                                <m:den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2t</m:t>
                                  </m:r>
                                </m:den>
                              </m:f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)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N-1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iA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A更换成B就得到</a:t>
            </a:r>
            <a:r>
              <a:rPr lang="en-US" sz="2000"/>
              <a:t>了右边界的情况.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2tb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i-1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→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sz="18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μ</m:t>
                                  </m:r>
                                </m:num>
                                <m:den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2t</m:t>
                                  </m:r>
                                </m:den>
                              </m:f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)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N-1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iB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1003238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7"/>
            <a:ext cx="5516879" cy="1717038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376406651" name="组合 15"/>
          <p:cNvGrpSpPr/>
          <p:nvPr/>
        </p:nvGrpSpPr>
        <p:grpSpPr bwMode="auto">
          <a:xfrm>
            <a:off x="0" y="2529837"/>
            <a:ext cx="12192000" cy="1757678"/>
            <a:chOff x="0" y="2529837"/>
            <a:chExt cx="12192000" cy="1757678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322270132" name="矩形 1"/>
            <p:cNvSpPr/>
            <p:nvPr/>
          </p:nvSpPr>
          <p:spPr bwMode="auto">
            <a:xfrm>
              <a:off x="0" y="2529837"/>
              <a:ext cx="5516879" cy="1717038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2037544949" name="矩形 12"/>
            <p:cNvSpPr/>
            <p:nvPr/>
          </p:nvSpPr>
          <p:spPr bwMode="auto">
            <a:xfrm>
              <a:off x="11348719" y="2529837"/>
              <a:ext cx="843278" cy="1757678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555300930" name="矩形 7"/>
          <p:cNvSpPr/>
          <p:nvPr/>
        </p:nvSpPr>
        <p:spPr bwMode="auto">
          <a:xfrm>
            <a:off x="1630064" y="3046549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04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1074441887" name="矩形 8"/>
          <p:cNvSpPr/>
          <p:nvPr/>
        </p:nvSpPr>
        <p:spPr bwMode="auto">
          <a:xfrm>
            <a:off x="5959117" y="2875000"/>
            <a:ext cx="4940479" cy="1116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验证和复现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154984" name=""/>
          <p:cNvSpPr txBox="1"/>
          <p:nvPr/>
        </p:nvSpPr>
        <p:spPr bwMode="auto">
          <a:xfrm rot="0" flipH="0" flipV="0">
            <a:off x="213471" y="423333"/>
            <a:ext cx="12133413" cy="57860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600" b="1"/>
              <a:t>第一部分的验证复现</a:t>
            </a:r>
            <a:endParaRPr sz="2600" b="1"/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2000"/>
              <a:t>根据论文</a:t>
            </a: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Non-Abelian statistics of Majorana zero modes in the presence of an Andreev bound state</a:t>
            </a:r>
            <a:endParaRPr lang="zh-CN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Wenqin Chen,1 Jiachen Wang,1 Yijia Wu ,2 Junjie Qi,3 Jie Liu ,1,* and X. C. Xie2,3,4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,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DOI: 10.1103/PhysRevB.105.054507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有两个主要观点需要我们的模型复现出来: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1. 在存在 ABS 的情况下，braid 和 hybridization 的叠加会把单比特演化写成 Bloch 球上的一般SU(2)旋转(一个全局相位)；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2. 若通过调节门电压、Zeeman 场或耦合强度使动力学相退化为全局相，则总演化恢复到近似纯编织门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，从而恢复理想 non-Abelian statistics。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第二点根据前文的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已经可以说明,只需要调节对应的物理参数搭建路径u(t),就可以实现.下面着重说明第一点的复现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651534" name=""/>
          <p:cNvSpPr txBox="1"/>
          <p:nvPr/>
        </p:nvSpPr>
        <p:spPr bwMode="auto">
          <a:xfrm rot="0" flipH="0" flipV="0">
            <a:off x="178191" y="458607"/>
            <a:ext cx="12251136" cy="62600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/>
              <a:t>复现前的准备pre1:</a:t>
            </a:r>
            <a:endParaRPr lang="en-US" sz="2600" b="1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首先需要先说明我们的模型能否做到SU</a:t>
            </a:r>
            <a:r>
              <a:rPr lang="en-US" sz="2000"/>
              <a:t>(2)的任意旋转,这里给出命题: (完整证明也在append/s1.md)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表示出任意旋转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↔H(u)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张成Lie su(2)代数,形式一点都说法是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李代数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Lie{i 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</m:t>
                      </m:r>
                      <m:sSub>
                        <m:sSub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u∈ Τ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=su(2)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当且仅当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参数轨迹的像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D={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u): u∈ Τ}</m:t>
                      </m:r>
                    </m:oMath>
                  </m:oMathPara>
                </a14:m>
              </mc:Choice>
              <mc:Fallback/>
            </mc:AlternateContent>
            <a:r>
              <a:rPr/>
              <a:t>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也就是要满足: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 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更强的三点判据（等价）：存在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使得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unc>
                        <m:func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det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]</m:t>
                          </m:r>
                        </m:e>
                      </m:fun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⋅[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]≠0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简单说明证明要点：对任意两个方向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，有 Lie 对易子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σ,id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⋅σ]=-2i(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)⋅σ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因此只要存在两不共线向量，便可通过一次对易得到第三个方向；三线性独立则生成全 su(2)</a:t>
            </a:r>
            <a:endParaRPr lang="en-US"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502475" name=""/>
          <p:cNvSpPr txBox="1"/>
          <p:nvPr/>
        </p:nvSpPr>
        <p:spPr bwMode="auto">
          <a:xfrm rot="0" flipH="0" flipV="0">
            <a:off x="178193" y="423333"/>
            <a:ext cx="11729860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672498700" name=""/>
          <p:cNvSpPr txBox="1"/>
          <p:nvPr/>
        </p:nvSpPr>
        <p:spPr bwMode="auto">
          <a:xfrm rot="0" flipH="0" flipV="0">
            <a:off x="125275" y="352775"/>
            <a:ext cx="12196774" cy="64915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/>
              <a:t>pre2:</a:t>
            </a:r>
            <a:endParaRPr lang="en-US"/>
          </a:p>
          <a:p>
            <a:pPr>
              <a:defRPr/>
            </a:pPr>
            <a:r>
              <a:rPr lang="en-US" sz="2000"/>
              <a:t>下面要将用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表示的杂化以及braid操作对应到我们的简化的模型上:</a:t>
            </a:r>
            <a:endParaRPr lang="en-US" sz="2000"/>
          </a:p>
          <a:p>
            <a:pPr>
              <a:defRPr/>
            </a:pPr>
            <a:r>
              <a:rPr lang="en-US" sz="2000"/>
              <a:t>引入Jordan Wigner变换: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m&lt;j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grow m:val="off"/>
                              <m:limLoc m:val="undOvr"/>
                              <m:supHide m:val="on"/>
                              <m:ctrlPr>
                                <a:rPr lang="zh-CN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m&lt;j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于是同一费米模上的杂化项里的张量积直接变成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对最近邻的 Majorana 二次项，有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2j+1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2j+1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因此,得到一般结论: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(t)=i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a&lt;b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843739" name=""/>
          <p:cNvSpPr txBox="1"/>
          <p:nvPr/>
        </p:nvSpPr>
        <p:spPr bwMode="auto">
          <a:xfrm rot="0" flipH="0" flipV="0">
            <a:off x="160553" y="493886"/>
            <a:ext cx="12128018" cy="365900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其中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Pauli 串或两体张量积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则由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JW 产生的Z串共同决定</a:t>
            </a:r>
            <a:r>
              <a:rPr lang="en-US" sz="2000"/>
              <a:t>.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若只关心逻辑比特，继续投影到编码子空间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这里的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来自于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H(u(t))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braid操作,例如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B=exp(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→exp(-i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也可以由同样的方法推导得到.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(更一般的证明可以参考append/s1.md)</a:t>
            </a:r>
            <a:endParaRPr lang="en-US"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344845" name=""/>
          <p:cNvSpPr txBox="1"/>
          <p:nvPr/>
        </p:nvSpPr>
        <p:spPr bwMode="auto">
          <a:xfrm rot="0" flipH="0" flipV="0">
            <a:off x="107636" y="352775"/>
            <a:ext cx="11836414" cy="57699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1"/>
              <a:t>pre3:从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 -&gt;</m:t>
                      </m:r>
                      <m:sSub>
                        <m:sSubPr>
                          <m:ctrlPr>
                            <a:rPr lang="en-US" sz="2400" b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r>
                        <m:rPr>
                          <m:sty m:val="bi"/>
                        </m:rPr>
                        <a:rPr sz="2400">
                          <a:latin typeface="Cambria Math"/>
                          <a:ea typeface="Cambria Math"/>
                          <a:cs typeface="Cambria Math"/>
                        </a:rPr>
                        <m:t>→R</m:t>
                      </m:r>
                    </m:oMath>
                  </m:oMathPara>
                </a14:m>
              </mc:Choice>
              <mc:Fallback/>
            </mc:AlternateContent>
            <a:r>
              <a:rPr lang="en-US" sz="2400"/>
              <a:t>演化</a:t>
            </a:r>
            <a:r>
              <a:rPr lang="en-US" sz="2400"/>
              <a:t>也是下面对比论文时从哈密顿开始构建到R的过程:</a:t>
            </a:r>
            <a:endParaRPr lang="en-US" sz="240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严格复现链：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box>
                        <m:boxPr>
                          <m:aln m:val="off"/>
                          <m:diff m:val="off"/>
                          <m:noBreak m:val="off"/>
                          <m:opEmu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pos m:val="bot"/>
                              <m:vertJc m:val="bot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JW mapping</m:t>
                              </m:r>
                            </m:e>
                          </m:groupChr>
                        </m:e>
                      </m:box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</m:sSub>
                          <m:sSub>
                            <m:sSubPr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</m:sSub>
                        </m:e>
                      </m:nary>
                      <m:box>
                        <m:boxPr>
                          <m:aln m:val="off"/>
                          <m:diff m:val="off"/>
                          <m:noBreak m:val="off"/>
                          <m:opEmu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pos m:val="bot"/>
                              <m:vertJc m:val="bot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groupChr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    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</m:t>
                                  </m:r>
                                </m:sub>
                              </m:s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    </m:t>
                              </m:r>
                            </m:e>
                          </m:groupChr>
                        </m:e>
                      </m:box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其中: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ν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en-US" sz="2000"/>
              <a:t>在这里起到了一个中转的作用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若在逻辑基底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〉,|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上展开，便有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= 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〈0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〈0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〈1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〈1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把这个2*2厄米矩阵按 Pauli 基展开，就得到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054731" name=""/>
          <p:cNvSpPr txBox="1"/>
          <p:nvPr/>
        </p:nvSpPr>
        <p:spPr bwMode="auto">
          <a:xfrm rot="0" flipH="0" flipV="0">
            <a:off x="266387" y="423333"/>
            <a:ext cx="11810136" cy="557589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于是总演化为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dt)=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-iΦ(T)</m:t>
                          </m:r>
                        </m:sup>
                      </m:sSup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d(t)</m:t>
                          </m:r>
                        </m:e>
                      </m:nary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⋅σdt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endChr m:val=")"/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(t)</m:t>
                          </m:r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若每一段路径内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d(t)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近似固定，则对第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k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段有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0,k</m:t>
                              </m:r>
                            </m:sub>
                          </m:sSub>
                        </m:sup>
                      </m:sSup>
                      <m:func>
                        <m:func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fun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)I-i</m:t>
                      </m:r>
                      <m:func>
                        <m:func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fun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)⋅σ]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因此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∏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-iΦ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</m:sup>
                      </m:sSup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SU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当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d(t)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绕原点闭合时，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SU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就是 Bloch 球上的旋转门；当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只贡献全局相位时，就得到论文所说的“理想 braid + 相位动力学累积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-&gt;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Bloch 旋转”。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319741" name=""/>
          <p:cNvSpPr txBox="1"/>
          <p:nvPr/>
        </p:nvSpPr>
        <p:spPr bwMode="auto">
          <a:xfrm rot="0" flipH="0" flipV="0">
            <a:off x="160552" y="423330"/>
            <a:ext cx="12047013" cy="48106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复现流程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把论文中的器件控制参数统一记作</a:t>
            </a:r>
            <a:r>
              <a:rPr/>
              <a:t>路径</a:t>
            </a:r>
            <a:r>
              <a:rPr lang="en-US"/>
              <a:t>,表示为如下形式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,ϕ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其中：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是四个门的开关变量，控制各臂之间是否连通；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 Zeeman 场；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是上下纳米线之间的相位差；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是量子点或局域势阱深度，用于产生/调节 ABS；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是器件与中心 trivial superconductor 的时变耦合。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是统一的基准跃迁幅度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参考supplement_materialV2附录,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先设计门控路径，再得到时变微观哈密顿量；随后把它投影到低能零模子空间，得到 Majorana 的有效耦合；最后区分出理想 MZM 的非阿贝尔 braid，以及 ABS 参与时的动力学相积累。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路径设计的本质，就是按时间调节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，让某些 Majorana 先杂化、再交换、再回到杂化。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250788" name=""/>
          <p:cNvSpPr txBox="1"/>
          <p:nvPr/>
        </p:nvSpPr>
        <p:spPr bwMode="auto">
          <a:xfrm rot="0" flipH="0" flipV="0">
            <a:off x="160552" y="458607"/>
            <a:ext cx="11924975" cy="58412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(i)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(t)</m:t>
                          </m:r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因此总演化是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tot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/>
              <a:t>(注,下面会把初始状态也计入,因此下面是6个步骤)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235360" name=""/>
          <p:cNvSpPr txBox="1"/>
          <p:nvPr/>
        </p:nvSpPr>
        <p:spPr bwMode="auto">
          <a:xfrm rot="0" flipH="0" flipV="0">
            <a:off x="107636" y="405693"/>
            <a:ext cx="12243924" cy="265214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总结支持材料里面的整个哈密顿可以写为</a:t>
            </a:r>
            <a:r>
              <a:rPr lang="en-US" sz="2000"/>
              <a:t>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sz="14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1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sz="14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         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-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-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!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              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0                                   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m:rPr/>
                        <a:rPr lang="en-US" sz="1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+h.c</m:t>
                      </m:r>
                    </m:oMath>
                  </m:oMathPara>
                </a14:m>
              </mc:Choice>
              <mc:Fallback/>
            </mc:AlternateContent>
            <a:endParaRPr lang="en-US" sz="14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1489546718" name=""/>
          <p:cNvSpPr txBox="1"/>
          <p:nvPr/>
        </p:nvSpPr>
        <p:spPr bwMode="auto">
          <a:xfrm rot="0" flipH="0" flipV="0">
            <a:off x="275029" y="3026787"/>
            <a:ext cx="11900499" cy="342408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接下来考虑带入到我们的pauli张量积模型中</a:t>
            </a:r>
            <a:r>
              <a:rPr lang="en-US" sz="2000"/>
              <a:t>,首先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路径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p(t)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本身不是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μν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，它先决定一组随时间变化的控制幅度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(p(t))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。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于是微观哈密顿量可统一写成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(0)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λ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是固定的张量积算符基。若改写到 Pauli 张量基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μ,ν∈{0,x,y,z}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构造逻辑: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{μν}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R(u)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YBE.</m:t>
                      </m:r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784238" name=""/>
          <p:cNvSpPr txBox="1"/>
          <p:nvPr/>
        </p:nvSpPr>
        <p:spPr bwMode="auto">
          <a:xfrm rot="0" flipH="0" flipV="0">
            <a:off x="125275" y="423333"/>
            <a:ext cx="12135566" cy="61045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取四个相关 Majorana 的固定顺序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并用两 qubit 的 JW 表示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=X⊗I,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=Y⊗I 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=Z⊗X,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=Z⊗Y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则六个双线性项变成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=-Z⊗I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=-Y⊗X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=Y⊗Y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=-X⊗X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=-X⊗Y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=-I⊗Z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因此支撑材料中的低能哈密顿量可写成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Z⊗I-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Y⊗X+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Y⊗Y-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X⊗X-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X⊗Y-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I⊗Z+h.c.)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/>
              <a:t>非零系数: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若显式保留 h.c.且系数实数，则整体统一乘以 2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378861" name=""/>
          <p:cNvSpPr txBox="1"/>
          <p:nvPr/>
        </p:nvSpPr>
        <p:spPr bwMode="auto">
          <a:xfrm rot="0" flipH="0" flipV="0">
            <a:off x="178193" y="440970"/>
            <a:ext cx="12008134" cy="288503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在逻辑子空间进行投影</a:t>
            </a:r>
            <a:r>
              <a:rPr lang="en-US" sz="2000"/>
              <a:t>,应用我们之前的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的变换规律: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于是该两 qubit Pauli 张量积哈密顿量在逻辑子空间中的严格结果为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=d⋅σ=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261173624" name=""/>
          <p:cNvSpPr txBox="1"/>
          <p:nvPr/>
        </p:nvSpPr>
        <p:spPr bwMode="auto">
          <a:xfrm rot="0" flipH="0" flipV="0">
            <a:off x="301664" y="3429000"/>
            <a:ext cx="11704665" cy="16466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下面开始设计路径</a:t>
            </a:r>
            <a:r>
              <a:rPr lang="en-US" sz="2000"/>
              <a:t>,并进行复现: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初始配置: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=0, 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这意味着只有某些臂与中心区相连，三个低能 Majorana 对被局域在不同的 domain wall 上。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487760" name=""/>
          <p:cNvSpPr txBox="1"/>
          <p:nvPr/>
        </p:nvSpPr>
        <p:spPr bwMode="auto">
          <a:xfrm rot="0" flipH="0" flipV="0">
            <a:off x="195831" y="440970"/>
            <a:ext cx="12244293" cy="590279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把准备也视为第一段路径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,则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前三段路径写成统一的段内归一化参数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a∈[0,1]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a,0,1-a,1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1-a,a,0,1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0,1-a,a,1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其中参数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t-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=nT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是该段的起始时间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,T是每段的时间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并在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t∈[3T,6T]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重复一次前 3 段。把它直接代入 9.2.2.1 的两比特 Pauli 基哈密顿量，得到每一段的精确微观形式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Y⊗X+uY⊗Y-(1-u)I⊗Z]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Z⊗I+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Y⊗Y-uX⊗Y]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X⊗X-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X⊗Y-uI⊗Z]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投影到子空间: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[(1-a)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+u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-a(1-a)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+(1-a)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+a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823990" name=""/>
          <p:cNvSpPr txBox="1"/>
          <p:nvPr/>
        </p:nvSpPr>
        <p:spPr bwMode="auto">
          <a:xfrm rot="0" flipH="0" flipV="0">
            <a:off x="213471" y="458608"/>
            <a:ext cx="12116495" cy="57784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每段的物理时间长度为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T,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段内演化的精确结果是路径有序指数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(k)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exp(-iT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(k)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(a)da)</m:t>
                          </m:r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 k=1,2,3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en-US" sz="2000"/>
              <a:t>表示时间有序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六步总演化(含初始状态)就是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L,F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(R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  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p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接下来就是验证,在我们的模型表示下,braid 和 hybridization 的操作会把单比特演化写成 Bloch 球上的一般SU(2)旋转(一个全局相位)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注:具体代码步骤和分析可以参考re1.md文档.下面只说明思路和结果.</a:t>
            </a:r>
            <a:endParaRPr lang="en-US" sz="200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第 </a:t>
            </a: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k</a:t>
            </a: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段的数值积分可按网格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离散为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(k)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nary>
                        <m:naryPr>
                          <m:chr m:val="∏"/>
                          <m:grow m:val="off"/>
                          <m:limLoc m:val="undOvr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m=M-1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exp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iTΔaH</m:t>
                                  </m:r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  Δa=</m:t>
                          </m:r>
                          <m:f>
                            <m:f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874801" name=""/>
          <p:cNvSpPr txBox="1"/>
          <p:nvPr/>
        </p:nvSpPr>
        <p:spPr bwMode="auto">
          <a:xfrm rot="0" flipH="0" flipV="0">
            <a:off x="266386" y="352775"/>
            <a:ext cx="12004178" cy="484974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这里乘积从右向左累积，和路径有序指数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的方向一致。六步总门就是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L,F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(R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  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然后与论文的理想 braid 门比较：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sz="2000" b="0" i="1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den>
                          </m:f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∼exp(-i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数值检验时，最直接的残差是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limLowPr>
                            <m:e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min</m:t>
                              </m:r>
                            </m:e>
                            <m:lim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ϕ∈R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iϕ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L,F</m:t>
                                      </m:r>
                                    </m:sub>
                                  </m:s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sSub>
                                    <m:sSub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braid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</mc:Choice>
              <mc:Fallback/>
            </mc:AlternateContent>
            <a:endParaRPr sz="200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而如果要检查 braid/YBE 形式本身，就把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braid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作为两体门嵌入三体空间，验证</a:t>
            </a:r>
            <a:endParaRPr sz="2000"/>
          </a:p>
          <a:p>
            <a:pPr>
              <a:defRPr/>
            </a:pPr>
            <a:br>
              <a:rPr sz="20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</a:b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-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/>
              <a:t>注</a:t>
            </a:r>
            <a:r>
              <a:rPr lang="en-US"/>
              <a:t>:上述演化在实际计算中,参考了论文里面定义的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[0.59 + 0.03 cos(t/T · π )]Δ</m:t>
                      </m:r>
                    </m:oMath>
                  </m:oMathPara>
                </a14:m>
              </mc:Choice>
              <mc:Fallback/>
            </mc:AlternateContent>
            <a:r>
              <a:rPr/>
              <a:t>这种余弦形式</a:t>
            </a:r>
            <a:r>
              <a:rPr lang="en-US"/>
              <a:t>,作为路径积分的调参.</a:t>
            </a: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305603" name=""/>
          <p:cNvSpPr txBox="1"/>
          <p:nvPr/>
        </p:nvSpPr>
        <p:spPr bwMode="auto">
          <a:xfrm rot="0" flipH="0" flipV="0">
            <a:off x="231111" y="423333"/>
            <a:ext cx="11825975" cy="592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复现结果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左图：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`x`, `y`, `z`：逻辑门和三个理想 braid 轴 `exp(-i π/4 σ_a)` 的相位对齐残差；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`braid`：braid relation 残差；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`YBE`：constant YBE 残差。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右图: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||e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iϕ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||</m:t>
                      </m:r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也就是先把逻辑门 `R_L` 做全局相位对齐，再看它与理想 braid 门逐个元素的绝对差。</a:t>
            </a:r>
            <a:endParaRPr/>
          </a:p>
        </p:txBody>
      </p:sp>
      <p:pic>
        <p:nvPicPr>
          <p:cNvPr id="6432813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83471" y="485085"/>
            <a:ext cx="8644776" cy="35265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855207" name=""/>
          <p:cNvSpPr txBox="1"/>
          <p:nvPr/>
        </p:nvSpPr>
        <p:spPr bwMode="auto">
          <a:xfrm rot="0" flipH="0" flipV="0">
            <a:off x="213471" y="352774"/>
            <a:ext cx="12140616" cy="57500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上述数值结果显示：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门是非平凡的，确实有 braid-like 结构；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但当前路径和参数并没有把逻辑门压到论文里那个“理想、时间无关、接近标准 braid 算符”的极限。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主要原因是因为这个简化模型里面对于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,ϕ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这些参数的精度不够,进一步调参有望得到更精确的结果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接下来是具体分析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braiding时MZM和ABS的行为: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我们代入8 vertex的模型: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)=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func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func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我们在代码里面用 网格给出时间点、每步用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计算短时传播子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，累积得到总演化 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U,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再计算重叠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overlaps[i]=</m:t>
                      </m:r>
                      <m:d>
                        <m:dPr>
                          <m:begChr m:val="⟨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ψ(0)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)⟩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最终取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|overlaps[-1]|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作为 final-overlap得到下面的fig3: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558988" name=""/>
          <p:cNvSpPr txBox="1"/>
          <p:nvPr/>
        </p:nvSpPr>
        <p:spPr bwMode="auto">
          <a:xfrm rot="0" flipH="0" flipV="0">
            <a:off x="442776" y="546804"/>
            <a:ext cx="11247492" cy="58967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MZM-like 分支对时间更稳，ABS-like 分支随 braiding time 更明显变化</a:t>
            </a:r>
            <a:r>
              <a:rPr lang="en-US"/>
              <a:t>(一个拐点)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这里的: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baseline = 脚本里的参考/默认参数下得到的参考曲线；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best = 自动搜索（run_auto_scan）选出的“最 paper-like”参数下的曲线（最大化对应的 trend_score）；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88301724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63698" y="892702"/>
            <a:ext cx="8304076" cy="40784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334538" name=""/>
          <p:cNvSpPr txBox="1"/>
          <p:nvPr/>
        </p:nvSpPr>
        <p:spPr bwMode="auto">
          <a:xfrm rot="0" flipH="0" flipV="0">
            <a:off x="442776" y="546804"/>
            <a:ext cx="11240652" cy="67526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MZM-like 分支对时间更稳，ABS-like 分支随 braiding time 更明显变化</a:t>
            </a:r>
            <a:r>
              <a:rPr lang="en-US"/>
              <a:t>(一个拐点)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“ABS 的拐点”：不是一个真正的相变点，也不是能隙突然闭合的点，而是一个crossover（交叉过渡）。在这个简化模型里，拐点意味着两件事发生了切换：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低能态不再只是“跟着路径平滑地走”，而开始明显感受到有限能量分支的弯折。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绝热跟随与动力学相积累之间的平衡被打破，导致谱线斜率改变、曲线出现折弯。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换句话说，这个拐点说明 ABS 不是像 MZM 那样被拓扑钉住的零能模；它会随着控制路径和时间尺度改变自己的瞬时能量，所以它对 braiding time 更敏感。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66256169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63698" y="892702"/>
            <a:ext cx="8304076" cy="40784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46150" name=""/>
          <p:cNvSpPr txBox="1"/>
          <p:nvPr/>
        </p:nvSpPr>
        <p:spPr bwMode="auto">
          <a:xfrm rot="0" flipH="0" flipV="0">
            <a:off x="266386" y="423333"/>
            <a:ext cx="11782775" cy="3661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566611516" name=""/>
          <p:cNvSpPr txBox="1"/>
          <p:nvPr/>
        </p:nvSpPr>
        <p:spPr bwMode="auto">
          <a:xfrm rot="0" flipH="0" flipV="0">
            <a:off x="195831" y="123471"/>
            <a:ext cx="11886089" cy="614601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在我们的模型里面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(a)全周期调制产生节段依赖的震荡，瞬时能级在正负之间切换，积分后动力学相有机会互相抵消；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(b)窗口化调制在后段施加相移，能更有针对性地抵消某些段的相位累积，从而在若干 T 区间显著降低最终相位敏感性；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两张图片对应的是论文里两种 Vx 调制的实现，但在代码里是通过不同的 base 值 + 全周期/窗口化的调制策略实现的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  <p:pic>
        <p:nvPicPr>
          <p:cNvPr id="16983853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95558" y="1610074"/>
            <a:ext cx="10285194" cy="3637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1823478" name=""/>
          <p:cNvSpPr txBox="1"/>
          <p:nvPr/>
        </p:nvSpPr>
        <p:spPr bwMode="auto">
          <a:xfrm rot="0" flipH="0" flipV="0">
            <a:off x="266386" y="423333"/>
            <a:ext cx="11783135" cy="12748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论文里这一部分有两个层次：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V_x=[0.59+0.02\cos(t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时，重叠的幅度已经基本不依赖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，但相位仍会随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振荡。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V_x=[0.57+0.02\cos(t\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且只作用于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[4T,6T]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时，连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1,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也被消掉，于是幅度和相位都对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不敏感，接近真正的 MZM 式稳定非阿贝尔交换。</a:t>
            </a:r>
            <a:endParaRPr/>
          </a:p>
        </p:txBody>
      </p:sp>
      <p:sp>
        <p:nvSpPr>
          <p:cNvPr id="694921954" name=""/>
          <p:cNvSpPr txBox="1"/>
          <p:nvPr/>
        </p:nvSpPr>
        <p:spPr bwMode="auto">
          <a:xfrm rot="0" flipH="0" flipV="0">
            <a:off x="170631" y="3011949"/>
            <a:ext cx="11878891" cy="338159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(a) — 全周期调制：Vx = 0.59 + 0.02·cos(π t/T)。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(b) — 窗口化调制：Vx = 0.57 + 0.02·cos(π t/T)，但只在最后阶段 t ∈ [4T,6T] 施加（windowed）。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(a) 主要试图让 θ2 的动力学相在整个过程被抵消；Case (b) 则是针对性地在最后段施加相移，以抵消剩下的 θ1,−θ3 残余相，两者在 base 值（0.59 vs 0.57）和施加窗口上不同，效果也不同（见图中相位/幅值对比）。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263527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157776" y="607433"/>
            <a:ext cx="5842361" cy="3626147"/>
          </a:xfrm>
          <a:prstGeom prst="rect">
            <a:avLst/>
          </a:prstGeom>
        </p:spPr>
      </p:pic>
      <p:sp>
        <p:nvSpPr>
          <p:cNvPr id="206524933" name=""/>
          <p:cNvSpPr txBox="1"/>
          <p:nvPr/>
        </p:nvSpPr>
        <p:spPr bwMode="auto">
          <a:xfrm rot="0" flipH="0" flipV="0">
            <a:off x="178193" y="388054"/>
            <a:ext cx="10805445" cy="568293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这里我们的模型显示了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低振幅 vs 高振幅 的 final-overlap 随 T 比较</a:t>
            </a:r>
            <a:endParaRPr lang="zh-CN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在大 T（更绝热）处两曲线靠拢说明“振幅不敏感”</a:t>
            </a:r>
            <a:endParaRPr lang="zh-CN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即调制机制在绝热极限下鲁棒。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不同振幅曲线彼此靠近，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说明对振幅扰动的响应减弱。</a:t>
            </a:r>
            <a:endParaRPr/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曲线尾部趋于平坦，体现绝热极限下的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“参数不敏感性”。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论文原文给出的具体比较是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=[0.59+0.01cos(t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=[0.59+0.03\cos(t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它要说明的是：只要 braiding 足够慢，振幅从 0.01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变到 0.03，最终交换统计几乎不变。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这意味着去掉动态相的机制不是一个需要精细调参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才成立的，而是一个在绝热条件下相当鲁棒的机制。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3663311" name=""/>
          <p:cNvSpPr txBox="1"/>
          <p:nvPr/>
        </p:nvSpPr>
        <p:spPr bwMode="auto">
          <a:xfrm rot="0" flipH="0" flipV="0">
            <a:off x="389859" y="511526"/>
            <a:ext cx="11000547" cy="382539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第一部分总结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这次针对论文 Fig.3/Fig.4/Fig.5 的复现，总结为:已经在简化模型中复现了论文的趋势和机理，但还没有做到完整 BdG 模型下的定量一致。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更具体地说：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Fig.3-like 主要复现了“ABS 随 braiding time 更敏感、MZM 更稳定”的对比趋势；默认版已经能看出差异，自动扫描版把差异放得更明显。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Fig.4-like 复现了“通过正弦调制抵消动力学相，使 braiding 结果更接近时间无关”的趋势。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3. Fig.5-like 复现了“在绝热区，不同调制振幅下的结果趋于一致”的鲁棒性趋势。</a:t>
            </a:r>
            <a:endParaRPr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3483285" name=""/>
          <p:cNvSpPr txBox="1"/>
          <p:nvPr/>
        </p:nvSpPr>
        <p:spPr bwMode="auto">
          <a:xfrm rot="0" flipH="0" flipV="0">
            <a:off x="142915" y="1358193"/>
            <a:ext cx="12248984" cy="35231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第二部分验证和复现</a:t>
            </a:r>
            <a:r>
              <a:rPr lang="en-US" sz="2400" b="1"/>
              <a:t>:</a:t>
            </a:r>
            <a:endParaRPr lang="en-US" sz="2400" b="1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首先是验证模型正确性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第一步是检查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r>
              <a:rPr lang="en-US"/>
              <a:t>1.</a:t>
            </a:r>
            <a:r>
              <a:rPr/>
              <a:t>诱导构建出来的哈密顿是否是厄米的</a:t>
            </a:r>
            <a:endParaRPr/>
          </a:p>
          <a:p>
            <a:pPr>
              <a:defRPr/>
            </a:pPr>
            <a:r>
              <a:rPr lang="en-US"/>
              <a:t>2.</a:t>
            </a:r>
            <a:r>
              <a:rPr/>
              <a:t>演化的算符是否是么正的</a:t>
            </a: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3.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逐步传播与总传播子的一致性</a:t>
            </a:r>
            <a:endParaRPr/>
          </a:p>
          <a:p>
            <a:pPr>
              <a:defRPr/>
            </a:pPr>
            <a:r>
              <a:rPr lang="en-US"/>
              <a:t>4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时间步长收敛性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2.选了三个磁场,计算了模型在实际6majorana下,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模型里面部分涉及简化后是否和真实还近似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  <p:pic>
        <p:nvPicPr>
          <p:cNvPr id="93657170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413992" y="740832"/>
            <a:ext cx="6674067" cy="48980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720734" name=""/>
          <p:cNvSpPr txBox="1"/>
          <p:nvPr/>
        </p:nvSpPr>
        <p:spPr bwMode="auto">
          <a:xfrm rot="0" flipH="0" flipV="0">
            <a:off x="301665" y="440971"/>
            <a:ext cx="11516396" cy="2921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数值验证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:Schur补→Δ→非阿贝尔指标N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。通过对Majorana 6-mode模型的系统计算，定义有效耦合强度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K=||Σ||</m:t>
                      </m:r>
                    </m:oMath>
                  </m:oMathPara>
                </a14:m>
              </mc:Choice>
              <mc:Fallback/>
            </mc:AlternateContent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从Schur补Σ(ω)到有效耦合K再到编织指标N的数值计算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不同方法从schur补中对K提取,进行严格对比与稳定性评估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3. 分析K→N映射的非线性性质</a:t>
            </a:r>
            <a:endParaRPr sz="1800"/>
          </a:p>
          <a:p>
            <a:pPr>
              <a:defRPr/>
            </a:pPr>
            <a:endParaRPr sz="18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主要流程是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</a:t>
            </a:r>
            <a:endParaRPr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从Schur补提取标量耦合系数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构造有效Hamiltonian：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-&gt;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用于参数化编织矩阵R(u)</a:t>
            </a:r>
            <a:endParaRPr sz="1800"/>
          </a:p>
          <a:p>
            <a:pPr>
              <a:defRPr/>
            </a:pP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/>
          </a:p>
        </p:txBody>
      </p:sp>
      <p:pic>
        <p:nvPicPr>
          <p:cNvPr id="153696318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3002138"/>
            <a:ext cx="12191999" cy="4063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792223" name=""/>
          <p:cNvSpPr/>
          <p:nvPr/>
        </p:nvSpPr>
        <p:spPr bwMode="auto">
          <a:xfrm flipH="0" flipV="0">
            <a:off x="151071" y="517071"/>
            <a:ext cx="8890522" cy="269746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7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左图：K范数对比（K_fro, K_spec, K_nuc）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三条曲线几乎完全重合，从E1=0.001处的≈2上升到E1=0.2处的≈39</a:t>
            </a:r>
            <a:endParaRPr/>
          </a:p>
          <a:p>
            <a:pPr>
              <a:defRPr/>
            </a:pPr>
            <a:r>
              <a:rPr sz="145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数学关系</a:t>
            </a: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：所有K随E1单调递增，呈现类二次曲线形状</a:t>
            </a:r>
            <a:endParaRPr/>
          </a:p>
          <a:p>
            <a:pPr>
              <a:defRPr/>
            </a:pPr>
            <a:r>
              <a:rPr sz="145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相关性</a:t>
            </a: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：Pearson相关系数 &gt; 0.99</a:t>
            </a:r>
            <a:endParaRPr/>
          </a:p>
          <a:p>
            <a:pPr>
              <a:defRPr/>
            </a:pPr>
            <a:r>
              <a:rPr sz="145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物理意义</a:t>
            </a: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Frobenius范数 ||Σ||_F：整体能量强度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谱范数 ||Σ||_2：最大奇异值（主导特征值）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核范数 ||Σ||_nuc：迹范数（所有奇异值之和）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这三者高度一致说明Σ的能谱结构相对简单，</a:t>
            </a: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无主导奇异值</a:t>
            </a:r>
            <a:endParaRPr/>
          </a:p>
          <a:p>
            <a:pPr>
              <a:defRPr/>
            </a:pPr>
            <a:endParaRPr/>
          </a:p>
        </p:txBody>
      </p:sp>
      <p:pic>
        <p:nvPicPr>
          <p:cNvPr id="30717502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596332" y="1310469"/>
            <a:ext cx="7291478" cy="54686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855735" name=""/>
          <p:cNvSpPr/>
          <p:nvPr/>
        </p:nvSpPr>
        <p:spPr bwMode="auto">
          <a:xfrm flipH="0" flipV="0">
            <a:off x="89312" y="657360"/>
            <a:ext cx="5327486" cy="2974782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中图：N值对比（从不同K导出）</a:t>
            </a:r>
            <a:endParaRPr sz="2000"/>
          </a:p>
          <a:p>
            <a:pPr>
              <a:defRPr/>
            </a:pPr>
            <a:r>
              <a:rPr sz="16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4条曲线</a:t>
            </a: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N_fro（蓝，实线）：从K_Frobenius导出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N_spec（橙，×号）：从K_spectral导出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N_nuc（绿，方块）：从K_nuclear导出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N_fro_eta2（红，虚线）：稳定性测试</a:t>
            </a:r>
            <a:endParaRPr sz="160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（η从1e-3→1e-2）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16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与K的关系</a:t>
            </a: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K单调递增，但N却高度波动 → </a:t>
            </a:r>
            <a:r>
              <a:rPr sz="16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K与N的映射非线性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直观对比：右边K曲线光滑，中间N曲线尖锐波动</a:t>
            </a:r>
            <a:endParaRPr sz="2000"/>
          </a:p>
        </p:txBody>
      </p:sp>
      <p:pic>
        <p:nvPicPr>
          <p:cNvPr id="4847791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838531" y="596773"/>
            <a:ext cx="6400968" cy="4800726"/>
          </a:xfrm>
          <a:prstGeom prst="rect">
            <a:avLst/>
          </a:prstGeom>
        </p:spPr>
      </p:pic>
      <p:sp>
        <p:nvSpPr>
          <p:cNvPr id="782732839" name=""/>
          <p:cNvSpPr/>
          <p:nvPr/>
        </p:nvSpPr>
        <p:spPr bwMode="auto">
          <a:xfrm>
            <a:off x="89312" y="4129491"/>
            <a:ext cx="4844467" cy="2068423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物理意义</a:t>
            </a: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尽管K→N映射弱相关（r≈0.03），但来自不同K的N仍然相关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说明：振荡模式由K→N映射的非线性决定，而非K的选择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启示：不同K范数只改变缩放系数，不改变拓扑信号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09277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621249" y="417937"/>
            <a:ext cx="7126249" cy="5344687"/>
          </a:xfrm>
          <a:prstGeom prst="rect">
            <a:avLst/>
          </a:prstGeom>
        </p:spPr>
      </p:pic>
      <p:sp>
        <p:nvSpPr>
          <p:cNvPr id="716386845" name=""/>
          <p:cNvSpPr/>
          <p:nvPr/>
        </p:nvSpPr>
        <p:spPr bwMode="auto">
          <a:xfrm flipH="0" flipV="0">
            <a:off x="100078" y="1444590"/>
            <a:ext cx="4442515" cy="239973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右图：N vs E1原始扫描</a:t>
            </a:r>
            <a:endParaRPr sz="2200"/>
          </a:p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曲线</a:t>
            </a: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：单条蓝色曲线，高度振荡</a:t>
            </a:r>
            <a:endParaRPr sz="2200"/>
          </a:p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量级</a:t>
            </a: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：主要范围0.2～5.0之间</a:t>
            </a:r>
            <a:endParaRPr sz="2200"/>
          </a:p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特征</a:t>
            </a: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多个局部极值（≈8个明显的峰/谷）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在E1≈0.1附近有谷底（N≈0.05）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在E1≈0.12、0.17、0.19处有尖峰（N≈5）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无单调性，呈现"锯齿波"模式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354597" name=""/>
          <p:cNvSpPr txBox="1"/>
          <p:nvPr/>
        </p:nvSpPr>
        <p:spPr bwMode="auto">
          <a:xfrm rot="0" flipH="0" flipV="0">
            <a:off x="430248" y="603248"/>
            <a:ext cx="11467008" cy="32232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以上结果</a:t>
            </a:r>
            <a:r>
              <a:rPr lang="zh-CN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主要反映出了如下过程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化学势μ↑ (由E1代理)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Q部分Majorana能谱改变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虚拟过程通道强度改变（Q→P→Q）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Schur补矩阵元素Σᵢⱼ(ω)改变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有效耦合K ~ ||Σ||增强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6913447" name=""/>
          <p:cNvSpPr txBox="1"/>
          <p:nvPr/>
        </p:nvSpPr>
        <p:spPr bwMode="auto">
          <a:xfrm rot="0" flipH="0" flipV="0">
            <a:off x="223873" y="587373"/>
            <a:ext cx="11835303" cy="9930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尝试描述N振荡</a:t>
            </a:r>
            <a:r>
              <a:rPr lang="en-US" sz="2200"/>
              <a:t>,K单调的机制: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K的单调比较容易解释: </a:t>
            </a:r>
            <a:endParaRPr/>
          </a:p>
        </p:txBody>
      </p:sp>
      <p:pic>
        <p:nvPicPr>
          <p:cNvPr id="189845253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464821" y="1717673"/>
            <a:ext cx="4600575" cy="4171950"/>
          </a:xfrm>
          <a:prstGeom prst="rect">
            <a:avLst/>
          </a:prstGeom>
        </p:spPr>
      </p:pic>
      <p:pic>
        <p:nvPicPr>
          <p:cNvPr id="50657391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76249" y="1984374"/>
            <a:ext cx="5206999" cy="3905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070630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5124" y="982662"/>
            <a:ext cx="4838699" cy="4700010"/>
          </a:xfrm>
          <a:prstGeom prst="rect">
            <a:avLst/>
          </a:prstGeom>
        </p:spPr>
      </p:pic>
      <p:sp>
        <p:nvSpPr>
          <p:cNvPr id="1684105045" name=""/>
          <p:cNvSpPr txBox="1"/>
          <p:nvPr/>
        </p:nvSpPr>
        <p:spPr bwMode="auto">
          <a:xfrm rot="0" flipH="0" flipV="0">
            <a:off x="334999" y="460374"/>
            <a:ext cx="11673384" cy="64824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我们定义矩阵的夹角</a:t>
            </a:r>
            <a:r>
              <a:rPr lang="en-US"/>
              <a:t>,进一步讨论N的振荡:</a:t>
            </a:r>
            <a:endParaRPr lang="en-US"/>
          </a:p>
          <a:p>
            <a:pPr>
              <a:defRPr/>
            </a:pPr>
            <a:endParaRPr/>
          </a:p>
        </p:txBody>
      </p:sp>
      <p:pic>
        <p:nvPicPr>
          <p:cNvPr id="98316865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90583" y="865187"/>
            <a:ext cx="6667499" cy="57626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9714843" name=""/>
          <p:cNvSpPr txBox="1"/>
          <p:nvPr/>
        </p:nvSpPr>
        <p:spPr bwMode="auto">
          <a:xfrm rot="0" flipH="0" flipV="0">
            <a:off x="319123" y="476248"/>
            <a:ext cx="11494658" cy="31426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给出一个类似相位干涉的公式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N=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≈2A</m:t>
                      </m:r>
                      <m:func>
                        <m:func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= LHS - RHS$ 是Yang-Baxter偏差矩阵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LHS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RHS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是矩阵幅度（单调递增）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是两个编织路径的矩阵夹角（非单调波动）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/>
              <a:t>下面会进行数值验证</a:t>
            </a:r>
            <a:r>
              <a:rPr lang="en-US"/>
              <a:t>.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0105116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65249" y="327140"/>
            <a:ext cx="9615061" cy="62037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797695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211749" y="581953"/>
            <a:ext cx="7113061" cy="5914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73312" name=""/>
          <p:cNvSpPr txBox="1"/>
          <p:nvPr/>
        </p:nvSpPr>
        <p:spPr bwMode="auto">
          <a:xfrm rot="0" flipH="0" flipV="0">
            <a:off x="54722" y="1016196"/>
            <a:ext cx="11941178" cy="14426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因此</a:t>
            </a:r>
            <a:r>
              <a:rPr lang="en-US"/>
              <a:t>,我们需要把之前的计算公式进行改进,更多的保留相位信息:也就是之前的时间核形式.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[4⋅2</m:t>
                          </m:r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α,β,μ,ν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18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b="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∬"/>
                                          <m:grow m:val="off"/>
                                          <m:limLoc m:val="undOvr"/>
                                          <m:subHide m:val="on"/>
                                          <m:supHide m:val="on"/>
                                          <m:ctrlPr>
                                            <a:rPr lang="en-US" sz="1800" i="1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naryPr>
                                        <m:sub/>
                                        <m:sup/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  <m:d>
                                            <m:dPr>
                                              <m:begChr m:val="("/>
                                              <m:endChr m:val=")"/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s,t</m:t>
                                              </m:r>
                                            </m:e>
                                          </m:d>
                                          <m:sSub>
                                            <m:sSubPr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αβ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begChr m:val="("/>
                                              <m:endChr m:val=")"/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</m:t>
                                              </m:r>
                                            </m:e>
                                          </m:d>
                                          <m:sSub>
                                            <m:sSubPr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μν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lang="en-US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(t)dsdt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]</m:t>
                              </m:r>
                            </m:e>
                          </m:nary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1/2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98280" name=""/>
          <p:cNvSpPr txBox="1"/>
          <p:nvPr/>
        </p:nvSpPr>
        <p:spPr bwMode="auto">
          <a:xfrm rot="0" flipH="0" flipV="0">
            <a:off x="442777" y="634999"/>
            <a:ext cx="11460601" cy="548419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最后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,在kitaev链上,验证我们给出的计算公式的N和实际的N:</a:t>
            </a:r>
            <a:endParaRPr sz="1800"/>
          </a:p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先从整条链用先构造 3-site BdG 块 H3（6×6），其矩阵行列顺序是</a:t>
            </a:r>
            <a:endParaRPr/>
          </a:p>
          <a:p>
            <a:pPr algn="l">
              <a:defRPr/>
            </a:pPr>
            <a:r>
              <a:rPr/>
              <a:t>[c0, c1, c2, c0†, c1†, c2†]（Nambu/BdG 单粒子表示）。</a:t>
            </a:r>
            <a:endParaRPr/>
          </a:p>
          <a:p>
            <a:pPr algn="l">
              <a:defRPr/>
            </a:pPr>
            <a:r>
              <a:rPr/>
              <a:t>抽取局域 2-站点单粒子子块：</a:t>
            </a:r>
            <a:endParaRPr/>
          </a:p>
          <a:p>
            <a:pPr algn="l">
              <a:defRPr/>
            </a:pPr>
            <a:r>
              <a:rPr/>
              <a:t>idx12 = indices_for_sites([0,1],3) → [0,1,3,4]，所以 H12 = H3[np.ix_(idx12,idx12)] 是 sites 0&amp;1 的 4×4 BdG 子块（排列 [c0,c1,c0†,c1†]）。</a:t>
            </a:r>
            <a:endParaRPr/>
          </a:p>
          <a:p>
            <a:pPr algn="l">
              <a:defRPr/>
            </a:pPr>
            <a:r>
              <a:rPr/>
              <a:t>idx23 = indices_for_sites([1,2],3) → [1,2,4,5]，类似得到 H23（sites 1&amp;2）。</a:t>
            </a:r>
            <a:endParaRPr/>
          </a:p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局域演化算符就是对这些单粒子子块做矩阵指数：</a:t>
            </a:r>
            <a:endParaRPr/>
          </a:p>
          <a:p>
            <a:pPr algn="l">
              <a:defRPr/>
            </a:pPr>
            <a:r>
              <a:rPr/>
              <a:t>R12_u = expm(-i H12 * u)，R12_v = expm(-i H12 * v)，R12_uv = expm(-i H12 * (u+v))</a:t>
            </a:r>
            <a:endParaRPr/>
          </a:p>
          <a:p>
            <a:pPr algn="l">
              <a:defRPr/>
            </a:pPr>
            <a:r>
              <a:rPr/>
              <a:t>R23_u / R23_v / R23_uv 同理用 H23。</a:t>
            </a:r>
            <a:endParaRPr/>
          </a:p>
          <a:p>
            <a:pPr algn="l">
              <a:defRPr/>
            </a:pPr>
            <a:endParaRPr/>
          </a:p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嵌入到 6×6 全局 3-site空间以便相乘比较：用 embed_op_on_three(op,'12') 或 '23' 将 4×4 的局域算符扩展为 block-diagonal 的 6×6（op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I 或 I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op），保证不同局域算符在同一基下可相乘得到 LHS/RHS 序列。</a:t>
            </a:r>
            <a:endParaRPr/>
          </a:p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最终比较的是嵌入后的 6×6 LHS = R12_u_e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R23_uv_e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R12_v_e 与 RHS = R23_v_e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R12_uv_e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R23_u_e，它们的差的 Frobenius 范数给 N_actual。</a:t>
            </a:r>
            <a:r>
              <a:rPr lang="en-US"/>
              <a:t> N_throry是上面具体公式计算结果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050410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253264" y="2881107"/>
            <a:ext cx="9438526" cy="3539446"/>
          </a:xfrm>
          <a:prstGeom prst="rect">
            <a:avLst/>
          </a:prstGeom>
        </p:spPr>
      </p:pic>
      <p:sp>
        <p:nvSpPr>
          <p:cNvPr id="1321869842" name=""/>
          <p:cNvSpPr/>
          <p:nvPr/>
        </p:nvSpPr>
        <p:spPr bwMode="auto">
          <a:xfrm flipH="0" flipV="0">
            <a:off x="535788" y="1333464"/>
            <a:ext cx="10988892" cy="152402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这张图展示的是矩阵夹角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的变化。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内容: 横轴 E1，纵轴两侧演化算子 LHS 与 RHS 的夹角。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解读: θ 接近 0° → LHS 与 RHS 方向接近，理论 N_theory 会很小；θ 的突变或峰值通常驱动 N_theory 的上升。配合 K 大小就可判断是“幅度驱动的”还是“相位驱动的”非阿贝尔差异。</a:t>
            </a:r>
            <a:endParaRPr/>
          </a:p>
        </p:txBody>
      </p:sp>
      <p:sp>
        <p:nvSpPr>
          <p:cNvPr id="1953509714" name=""/>
          <p:cNvSpPr txBox="1"/>
          <p:nvPr/>
        </p:nvSpPr>
        <p:spPr bwMode="auto">
          <a:xfrm rot="0" flipH="0" flipV="0">
            <a:off x="535788" y="490550"/>
            <a:ext cx="610170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473884" name=""/>
          <p:cNvSpPr txBox="1"/>
          <p:nvPr/>
        </p:nvSpPr>
        <p:spPr bwMode="auto">
          <a:xfrm rot="0" flipH="0" flipV="0">
            <a:off x="389860" y="1587499"/>
            <a:ext cx="3607707" cy="30786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K和E1的变化: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这里很好的描述了,我们之前推导的结果,kitaev的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,导致在E1=0时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sub>
                      </m:sSub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a:r>
              <a:rPr lang="en-US"/>
              <a:t>产生类似共振的现象.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后面E增大分母不断增大,所以K单调变小</a:t>
            </a:r>
            <a:endParaRPr lang="en-US"/>
          </a:p>
        </p:txBody>
      </p:sp>
      <p:pic>
        <p:nvPicPr>
          <p:cNvPr id="123685593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46944" y="1133020"/>
            <a:ext cx="7759901" cy="3879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476336" name=""/>
          <p:cNvSpPr txBox="1"/>
          <p:nvPr/>
        </p:nvSpPr>
        <p:spPr bwMode="auto">
          <a:xfrm rot="0" flipH="0" flipV="0">
            <a:off x="336944" y="397086"/>
            <a:ext cx="115444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lang="en-US"/>
          </a:p>
        </p:txBody>
      </p:sp>
      <p:pic>
        <p:nvPicPr>
          <p:cNvPr id="133887864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882360" y="1255027"/>
            <a:ext cx="8327277" cy="4163638"/>
          </a:xfrm>
          <a:prstGeom prst="rect">
            <a:avLst/>
          </a:prstGeom>
        </p:spPr>
      </p:pic>
      <p:sp>
        <p:nvSpPr>
          <p:cNvPr id="1897992025" name=""/>
          <p:cNvSpPr txBox="1"/>
          <p:nvPr/>
        </p:nvSpPr>
        <p:spPr bwMode="auto">
          <a:xfrm rot="0" flipH="0" flipV="0">
            <a:off x="195832" y="1364468"/>
            <a:ext cx="3687248" cy="41290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这张图给出 `N_theory` 与 `N_actual` 的逐点对比，是最关键的验证图。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两条曲线几乎完全重合，说明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N=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≈2A</m:t>
                      </m:r>
                      <m:func>
                        <m:func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不是经验拟合，而是直接数值成立。</a:t>
            </a:r>
            <a:endParaRPr sz="18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在整个 `E1` 扫描区间内，误差始终处于浮点精度量级，说明我们用矩阵夹角定义相位干涉是稳定的。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这张图回答了最核心的问题：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非阿贝尔指标 `N` 的振荡不是噪声，而是两条编织路径之间相位干涉的真实结果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63857" name=""/>
          <p:cNvSpPr txBox="1"/>
          <p:nvPr/>
        </p:nvSpPr>
        <p:spPr bwMode="auto">
          <a:xfrm rot="0" flipH="0" flipV="0">
            <a:off x="372222" y="511527"/>
            <a:ext cx="11586231" cy="7076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补充部分</a:t>
            </a:r>
            <a:r>
              <a:rPr lang="en-US" sz="2200"/>
              <a:t>:</a:t>
            </a:r>
            <a:endParaRPr lang="en-US" sz="22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306112" name=""/>
          <p:cNvSpPr txBox="1"/>
          <p:nvPr/>
        </p:nvSpPr>
        <p:spPr bwMode="auto">
          <a:xfrm rot="0" flipH="0" flipV="0">
            <a:off x="372221" y="200290"/>
            <a:ext cx="11770538" cy="618309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下面进一步延伸讨论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,定义谱函数来表示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在能量 ω 处，系统允许存在一个粒子态的概率密度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Im Tr G(ω+</m:t>
                      </m:r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i0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a:r>
              <a:rPr sz="1800"/>
              <a:t>其中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ω+i</m:t>
                      </m:r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≡</m:t>
                      </m:r>
                      <m:func>
                        <m:fun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η→0+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(ω+iη)</m:t>
                          </m:r>
                        </m:e>
                      </m:func>
                    </m:oMath>
                  </m:oMathPara>
                </a14:m>
              </mc:Choice>
              <mc:Fallback/>
            </mc:AlternateContent>
            <a:endParaRPr sz="1600"/>
          </a:p>
          <a:p>
            <a:pPr>
              <a:defRPr/>
            </a:pPr>
            <a:r>
              <a:rPr lang="zh-CN" sz="16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是我们将 Green 函数的解析延拓到复数上</a:t>
            </a:r>
            <a:endParaRPr sz="1800"/>
          </a:p>
          <a:p>
            <a:pPr>
              <a:defRPr/>
            </a:pPr>
            <a:r>
              <a:rPr sz="1800"/>
              <a:t>引入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=Re 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 Im Σ(z)</m:t>
                      </m:r>
                    </m:oMath>
                  </m:oMathPara>
                </a14:m>
              </mc:Choice>
              <mc:Fallback/>
            </mc:AlternateContent>
            <a:endParaRPr sz="16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6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ω-ϵ-Σ(w)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sz="1600"/>
          </a:p>
          <a:p>
            <a:pPr>
              <a:defRPr/>
            </a:pPr>
            <a:r>
              <a:rPr sz="1600"/>
              <a:t>谱函数变成</a:t>
            </a:r>
            <a:r>
              <a:rPr lang="en-US" sz="1600"/>
              <a:t>:</a:t>
            </a:r>
            <a:endParaRPr lang="en-US" sz="16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A~</m:t>
                      </m:r>
                      <m:f>
                        <m:fPr>
                          <m:ctrlPr>
                            <a:rPr lang="en-US" sz="16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num>
                        <m:den>
                          <m:sSup>
                            <m:sSupPr>
                              <m:ctrl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ω-ϵ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p>
                              <m:r>
                                <m:rPr/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1600"/>
          </a:p>
          <a:p>
            <a:pPr>
              <a:defRPr/>
            </a:pPr>
            <a:r>
              <a:rPr lang="en-US" sz="1600"/>
              <a:t>其中</a:t>
            </a:r>
            <a:endParaRPr lang="en-US" sz="16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Γ=Im Σ</m:t>
                      </m:r>
                    </m:oMath>
                  </m:oMathPara>
                </a14:m>
              </mc:Choice>
              <mc:Fallback/>
            </mc:AlternateContent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1800"/>
              <a:t>也就是说</a:t>
            </a:r>
            <a:r>
              <a:rPr lang="en-US" sz="18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Σ(z)</m:t>
                      </m:r>
                    </m:oMath>
                  </m:oMathPara>
                </a14:m>
              </mc:Choice>
              <mc:Fallback/>
            </mc:AlternateContent>
            <a:r>
              <a:rPr lang="en-US" sz="1800"/>
              <a:t>使得谱函数从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1800"/>
              <a:t>峰变成了有宽度的峰,从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“针状能级” → “有宽度的准粒子”</a:t>
            </a:r>
            <a:r>
              <a:rPr lang="en-US" sz="1800"/>
              <a:t>,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对应了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非阿贝尔结构在谱空间中的投影</a:t>
            </a:r>
            <a:r>
              <a:rPr lang="en-US" sz="1600"/>
              <a:t>(谱峰的变宽,重排,混合等).  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1800"/>
          </a:p>
        </p:txBody>
      </p:sp>
      <p:graphicFrame>
        <p:nvGraphicFramePr>
          <p:cNvPr id="1661415419" name=""/>
          <p:cNvGraphicFramePr>
            <a:graphicFrameLocks xmlns:a="http://schemas.openxmlformats.org/drawingml/2006/main"/>
          </p:cNvGraphicFramePr>
          <p:nvPr/>
        </p:nvGraphicFramePr>
        <p:xfrm rot="0">
          <a:off x="2402416" y="4246736"/>
          <a:ext cx="8127999" cy="1132081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709332"/>
                <a:gridCol w="2709332"/>
                <a:gridCol w="2709332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情形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铺函数形状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对应的意义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无相互作用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/>
                        <a:t>函数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稳定本征态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存在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Σ(z)≠0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类似光电里的洛伦兹形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有寿命的准粒子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78</Slides>
  <Notes>78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7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/>
  <cp:revision>61</cp:revision>
  <dcterms:created xsi:type="dcterms:W3CDTF">2022-05-23T10:27:50Z</dcterms:created>
  <dcterms:modified xsi:type="dcterms:W3CDTF">2026-05-20T19:49:23Z</dcterms:modified>
</cp:coreProperties>
</file>