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15.xml" ContentType="application/vnd.openxmlformats-officedocument.presentationml.slide+xml"/>
  <Override PartName="/ppt/slides/slide40.xml" ContentType="application/vnd.openxmlformats-officedocument.presentationml.slide+xml"/>
  <Override PartName="/ppt/slides/slide24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docProps/core.xml" ContentType="application/vnd.openxmlformats-package.core-properties+xml"/>
  <Override PartName="/ppt/slides/slide25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theme/theme2.xml" ContentType="application/vnd.openxmlformats-officedocument.theme+xml"/>
  <Override PartName="/ppt/notesSlides/notesSlide49.xml" ContentType="application/vnd.openxmlformats-officedocument.presentationml.notesSlide+xml"/>
  <Override PartName="/ppt/slides/slide20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notesSlides/notesSlide32.xml" ContentType="application/vnd.openxmlformats-officedocument.presentationml.notesSlid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notesSlides/notesSlide46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9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3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6" d="100"/>
          <a:sy n="86" d="100"/>
        </p:scale>
        <p:origin x="562" y="67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 /><Relationship Id="rId56" Type="http://schemas.openxmlformats.org/officeDocument/2006/relationships/tableStyles" Target="tableStyles.xml" /><Relationship Id="rId5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054395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73288373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382FE30-D1CB-4640-A759-810F00360910}" type="datetimeFigureOut">
              <a:rPr lang="zh-CN"/>
              <a:t>2022/6/24</a:t>
            </a:fld>
            <a:endParaRPr lang="zh-CN"/>
          </a:p>
        </p:txBody>
      </p:sp>
      <p:sp>
        <p:nvSpPr>
          <p:cNvPr id="1838951081" name="幻灯片图像占位符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1738887968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718337078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358772924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024435C-6EC0-481B-A838-74E1A0E375B9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9209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56176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16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BAEE65-8045-A9B3-FD2E-2F89AA941D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292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7092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052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C37281-EDF7-3A5F-D467-6A2C92C0A7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3904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5941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722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7B2519-3C56-F9A9-3951-EEE60B8259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701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2504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138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03C45F-358F-6D6D-FCC7-4B5FD4D51A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5234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6061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112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0071E-26B0-1959-20F5-4F813143B5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559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45830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80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A5858-B282-1531-0FB3-E460877B49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1640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95740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1913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5DE5D1-20B4-5255-B211-67DDCA7677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496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8730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910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4AB0D4-CC30-9396-13D3-DF7F9DF55B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5702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3298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79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267DC9-2837-32EE-1ABC-E67EC3694E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550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30306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413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103DA7-9DB3-3B02-6ABD-4F6904C4B4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155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2959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00141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F061-323E-9348-A1A2-F9DFC0B5AF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638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24844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00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17DCCC-11E1-DB6F-3C8D-FEFE53AA95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337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446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4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3605F4-1AF2-E27F-EEFD-D067B5AC13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3349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9343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3621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CC27D5-5D22-EECF-C31F-E7333DC810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48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1798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17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032C3B-1BD9-27BA-EA21-086304F151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296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2046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750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D2645-33AF-77F3-C743-AACE7727C8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4430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6044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477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744E73-1F52-B22C-55CF-4682888914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624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4113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46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E0EF37-8CED-B8D6-2726-67713AE9A7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6661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4383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4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7DA659-02E4-C9F6-2ABC-C7A748861D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70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5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926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98415-3EE0-9F38-6CCC-138E6CFD48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147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5566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13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45DF01-36D2-2AC3-7621-C3298747CC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155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8387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7055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21A61B-4CB7-194F-752D-5FE1D5A94B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859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062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680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F79425-5F70-D646-6A3A-CED647B786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498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33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31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9A30FA-05AE-F1BC-6582-9F22F9F31D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3282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6779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354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63DC2B-A3DE-AF19-58A3-C1E653564E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5287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968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271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720B5B-33CD-1E06-6182-5863E6F4BF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E3A617-CCCD-A13D-313F-54C9205B73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899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649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843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6BDE0A-F97B-9D77-8572-B551FBA741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7936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6453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687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A83F18-9D26-97D3-D408-0CCFE17B9C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414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7313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57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DF24A0-1053-8898-FC8F-C5BB831752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40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7792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0105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F0247-04B1-52F8-9EED-AF795CBFA5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614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565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26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02E0D9-D04A-E80A-C71A-01DA0CCFEF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749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74544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32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02DC2-7644-98FA-E33B-7A96CCA1AA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7241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323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371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860B-6E4D-279A-7BA8-8AB19F913E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497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9163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5410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AFF81C-1241-BD30-9D38-F0DE66F39E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874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237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120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6B67DB-4C56-4F6F-BA6C-714DCC1C2C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585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1184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022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65A1FD-34CC-3698-91AA-20F5E827E0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987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109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582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3B9933-D0EE-1CAD-196A-C602923383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161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058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36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E967C4-834B-EA62-F0C1-2E31A20F2A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347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8392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1359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376A39-4C55-57AE-FE95-AEF0FD039E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056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8764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92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E00933-EFE4-8740-039D-D66BA057E8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098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8115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7414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2BED6F-B7E0-387F-865C-E09AC08721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95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085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3618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0509D8-E1EE-897E-55A8-086C74EAB9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304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262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17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338CCA-7007-D525-B3F8-0625C907C6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01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0534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52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87507-0CCC-4F14-3BFD-67FA10A766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1852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389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8169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772127-5B3D-6960-6E92-CAEC84BB84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367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8754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6445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62E30B-0A0E-784F-86C9-FEB9C80567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854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4125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760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7B87FB-51E3-44C5-EC29-5189C29A51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659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6584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271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44EC42-E571-8917-0191-0C7F1F4057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651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184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69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3F40F3-2B32-374A-DEC4-AB162BD592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27926" name="矩形 1"/>
          <p:cNvSpPr/>
          <p:nvPr userDrawn="1"/>
        </p:nvSpPr>
        <p:spPr bwMode="auto">
          <a:xfrm>
            <a:off x="3835400" y="0"/>
            <a:ext cx="4521200" cy="182880"/>
          </a:xfrm>
          <a:prstGeom prst="rect">
            <a:avLst/>
          </a:prstGeom>
          <a:solidFill>
            <a:srgbClr val="2B77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自定义版式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328864" name="矩形 17"/>
          <p:cNvSpPr/>
          <p:nvPr/>
        </p:nvSpPr>
        <p:spPr bwMode="auto">
          <a:xfrm>
            <a:off x="0" y="0"/>
            <a:ext cx="4793942" cy="6858000"/>
          </a:xfrm>
          <a:prstGeom prst="rect">
            <a:avLst/>
          </a:prstGeom>
          <a:blipFill rotWithShape="1">
            <a:blip r:embed="rId3"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1266502" name="矩形 22"/>
          <p:cNvSpPr/>
          <p:nvPr/>
        </p:nvSpPr>
        <p:spPr bwMode="auto">
          <a:xfrm>
            <a:off x="0" y="1"/>
            <a:ext cx="4793942" cy="6857999"/>
          </a:xfrm>
          <a:prstGeom prst="rect">
            <a:avLst/>
          </a:prstGeom>
          <a:blipFill rotWithShape="1">
            <a:blip r:embed="rId4">
              <a:alphaModFix amt="86000"/>
            </a:blip>
            <a:stretch>
              <a:fillRect l="-52412" t="0" r="-142586" b="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1" i="0" u="none" strike="noStrike" cap="none" spc="0">
              <a:ln>
                <a:noFill/>
              </a:ln>
              <a:solidFill>
                <a:srgbClr val="0070C0"/>
              </a:solidFill>
              <a:latin typeface="微软雅黑"/>
              <a:ea typeface="微软雅黑"/>
              <a:cs typeface="+mn-cs"/>
            </a:endParaRPr>
          </a:p>
        </p:txBody>
      </p:sp>
      <p:grpSp>
        <p:nvGrpSpPr>
          <p:cNvPr id="1494105966" name="组合 2"/>
          <p:cNvGrpSpPr/>
          <p:nvPr/>
        </p:nvGrpSpPr>
        <p:grpSpPr bwMode="auto">
          <a:xfrm>
            <a:off x="488304" y="1569098"/>
            <a:ext cx="3455807" cy="3408168"/>
            <a:chOff x="-9050" y="2167639"/>
            <a:chExt cx="3455807" cy="3408168"/>
          </a:xfrm>
          <a:solidFill>
            <a:schemeClr val="bg1"/>
          </a:solidFill>
        </p:grpSpPr>
        <p:grpSp>
          <p:nvGrpSpPr>
            <p:cNvPr id="4" name="组合 3"/>
            <p:cNvGrpSpPr/>
            <p:nvPr/>
          </p:nvGrpSpPr>
          <p:grpSpPr bwMode="auto">
            <a:xfrm>
              <a:off x="734486" y="2167639"/>
              <a:ext cx="2487741" cy="2288124"/>
              <a:chOff x="8374817" y="3976831"/>
              <a:chExt cx="719115" cy="661413"/>
            </a:xfrm>
            <a:grpFill/>
          </p:grpSpPr>
          <p:sp>
            <p:nvSpPr>
              <p:cNvPr id="6" name="Freeform 44"/>
              <p:cNvSpPr/>
              <p:nvPr/>
            </p:nvSpPr>
            <p:spPr bwMode="auto">
              <a:xfrm>
                <a:off x="9018919" y="4072040"/>
                <a:ext cx="75013" cy="68522"/>
              </a:xfrm>
              <a:custGeom>
                <a:avLst/>
                <a:gdLst>
                  <a:gd name="T0" fmla="*/ 28 w 44"/>
                  <a:gd name="T1" fmla="*/ 11 h 40"/>
                  <a:gd name="T2" fmla="*/ 0 w 44"/>
                  <a:gd name="T3" fmla="*/ 18 h 40"/>
                  <a:gd name="T4" fmla="*/ 31 w 44"/>
                  <a:gd name="T5" fmla="*/ 40 h 40"/>
                  <a:gd name="T6" fmla="*/ 28 w 44"/>
                  <a:gd name="T7" fmla="*/ 11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4" h="40" fill="norm" stroke="1" extrusionOk="0">
                    <a:moveTo>
                      <a:pt x="28" y="11"/>
                    </a:moveTo>
                    <a:cubicBezTo>
                      <a:pt x="13" y="0"/>
                      <a:pt x="0" y="18"/>
                      <a:pt x="0" y="18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44" y="22"/>
                      <a:pt x="28" y="1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62" tIns="45731" rIns="91462" bIns="45731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+mn-cs"/>
                </a:endParaRPr>
              </a:p>
            </p:txBody>
          </p:sp>
          <p:sp>
            <p:nvSpPr>
              <p:cNvPr id="7" name="Freeform 45"/>
              <p:cNvSpPr/>
              <p:nvPr/>
            </p:nvSpPr>
            <p:spPr bwMode="auto">
              <a:xfrm>
                <a:off x="8831387" y="4116759"/>
                <a:ext cx="230088" cy="284184"/>
              </a:xfrm>
              <a:custGeom>
                <a:avLst/>
                <a:gdLst>
                  <a:gd name="T0" fmla="*/ 187 w 319"/>
                  <a:gd name="T1" fmla="*/ 85 h 394"/>
                  <a:gd name="T2" fmla="*/ 156 w 319"/>
                  <a:gd name="T3" fmla="*/ 125 h 394"/>
                  <a:gd name="T4" fmla="*/ 104 w 319"/>
                  <a:gd name="T5" fmla="*/ 198 h 394"/>
                  <a:gd name="T6" fmla="*/ 0 w 319"/>
                  <a:gd name="T7" fmla="*/ 342 h 394"/>
                  <a:gd name="T8" fmla="*/ 74 w 319"/>
                  <a:gd name="T9" fmla="*/ 394 h 394"/>
                  <a:gd name="T10" fmla="*/ 104 w 319"/>
                  <a:gd name="T11" fmla="*/ 352 h 394"/>
                  <a:gd name="T12" fmla="*/ 130 w 319"/>
                  <a:gd name="T13" fmla="*/ 314 h 394"/>
                  <a:gd name="T14" fmla="*/ 156 w 319"/>
                  <a:gd name="T15" fmla="*/ 276 h 394"/>
                  <a:gd name="T16" fmla="*/ 319 w 319"/>
                  <a:gd name="T17" fmla="*/ 52 h 394"/>
                  <a:gd name="T18" fmla="*/ 248 w 319"/>
                  <a:gd name="T19" fmla="*/ 0 h 394"/>
                  <a:gd name="T20" fmla="*/ 187 w 319"/>
                  <a:gd name="T21" fmla="*/ 85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9" h="394" fill="norm" stroke="1" extrusionOk="0">
                    <a:moveTo>
                      <a:pt x="187" y="85"/>
                    </a:moveTo>
                    <a:lnTo>
                      <a:pt x="156" y="125"/>
                    </a:lnTo>
                    <a:lnTo>
                      <a:pt x="104" y="198"/>
                    </a:lnTo>
                    <a:lnTo>
                      <a:pt x="0" y="342"/>
                    </a:lnTo>
                    <a:lnTo>
                      <a:pt x="74" y="394"/>
                    </a:lnTo>
                    <a:lnTo>
                      <a:pt x="104" y="352"/>
                    </a:lnTo>
                    <a:lnTo>
                      <a:pt x="130" y="314"/>
                    </a:lnTo>
                    <a:lnTo>
                      <a:pt x="156" y="276"/>
                    </a:lnTo>
                    <a:lnTo>
                      <a:pt x="319" y="52"/>
                    </a:lnTo>
                    <a:lnTo>
                      <a:pt x="248" y="0"/>
                    </a:lnTo>
                    <a:lnTo>
                      <a:pt x="187" y="8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62" tIns="45731" rIns="91462" bIns="45731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+mn-cs"/>
                </a:endParaRPr>
              </a:p>
            </p:txBody>
          </p:sp>
          <p:sp>
            <p:nvSpPr>
              <p:cNvPr id="8" name="Freeform 46"/>
              <p:cNvSpPr/>
              <p:nvPr/>
            </p:nvSpPr>
            <p:spPr bwMode="auto">
              <a:xfrm>
                <a:off x="8374817" y="3976831"/>
                <a:ext cx="569090" cy="661413"/>
              </a:xfrm>
              <a:custGeom>
                <a:avLst/>
                <a:gdLst>
                  <a:gd name="T0" fmla="*/ 312 w 334"/>
                  <a:gd name="T1" fmla="*/ 348 h 388"/>
                  <a:gd name="T2" fmla="*/ 293 w 334"/>
                  <a:gd name="T3" fmla="*/ 366 h 388"/>
                  <a:gd name="T4" fmla="*/ 40 w 334"/>
                  <a:gd name="T5" fmla="*/ 366 h 388"/>
                  <a:gd name="T6" fmla="*/ 22 w 334"/>
                  <a:gd name="T7" fmla="*/ 348 h 388"/>
                  <a:gd name="T8" fmla="*/ 22 w 334"/>
                  <a:gd name="T9" fmla="*/ 41 h 388"/>
                  <a:gd name="T10" fmla="*/ 40 w 334"/>
                  <a:gd name="T11" fmla="*/ 23 h 388"/>
                  <a:gd name="T12" fmla="*/ 293 w 334"/>
                  <a:gd name="T13" fmla="*/ 23 h 388"/>
                  <a:gd name="T14" fmla="*/ 312 w 334"/>
                  <a:gd name="T15" fmla="*/ 41 h 388"/>
                  <a:gd name="T16" fmla="*/ 312 w 334"/>
                  <a:gd name="T17" fmla="*/ 140 h 388"/>
                  <a:gd name="T18" fmla="*/ 334 w 334"/>
                  <a:gd name="T19" fmla="*/ 109 h 388"/>
                  <a:gd name="T20" fmla="*/ 334 w 334"/>
                  <a:gd name="T21" fmla="*/ 21 h 388"/>
                  <a:gd name="T22" fmla="*/ 313 w 334"/>
                  <a:gd name="T23" fmla="*/ 0 h 388"/>
                  <a:gd name="T24" fmla="*/ 21 w 334"/>
                  <a:gd name="T25" fmla="*/ 0 h 388"/>
                  <a:gd name="T26" fmla="*/ 0 w 334"/>
                  <a:gd name="T27" fmla="*/ 21 h 388"/>
                  <a:gd name="T28" fmla="*/ 0 w 334"/>
                  <a:gd name="T29" fmla="*/ 368 h 388"/>
                  <a:gd name="T30" fmla="*/ 21 w 334"/>
                  <a:gd name="T31" fmla="*/ 388 h 388"/>
                  <a:gd name="T32" fmla="*/ 313 w 334"/>
                  <a:gd name="T33" fmla="*/ 388 h 388"/>
                  <a:gd name="T34" fmla="*/ 334 w 334"/>
                  <a:gd name="T35" fmla="*/ 368 h 388"/>
                  <a:gd name="T36" fmla="*/ 334 w 334"/>
                  <a:gd name="T37" fmla="*/ 223 h 388"/>
                  <a:gd name="T38" fmla="*/ 312 w 334"/>
                  <a:gd name="T39" fmla="*/ 254 h 388"/>
                  <a:gd name="T40" fmla="*/ 312 w 334"/>
                  <a:gd name="T41" fmla="*/ 348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4" h="388" fill="norm" stroke="1" extrusionOk="0">
                    <a:moveTo>
                      <a:pt x="312" y="348"/>
                    </a:moveTo>
                    <a:cubicBezTo>
                      <a:pt x="312" y="358"/>
                      <a:pt x="303" y="366"/>
                      <a:pt x="293" y="366"/>
                    </a:cubicBezTo>
                    <a:cubicBezTo>
                      <a:pt x="40" y="366"/>
                      <a:pt x="40" y="366"/>
                      <a:pt x="40" y="366"/>
                    </a:cubicBezTo>
                    <a:cubicBezTo>
                      <a:pt x="30" y="366"/>
                      <a:pt x="22" y="358"/>
                      <a:pt x="22" y="348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2" y="31"/>
                      <a:pt x="30" y="23"/>
                      <a:pt x="40" y="23"/>
                    </a:cubicBezTo>
                    <a:cubicBezTo>
                      <a:pt x="293" y="23"/>
                      <a:pt x="293" y="23"/>
                      <a:pt x="293" y="23"/>
                    </a:cubicBezTo>
                    <a:cubicBezTo>
                      <a:pt x="303" y="23"/>
                      <a:pt x="312" y="31"/>
                      <a:pt x="312" y="41"/>
                    </a:cubicBezTo>
                    <a:cubicBezTo>
                      <a:pt x="312" y="140"/>
                      <a:pt x="312" y="140"/>
                      <a:pt x="312" y="140"/>
                    </a:cubicBezTo>
                    <a:cubicBezTo>
                      <a:pt x="334" y="109"/>
                      <a:pt x="334" y="109"/>
                      <a:pt x="334" y="109"/>
                    </a:cubicBezTo>
                    <a:cubicBezTo>
                      <a:pt x="334" y="21"/>
                      <a:pt x="334" y="21"/>
                      <a:pt x="334" y="21"/>
                    </a:cubicBezTo>
                    <a:cubicBezTo>
                      <a:pt x="334" y="10"/>
                      <a:pt x="325" y="0"/>
                      <a:pt x="313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9" y="0"/>
                      <a:pt x="0" y="10"/>
                      <a:pt x="0" y="21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9"/>
                      <a:pt x="9" y="388"/>
                      <a:pt x="21" y="388"/>
                    </a:cubicBezTo>
                    <a:cubicBezTo>
                      <a:pt x="313" y="388"/>
                      <a:pt x="313" y="388"/>
                      <a:pt x="313" y="388"/>
                    </a:cubicBezTo>
                    <a:cubicBezTo>
                      <a:pt x="325" y="388"/>
                      <a:pt x="334" y="379"/>
                      <a:pt x="334" y="368"/>
                    </a:cubicBezTo>
                    <a:cubicBezTo>
                      <a:pt x="334" y="223"/>
                      <a:pt x="334" y="223"/>
                      <a:pt x="334" y="223"/>
                    </a:cubicBezTo>
                    <a:cubicBezTo>
                      <a:pt x="312" y="254"/>
                      <a:pt x="312" y="254"/>
                      <a:pt x="312" y="254"/>
                    </a:cubicBezTo>
                    <a:lnTo>
                      <a:pt x="312" y="3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62" tIns="45731" rIns="91462" bIns="45731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+mn-cs"/>
                </a:endParaRPr>
              </a:p>
            </p:txBody>
          </p:sp>
          <p:sp>
            <p:nvSpPr>
              <p:cNvPr id="9" name="Freeform 47"/>
              <p:cNvSpPr/>
              <p:nvPr/>
            </p:nvSpPr>
            <p:spPr bwMode="auto">
              <a:xfrm>
                <a:off x="8806142" y="4377142"/>
                <a:ext cx="67800" cy="77177"/>
              </a:xfrm>
              <a:custGeom>
                <a:avLst/>
                <a:gdLst>
                  <a:gd name="T0" fmla="*/ 21 w 94"/>
                  <a:gd name="T1" fmla="*/ 0 h 107"/>
                  <a:gd name="T2" fmla="*/ 0 w 94"/>
                  <a:gd name="T3" fmla="*/ 107 h 107"/>
                  <a:gd name="T4" fmla="*/ 94 w 94"/>
                  <a:gd name="T5" fmla="*/ 52 h 107"/>
                  <a:gd name="T6" fmla="*/ 21 w 94"/>
                  <a:gd name="T7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4" h="107" fill="norm" stroke="1" extrusionOk="0">
                    <a:moveTo>
                      <a:pt x="21" y="0"/>
                    </a:moveTo>
                    <a:lnTo>
                      <a:pt x="0" y="107"/>
                    </a:lnTo>
                    <a:lnTo>
                      <a:pt x="94" y="52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62" tIns="45731" rIns="91462" bIns="45731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+mn-cs"/>
                </a:endParaRPr>
              </a:p>
            </p:txBody>
          </p:sp>
          <p:sp>
            <p:nvSpPr>
              <p:cNvPr id="10" name="Rectangle 48"/>
              <p:cNvSpPr>
                <a:spLocks noChangeArrowheads="1"/>
              </p:cNvSpPr>
              <p:nvPr/>
            </p:nvSpPr>
            <p:spPr bwMode="auto">
              <a:xfrm>
                <a:off x="8459928" y="4504808"/>
                <a:ext cx="296223" cy="3462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62" tIns="45731" rIns="91462" bIns="45731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+mn-cs"/>
                </a:endParaRPr>
              </a:p>
            </p:txBody>
          </p:sp>
          <p:sp>
            <p:nvSpPr>
              <p:cNvPr id="11" name="Rectangle 49"/>
              <p:cNvSpPr>
                <a:spLocks noChangeArrowheads="1"/>
              </p:cNvSpPr>
              <p:nvPr/>
            </p:nvSpPr>
            <p:spPr bwMode="auto">
              <a:xfrm>
                <a:off x="8459928" y="4428352"/>
                <a:ext cx="296223" cy="339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62" tIns="45731" rIns="91462" bIns="45731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+mn-cs"/>
                </a:endParaRPr>
              </a:p>
            </p:txBody>
          </p:sp>
          <p:sp>
            <p:nvSpPr>
              <p:cNvPr id="12" name="Rectangle 50"/>
              <p:cNvSpPr>
                <a:spLocks noChangeArrowheads="1"/>
              </p:cNvSpPr>
              <p:nvPr/>
            </p:nvSpPr>
            <p:spPr bwMode="auto">
              <a:xfrm>
                <a:off x="8459928" y="4354782"/>
                <a:ext cx="296223" cy="3245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62" tIns="45731" rIns="91462" bIns="45731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+mn-cs"/>
                </a:endParaRPr>
              </a:p>
            </p:txBody>
          </p:sp>
          <p:sp>
            <p:nvSpPr>
              <p:cNvPr id="13" name="Rectangle 51"/>
              <p:cNvSpPr>
                <a:spLocks noChangeArrowheads="1"/>
              </p:cNvSpPr>
              <p:nvPr/>
            </p:nvSpPr>
            <p:spPr bwMode="auto">
              <a:xfrm>
                <a:off x="8459928" y="4278326"/>
                <a:ext cx="296223" cy="3245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62" tIns="45731" rIns="91462" bIns="45731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+mn-cs"/>
                </a:endParaRPr>
              </a:p>
            </p:txBody>
          </p:sp>
          <p:sp>
            <p:nvSpPr>
              <p:cNvPr id="14" name="Rectangle 52"/>
              <p:cNvSpPr>
                <a:spLocks noChangeArrowheads="1"/>
              </p:cNvSpPr>
              <p:nvPr/>
            </p:nvSpPr>
            <p:spPr bwMode="auto">
              <a:xfrm>
                <a:off x="8459928" y="4201870"/>
                <a:ext cx="296223" cy="339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62" tIns="45731" rIns="91462" bIns="45731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+mn-cs"/>
                </a:endParaRPr>
              </a:p>
            </p:txBody>
          </p:sp>
          <p:sp>
            <p:nvSpPr>
              <p:cNvPr id="15" name="Rectangle 53"/>
              <p:cNvSpPr>
                <a:spLocks noChangeArrowheads="1"/>
              </p:cNvSpPr>
              <p:nvPr/>
            </p:nvSpPr>
            <p:spPr bwMode="auto">
              <a:xfrm>
                <a:off x="8459928" y="4124694"/>
                <a:ext cx="296223" cy="3462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62" tIns="45731" rIns="91462" bIns="45731" numCol="1" anchor="t" anchorCtr="0" compatLnSpc="1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zh-CN" sz="1800" b="0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+mn-cs"/>
                </a:endParaRPr>
              </a:p>
            </p:txBody>
          </p:sp>
        </p:grpSp>
        <p:sp>
          <p:nvSpPr>
            <p:cNvPr id="5" name="TextBox 59"/>
            <p:cNvSpPr>
              <a:spLocks noChangeArrowheads="1"/>
            </p:cNvSpPr>
            <p:nvPr/>
          </p:nvSpPr>
          <p:spPr bwMode="auto">
            <a:xfrm flipH="1">
              <a:off x="-9050" y="4652477"/>
              <a:ext cx="3455807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/>
                  <a:ea typeface="宋体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/>
                  <a:ea typeface="宋体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/>
                  <a:ea typeface="宋体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/>
                  <a:ea typeface="宋体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/>
                  <a:ea typeface="宋体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/>
                <a:defRPr>
                  <a:solidFill>
                    <a:schemeClr val="tx1"/>
                  </a:solidFill>
                  <a:latin typeface="Arial"/>
                  <a:ea typeface="宋体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/>
                <a:defRPr>
                  <a:solidFill>
                    <a:schemeClr val="tx1"/>
                  </a:solidFill>
                  <a:latin typeface="Arial"/>
                  <a:ea typeface="宋体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/>
                <a:defRPr>
                  <a:solidFill>
                    <a:schemeClr val="tx1"/>
                  </a:solidFill>
                  <a:latin typeface="Arial"/>
                  <a:ea typeface="宋体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/>
                <a:defRPr>
                  <a:solidFill>
                    <a:schemeClr val="tx1"/>
                  </a:solidFill>
                  <a:latin typeface="Arial"/>
                  <a:ea typeface="宋体"/>
                </a:defRPr>
              </a:lvl9pPr>
            </a:lstStyle>
            <a:p>
              <a:pPr marL="0" marR="0" lvl="0" indent="0" algn="ctr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5400" b="1" i="0" u="none" strike="noStrike" cap="none" spc="0">
                  <a:ln>
                    <a:noFill/>
                  </a:ln>
                  <a:solidFill>
                    <a:prstClr val="white"/>
                  </a:solidFill>
                  <a:latin typeface="字魂59号-创粗黑"/>
                  <a:ea typeface="字魂59号-创粗黑"/>
                  <a:cs typeface="David"/>
                </a:rPr>
                <a:t>CONTENTS </a:t>
              </a:r>
              <a:endParaRPr/>
            </a:p>
          </p:txBody>
        </p:sp>
      </p:grpSp>
      <p:sp>
        <p:nvSpPr>
          <p:cNvPr id="1933949328" name="Oval 4"/>
          <p:cNvSpPr/>
          <p:nvPr/>
        </p:nvSpPr>
        <p:spPr bwMode="auto">
          <a:xfrm>
            <a:off x="6595515" y="1925393"/>
            <a:ext cx="749367" cy="749367"/>
          </a:xfrm>
          <a:prstGeom prst="ellipse">
            <a:avLst/>
          </a:prstGeom>
          <a:blipFill rotWithShape="1">
            <a:blip r:embed="rId4">
              <a:alphaModFix amt="86000"/>
            </a:blip>
            <a:stretch>
              <a:fillRect l="0" t="0" r="-33000" b="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rial Black"/>
                <a:ea typeface="字魂59号-创粗黑"/>
                <a:cs typeface="+mn-cs"/>
              </a:rPr>
              <a:t>1</a:t>
            </a:r>
            <a:endParaRPr lang="id-ID" sz="3200" b="1" i="0" u="none" strike="noStrike" cap="none" spc="0">
              <a:ln>
                <a:noFill/>
              </a:ln>
              <a:solidFill>
                <a:prstClr val="white"/>
              </a:solidFill>
              <a:latin typeface="Arial Black"/>
              <a:ea typeface="字魂59号-创粗黑"/>
              <a:cs typeface="+mn-cs"/>
            </a:endParaRPr>
          </a:p>
        </p:txBody>
      </p:sp>
      <p:sp>
        <p:nvSpPr>
          <p:cNvPr id="2050577789" name="Oval 4"/>
          <p:cNvSpPr/>
          <p:nvPr/>
        </p:nvSpPr>
        <p:spPr bwMode="auto">
          <a:xfrm>
            <a:off x="6595515" y="3103973"/>
            <a:ext cx="749367" cy="749367"/>
          </a:xfrm>
          <a:prstGeom prst="ellipse">
            <a:avLst/>
          </a:prstGeom>
          <a:blipFill rotWithShape="1">
            <a:blip r:embed="rId4">
              <a:alphaModFix amt="86000"/>
            </a:blip>
            <a:stretch>
              <a:fillRect l="0" t="0" r="-33000" b="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rial Black"/>
                <a:ea typeface="字魂59号-创粗黑"/>
                <a:cs typeface="+mn-cs"/>
              </a:rPr>
              <a:t>2</a:t>
            </a:r>
            <a:endParaRPr lang="id-ID" sz="3200" b="1" i="0" u="none" strike="noStrike" cap="none" spc="0">
              <a:ln>
                <a:noFill/>
              </a:ln>
              <a:solidFill>
                <a:prstClr val="white"/>
              </a:solidFill>
              <a:latin typeface="Arial Black"/>
              <a:ea typeface="字魂59号-创粗黑"/>
              <a:cs typeface="+mn-cs"/>
            </a:endParaRPr>
          </a:p>
        </p:txBody>
      </p:sp>
      <p:sp>
        <p:nvSpPr>
          <p:cNvPr id="1772679291" name="Oval 4"/>
          <p:cNvSpPr/>
          <p:nvPr/>
        </p:nvSpPr>
        <p:spPr bwMode="auto">
          <a:xfrm>
            <a:off x="6595515" y="4282553"/>
            <a:ext cx="749367" cy="749367"/>
          </a:xfrm>
          <a:prstGeom prst="ellipse">
            <a:avLst/>
          </a:prstGeom>
          <a:blipFill rotWithShape="1">
            <a:blip r:embed="rId4">
              <a:alphaModFix amt="86000"/>
            </a:blip>
            <a:stretch>
              <a:fillRect l="0" t="0" r="-33000" b="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rial Black"/>
                <a:ea typeface="字魂59号-创粗黑"/>
                <a:cs typeface="+mn-cs"/>
              </a:rPr>
              <a:t>3</a:t>
            </a:r>
            <a:endParaRPr lang="id-ID" sz="3200" b="1" i="0" u="none" strike="noStrike" cap="none" spc="0">
              <a:ln>
                <a:noFill/>
              </a:ln>
              <a:solidFill>
                <a:prstClr val="white"/>
              </a:solidFill>
              <a:latin typeface="Arial Black"/>
              <a:ea typeface="字魂59号-创粗黑"/>
              <a:cs typeface="+mn-cs"/>
            </a:endParaRPr>
          </a:p>
        </p:txBody>
      </p:sp>
      <p:sp>
        <p:nvSpPr>
          <p:cNvPr id="1054135357" name="Text Box 17"/>
          <p:cNvSpPr txBox="1">
            <a:spLocks noChangeArrowheads="1"/>
          </p:cNvSpPr>
          <p:nvPr/>
        </p:nvSpPr>
        <p:spPr bwMode="auto">
          <a:xfrm>
            <a:off x="7508667" y="2007689"/>
            <a:ext cx="3193305" cy="5794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/>
                <a:ea typeface="宋体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/>
                <a:ea typeface="宋体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zh-CN" sz="3200" b="1" i="0" u="none" strike="noStrike" cap="none" spc="0">
                <a:ln>
                  <a:noFill/>
                </a:ln>
                <a:solidFill>
                  <a:srgbClr val="0070C0"/>
                </a:solidFill>
                <a:latin typeface="微软雅黑"/>
                <a:ea typeface="微软雅黑"/>
                <a:cs typeface="Times New Roman"/>
              </a:rPr>
              <a:t>总览</a:t>
            </a:r>
            <a:endParaRPr/>
          </a:p>
        </p:txBody>
      </p:sp>
      <p:sp>
        <p:nvSpPr>
          <p:cNvPr id="1792917207" name="Text Box 17"/>
          <p:cNvSpPr txBox="1">
            <a:spLocks noChangeArrowheads="1"/>
          </p:cNvSpPr>
          <p:nvPr/>
        </p:nvSpPr>
        <p:spPr bwMode="auto">
          <a:xfrm flipH="0" flipV="0">
            <a:off x="7479810" y="3230288"/>
            <a:ext cx="4155643" cy="5885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/>
                <a:ea typeface="宋体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/>
                <a:ea typeface="宋体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i="0" u="none" strike="noStrike" cap="none" spc="0">
                <a:ln>
                  <a:noFill/>
                </a:ln>
                <a:solidFill>
                  <a:srgbClr val="0070C0"/>
                </a:solidFill>
                <a:latin typeface="微软雅黑"/>
                <a:ea typeface="微软雅黑"/>
                <a:cs typeface="Times New Roman"/>
              </a:rPr>
              <a:t>投影子空间视角</a:t>
            </a:r>
            <a:endParaRPr/>
          </a:p>
        </p:txBody>
      </p:sp>
      <p:sp>
        <p:nvSpPr>
          <p:cNvPr id="1546873638" name="Text Box 17"/>
          <p:cNvSpPr txBox="1">
            <a:spLocks noChangeArrowheads="1"/>
          </p:cNvSpPr>
          <p:nvPr/>
        </p:nvSpPr>
        <p:spPr bwMode="auto">
          <a:xfrm flipH="0" flipV="0">
            <a:off x="7479810" y="4485934"/>
            <a:ext cx="4168716" cy="5885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黑体"/>
                <a:ea typeface="宋体"/>
              </a:defRPr>
            </a:lvl1pPr>
            <a:lvl2pPr marL="742950" indent="-285750">
              <a:defRPr b="1">
                <a:solidFill>
                  <a:schemeClr val="bg1"/>
                </a:solidFill>
                <a:latin typeface="黑体"/>
                <a:ea typeface="宋体"/>
              </a:defRPr>
            </a:lvl2pPr>
            <a:lvl3pPr marL="11430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3pPr>
            <a:lvl4pPr marL="16002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4pPr>
            <a:lvl5pPr marL="2057400" indent="-228600">
              <a:defRPr b="1">
                <a:solidFill>
                  <a:schemeClr val="bg1"/>
                </a:solidFill>
                <a:latin typeface="黑体"/>
                <a:ea typeface="宋体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  <a:latin typeface="黑体"/>
                <a:ea typeface="宋体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zh-CN" sz="3200">
                <a:solidFill>
                  <a:srgbClr val="0070C0"/>
                </a:solidFill>
                <a:latin typeface="微软雅黑"/>
                <a:ea typeface="微软雅黑"/>
                <a:cs typeface="Times New Roman"/>
              </a:rPr>
              <a:t>量化非阿贝尔性</a:t>
            </a:r>
            <a:endParaRPr lang="zh-CN" sz="3200" b="1" i="0" u="none" strike="noStrike" cap="none" spc="0">
              <a:ln>
                <a:noFill/>
              </a:ln>
              <a:solidFill>
                <a:srgbClr val="0070C0"/>
              </a:solidFill>
              <a:latin typeface="微软雅黑"/>
              <a:ea typeface="微软雅黑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9084960" name="图片 5"/>
          <p:cNvPicPr>
            <a:picLocks noChangeAspect="1"/>
          </p:cNvPicPr>
          <p:nvPr/>
        </p:nvPicPr>
        <p:blipFill rotWithShape="1">
          <a:blip r:embed="rId3"/>
          <a:srcRect l="0" t="44074" r="0" b="0"/>
          <a:stretch/>
        </p:blipFill>
        <p:spPr bwMode="auto">
          <a:xfrm flipH="1">
            <a:off x="0" y="2529838"/>
            <a:ext cx="5516879" cy="1717039"/>
          </a:xfrm>
          <a:custGeom>
            <a:avLst/>
            <a:gdLst>
              <a:gd name="connsiteX0" fmla="*/ 0 w 10274591"/>
              <a:gd name="connsiteY0" fmla="*/ 0 h 3835400"/>
              <a:gd name="connsiteX1" fmla="*/ 10274591 w 10274591"/>
              <a:gd name="connsiteY1" fmla="*/ 0 h 3835400"/>
              <a:gd name="connsiteX2" fmla="*/ 10274591 w 10274591"/>
              <a:gd name="connsiteY2" fmla="*/ 3835400 h 3835400"/>
              <a:gd name="connsiteX3" fmla="*/ 0 w 10274591"/>
              <a:gd name="connsiteY3" fmla="*/ 3835400 h 383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74591" h="3835400" fill="norm" stroke="1" extrusionOk="0">
                <a:moveTo>
                  <a:pt x="0" y="0"/>
                </a:moveTo>
                <a:lnTo>
                  <a:pt x="10274591" y="0"/>
                </a:lnTo>
                <a:lnTo>
                  <a:pt x="10274591" y="3835400"/>
                </a:lnTo>
                <a:lnTo>
                  <a:pt x="0" y="3835400"/>
                </a:lnTo>
                <a:close/>
              </a:path>
            </a:pathLst>
          </a:custGeom>
        </p:spPr>
      </p:pic>
      <p:grpSp>
        <p:nvGrpSpPr>
          <p:cNvPr id="288933484" name="组合 15"/>
          <p:cNvGrpSpPr/>
          <p:nvPr/>
        </p:nvGrpSpPr>
        <p:grpSpPr bwMode="auto">
          <a:xfrm>
            <a:off x="0" y="2529838"/>
            <a:ext cx="12192000" cy="1757679"/>
            <a:chOff x="0" y="2529838"/>
            <a:chExt cx="12192000" cy="1757679"/>
          </a:xfrm>
          <a:blipFill rotWithShape="1">
            <a:blip r:embed="rId4">
              <a:alphaModFix amt="86000"/>
            </a:blip>
            <a:stretch>
              <a:fillRect l="0" t="0" r="-33000" b="0"/>
            </a:stretch>
          </a:blipFill>
        </p:grpSpPr>
        <p:sp>
          <p:nvSpPr>
            <p:cNvPr id="72983156" name="矩形 1"/>
            <p:cNvSpPr/>
            <p:nvPr/>
          </p:nvSpPr>
          <p:spPr bwMode="auto">
            <a:xfrm>
              <a:off x="0" y="2529838"/>
              <a:ext cx="5516879" cy="1717039"/>
            </a:xfrm>
            <a:prstGeom prst="rect">
              <a:avLst/>
            </a:prstGeom>
            <a:gradFill>
              <a:gsLst>
                <a:gs pos="0">
                  <a:srgbClr val="0070C0">
                    <a:alpha val="54000"/>
                  </a:srgbClr>
                </a:gs>
                <a:gs pos="100000">
                  <a:srgbClr val="002060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defRPr/>
              </a:pPr>
              <a:endParaRPr lang="zh-CN"/>
            </a:p>
          </p:txBody>
        </p:sp>
        <p:sp>
          <p:nvSpPr>
            <p:cNvPr id="1800304686" name="矩形 12"/>
            <p:cNvSpPr/>
            <p:nvPr/>
          </p:nvSpPr>
          <p:spPr bwMode="auto">
            <a:xfrm>
              <a:off x="11348719" y="2529838"/>
              <a:ext cx="843279" cy="1757679"/>
            </a:xfrm>
            <a:prstGeom prst="rect">
              <a:avLst/>
            </a:prstGeom>
            <a:gradFill>
              <a:gsLst>
                <a:gs pos="0">
                  <a:srgbClr val="0070C0"/>
                </a:gs>
                <a:gs pos="100000">
                  <a:srgbClr val="002060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1414988347" name="矩形 7"/>
          <p:cNvSpPr/>
          <p:nvPr/>
        </p:nvSpPr>
        <p:spPr bwMode="auto">
          <a:xfrm>
            <a:off x="1630065" y="3046550"/>
            <a:ext cx="3856889" cy="1200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200">
                <a:solidFill>
                  <a:schemeClr val="bg1"/>
                </a:solidFill>
                <a:latin typeface="Arial Black"/>
                <a:ea typeface="微软雅黑"/>
                <a:cs typeface="Times New Roman"/>
              </a:rPr>
              <a:t>Part 01</a:t>
            </a:r>
            <a:endParaRPr lang="zh-CN" sz="7200" b="1">
              <a:solidFill>
                <a:schemeClr val="bg1"/>
              </a:solidFill>
              <a:latin typeface="Arial Black"/>
              <a:ea typeface="微软雅黑"/>
              <a:cs typeface="Times New Roman"/>
            </a:endParaRPr>
          </a:p>
        </p:txBody>
      </p:sp>
      <p:sp>
        <p:nvSpPr>
          <p:cNvPr id="1319634895" name="矩形 8"/>
          <p:cNvSpPr/>
          <p:nvPr/>
        </p:nvSpPr>
        <p:spPr bwMode="auto">
          <a:xfrm>
            <a:off x="5959117" y="2875001"/>
            <a:ext cx="4923919" cy="1097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zh-CN" sz="6600" b="1">
                <a:solidFill>
                  <a:srgbClr val="0070C0"/>
                </a:solidFill>
                <a:latin typeface="微软雅黑"/>
                <a:ea typeface="微软雅黑"/>
                <a:cs typeface="Times New Roman"/>
              </a:rPr>
              <a:t>总览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709840" name=""/>
          <p:cNvSpPr txBox="1"/>
          <p:nvPr/>
        </p:nvSpPr>
        <p:spPr bwMode="auto">
          <a:xfrm rot="0" flipH="0" flipV="0">
            <a:off x="667081" y="3312033"/>
            <a:ext cx="2940091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ic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1247503626" name=""/>
          <p:cNvSpPr txBox="1"/>
          <p:nvPr/>
        </p:nvSpPr>
        <p:spPr bwMode="auto">
          <a:xfrm rot="0" flipH="0" flipV="0">
            <a:off x="5144874" y="4036211"/>
            <a:ext cx="1777614" cy="37392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JW 映射</a:t>
            </a:r>
            <a:endParaRPr/>
          </a:p>
        </p:txBody>
      </p:sp>
      <p:sp>
        <p:nvSpPr>
          <p:cNvPr id="673290444" name=""/>
          <p:cNvSpPr txBox="1"/>
          <p:nvPr/>
        </p:nvSpPr>
        <p:spPr bwMode="auto">
          <a:xfrm rot="0" flipH="0" flipV="0">
            <a:off x="7940719" y="3183732"/>
            <a:ext cx="3131274" cy="5972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H(u)=</m:t>
                      </m:r>
                      <m:nary>
                        <m:naryPr>
                          <m:chr m:val="∑"/>
                          <m:grow m:val="off"/>
                          <m:limLoc m:val="subSup"/>
                          <m:supHide m:val="on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ab</m:t>
                              </m:r>
                            </m:sub>
                          </m:s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(u)</m:t>
                          </m:r>
                          <m:sSub>
                            <m:sSub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⊗</m:t>
                          </m:r>
                          <m:sSub>
                            <m:sSub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1186738457" name=""/>
          <p:cNvSpPr txBox="1"/>
          <p:nvPr/>
        </p:nvSpPr>
        <p:spPr bwMode="auto">
          <a:xfrm rot="0" flipH="0" flipV="0">
            <a:off x="-244488" y="935901"/>
            <a:ext cx="5190223" cy="7282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R(u)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exp(-i 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nary>
                        <m:naryPr>
                          <m:chr m:val="∫"/>
                          <m:grow m:val="off"/>
                          <m:limLoc m:val="subSup"/>
                          <m:ctrlPr>
                            <a:rPr lang="en-US"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p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</m:d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ds 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431677884" name=""/>
          <p:cNvSpPr txBox="1"/>
          <p:nvPr/>
        </p:nvSpPr>
        <p:spPr bwMode="auto">
          <a:xfrm rot="0" flipH="0" flipV="0">
            <a:off x="7387520" y="1056576"/>
            <a:ext cx="4679072" cy="37722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=i 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sSup>
                        <m:sSup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("/>
                              <m:endChr m:val=")"/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</m:e>
                        <m:sup>
                          <m:r>
                            <m:rPr/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903664448" name=""/>
          <p:cNvSpPr/>
          <p:nvPr/>
        </p:nvSpPr>
        <p:spPr bwMode="auto">
          <a:xfrm rot="0" flipH="0" flipV="0">
            <a:off x="9370909" y="1730099"/>
            <a:ext cx="294409" cy="1283263"/>
          </a:xfrm>
          <a:prstGeom prst="up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579979" name=""/>
          <p:cNvSpPr/>
          <p:nvPr/>
        </p:nvSpPr>
        <p:spPr bwMode="auto">
          <a:xfrm rot="0" flipH="0" flipV="0">
            <a:off x="3628491" y="3361134"/>
            <a:ext cx="4312227" cy="347500"/>
          </a:xfrm>
          <a:prstGeom prst="left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4562281" name=""/>
          <p:cNvSpPr/>
          <p:nvPr/>
        </p:nvSpPr>
        <p:spPr bwMode="auto">
          <a:xfrm rot="0" flipH="0" flipV="0">
            <a:off x="4348636" y="1149940"/>
            <a:ext cx="3099954" cy="190499"/>
          </a:xfrm>
          <a:prstGeom prst="left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4004129" name=""/>
          <p:cNvSpPr/>
          <p:nvPr/>
        </p:nvSpPr>
        <p:spPr bwMode="auto">
          <a:xfrm rot="0" flipH="0" flipV="0">
            <a:off x="1924090" y="1816690"/>
            <a:ext cx="242454" cy="1196672"/>
          </a:xfrm>
          <a:prstGeom prst="up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12748537" name=""/>
          <p:cNvSpPr txBox="1"/>
          <p:nvPr/>
        </p:nvSpPr>
        <p:spPr bwMode="auto">
          <a:xfrm rot="0" flipH="0" flipV="0">
            <a:off x="1095736" y="399038"/>
            <a:ext cx="1899163" cy="37392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谱参数YBE的解</a:t>
            </a:r>
            <a:endParaRPr/>
          </a:p>
        </p:txBody>
      </p:sp>
      <p:sp>
        <p:nvSpPr>
          <p:cNvPr id="139711666" name=""/>
          <p:cNvSpPr txBox="1"/>
          <p:nvPr/>
        </p:nvSpPr>
        <p:spPr bwMode="auto">
          <a:xfrm rot="0" flipH="0" flipV="0">
            <a:off x="8712817" y="569781"/>
            <a:ext cx="169210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求解哈密顿</a:t>
            </a:r>
            <a:endParaRPr/>
          </a:p>
        </p:txBody>
      </p:sp>
      <p:sp>
        <p:nvSpPr>
          <p:cNvPr id="1179064219" name=""/>
          <p:cNvSpPr txBox="1"/>
          <p:nvPr/>
        </p:nvSpPr>
        <p:spPr bwMode="auto">
          <a:xfrm rot="0" flipH="0" flipV="0">
            <a:off x="728035" y="3777803"/>
            <a:ext cx="322560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调整门电压实现的各种操作</a:t>
            </a:r>
            <a:endParaRPr/>
          </a:p>
        </p:txBody>
      </p:sp>
      <p:sp>
        <p:nvSpPr>
          <p:cNvPr id="128748779" name=""/>
          <p:cNvSpPr txBox="1"/>
          <p:nvPr/>
        </p:nvSpPr>
        <p:spPr bwMode="auto">
          <a:xfrm rot="0" flipH="0" flipV="0">
            <a:off x="8504999" y="3847078"/>
            <a:ext cx="3152629" cy="37826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pauli张量积</a:t>
            </a:r>
            <a:r>
              <a:rPr lang="en-US"/>
              <a:t>，二体算符表示</a:t>
            </a:r>
            <a:endParaRPr/>
          </a:p>
        </p:txBody>
      </p:sp>
      <p:sp>
        <p:nvSpPr>
          <p:cNvPr id="1268464916" name=""/>
          <p:cNvSpPr/>
          <p:nvPr/>
        </p:nvSpPr>
        <p:spPr bwMode="auto">
          <a:xfrm rot="0" flipH="0" flipV="0">
            <a:off x="9575203" y="4287468"/>
            <a:ext cx="121227" cy="1150439"/>
          </a:xfrm>
          <a:prstGeom prst="up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183048" name=""/>
          <p:cNvSpPr txBox="1"/>
          <p:nvPr/>
        </p:nvSpPr>
        <p:spPr bwMode="auto">
          <a:xfrm rot="0" flipH="0" flipV="0">
            <a:off x="7250104" y="5474982"/>
            <a:ext cx="477430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=d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⋅σ+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1450883639" name=""/>
          <p:cNvSpPr txBox="1"/>
          <p:nvPr/>
        </p:nvSpPr>
        <p:spPr bwMode="auto">
          <a:xfrm rot="0" flipH="0" flipV="0">
            <a:off x="8163768" y="5994526"/>
            <a:ext cx="3447640" cy="37392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投影子空间上的SU(2)表示+偏移</a:t>
            </a:r>
            <a:endParaRPr/>
          </a:p>
        </p:txBody>
      </p:sp>
      <p:sp>
        <p:nvSpPr>
          <p:cNvPr id="768311525" name=""/>
          <p:cNvSpPr/>
          <p:nvPr/>
        </p:nvSpPr>
        <p:spPr bwMode="auto">
          <a:xfrm rot="0" flipH="0" flipV="0">
            <a:off x="1924090" y="4329545"/>
            <a:ext cx="45720" cy="1108363"/>
          </a:xfrm>
          <a:prstGeom prst="up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4895726" name=""/>
          <p:cNvSpPr txBox="1"/>
          <p:nvPr/>
        </p:nvSpPr>
        <p:spPr bwMode="auto">
          <a:xfrm rot="0" flipH="0" flipV="0">
            <a:off x="226869" y="5489861"/>
            <a:ext cx="346428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=iγ⋅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δ⋅γ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+iϵ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1039407056" name=""/>
          <p:cNvSpPr txBox="1"/>
          <p:nvPr/>
        </p:nvSpPr>
        <p:spPr bwMode="auto">
          <a:xfrm rot="0" flipH="0" flipV="0">
            <a:off x="1095735" y="5994526"/>
            <a:ext cx="3470360" cy="37392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bloch球</a:t>
            </a:r>
            <a:r>
              <a:rPr lang="en-US"/>
              <a:t>+相位累积</a:t>
            </a:r>
            <a:endParaRPr/>
          </a:p>
        </p:txBody>
      </p:sp>
      <p:sp>
        <p:nvSpPr>
          <p:cNvPr id="1404289360" name=""/>
          <p:cNvSpPr txBox="1"/>
          <p:nvPr/>
        </p:nvSpPr>
        <p:spPr bwMode="auto">
          <a:xfrm rot="0" flipH="0" flipV="0">
            <a:off x="140317" y="1909954"/>
            <a:ext cx="725885" cy="1798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solidFill>
                  <a:schemeClr val="accent2"/>
                </a:solidFill>
              </a:rPr>
              <a:t>论文路线</a:t>
            </a:r>
            <a:endParaRPr/>
          </a:p>
        </p:txBody>
      </p:sp>
      <p:sp>
        <p:nvSpPr>
          <p:cNvPr id="1899082853" name=""/>
          <p:cNvSpPr txBox="1"/>
          <p:nvPr/>
        </p:nvSpPr>
        <p:spPr bwMode="auto">
          <a:xfrm rot="0" flipH="0" flipV="0">
            <a:off x="11225413" y="1909954"/>
            <a:ext cx="864430" cy="1798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solidFill>
                  <a:srgbClr val="7030A0"/>
                </a:solidFill>
              </a:rPr>
              <a:t>模型路线</a:t>
            </a:r>
            <a:endParaRPr/>
          </a:p>
        </p:txBody>
      </p:sp>
      <p:sp>
        <p:nvSpPr>
          <p:cNvPr id="1289247798" name=""/>
          <p:cNvSpPr txBox="1"/>
          <p:nvPr/>
        </p:nvSpPr>
        <p:spPr bwMode="auto">
          <a:xfrm rot="0" flipH="0" flipV="0">
            <a:off x="4868181" y="1543834"/>
            <a:ext cx="205430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在路径上编织</a:t>
            </a:r>
            <a:endParaRPr/>
          </a:p>
        </p:txBody>
      </p:sp>
      <p:sp>
        <p:nvSpPr>
          <p:cNvPr id="707840846" name=""/>
          <p:cNvSpPr txBox="1"/>
          <p:nvPr/>
        </p:nvSpPr>
        <p:spPr bwMode="auto">
          <a:xfrm rot="0" flipH="0" flipV="0">
            <a:off x="4560293" y="141111"/>
            <a:ext cx="2946775" cy="46796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>
                <a:solidFill>
                  <a:srgbClr val="00B050"/>
                </a:solidFill>
              </a:rPr>
              <a:t>1.非阿贝尔操作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537619" name=""/>
          <p:cNvSpPr txBox="1"/>
          <p:nvPr/>
        </p:nvSpPr>
        <p:spPr bwMode="auto">
          <a:xfrm rot="0" flipH="0" flipV="0">
            <a:off x="4128543" y="822211"/>
            <a:ext cx="4059465" cy="41593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子空间代数封闭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↔PRP没有泄漏</m:t>
                      </m:r>
                    </m:oMath>
                  </m:oMathPara>
                </a14:m>
              </mc:Choice>
              <mc:Fallback/>
            </mc:AlternateContent>
            <a:endParaRPr sz="2000"/>
          </a:p>
        </p:txBody>
      </p:sp>
      <p:sp>
        <p:nvSpPr>
          <p:cNvPr id="1367195843" name=""/>
          <p:cNvSpPr txBox="1"/>
          <p:nvPr/>
        </p:nvSpPr>
        <p:spPr bwMode="auto">
          <a:xfrm rot="0" flipH="0" flipV="0">
            <a:off x="4618649" y="2832709"/>
            <a:ext cx="3079249" cy="71007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/>
              <a:t>schur补为0,没有虚跃迁</a:t>
            </a:r>
            <a:endParaRPr lang="en-US" sz="2000"/>
          </a:p>
          <a:p>
            <a:pPr>
              <a:defRPr/>
            </a:pPr>
            <a:r>
              <a:rPr lang="en-US" sz="2000"/>
              <a:t>得到有效哈密顿</a:t>
            </a:r>
            <a:endParaRPr sz="2000"/>
          </a:p>
        </p:txBody>
      </p:sp>
      <p:sp>
        <p:nvSpPr>
          <p:cNvPr id="367365307" name=""/>
          <p:cNvSpPr/>
          <p:nvPr/>
        </p:nvSpPr>
        <p:spPr bwMode="auto">
          <a:xfrm rot="0" flipH="0" flipV="0">
            <a:off x="6051902" y="1333739"/>
            <a:ext cx="88194" cy="1040694"/>
          </a:xfrm>
          <a:prstGeom prst="up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1588778" name=""/>
          <p:cNvSpPr/>
          <p:nvPr/>
        </p:nvSpPr>
        <p:spPr bwMode="auto">
          <a:xfrm rot="19205843" flipH="0" flipV="0">
            <a:off x="4013489" y="4281748"/>
            <a:ext cx="1571254" cy="211666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20768732" name=""/>
          <p:cNvSpPr txBox="1"/>
          <p:nvPr/>
        </p:nvSpPr>
        <p:spPr bwMode="auto">
          <a:xfrm rot="0" flipH="0" flipV="0">
            <a:off x="1559675" y="5036500"/>
            <a:ext cx="3203085" cy="133106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几何上</a:t>
            </a:r>
            <a:r>
              <a:rPr lang="en-US" sz="2000"/>
              <a:t>:</a:t>
            </a:r>
            <a:r>
              <a:rPr sz="2000"/>
              <a:t>定义出非阿贝尔曲率</a:t>
            </a:r>
            <a:r>
              <a:rPr lang="en-US" sz="2000"/>
              <a:t>,</a:t>
            </a:r>
            <a:endParaRPr sz="2000"/>
          </a:p>
          <a:p>
            <a:pPr>
              <a:defRPr/>
            </a:pPr>
            <a:r>
              <a:rPr sz="2000"/>
              <a:t>讨论schur补里面各项如何得到非阿贝尔产生</a:t>
            </a:r>
            <a:endParaRPr/>
          </a:p>
        </p:txBody>
      </p:sp>
      <p:sp>
        <p:nvSpPr>
          <p:cNvPr id="1132575572" name=""/>
          <p:cNvSpPr/>
          <p:nvPr/>
        </p:nvSpPr>
        <p:spPr bwMode="auto">
          <a:xfrm rot="13110890" flipH="0" flipV="0">
            <a:off x="6705100" y="4304443"/>
            <a:ext cx="1571254" cy="211665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142467" name=""/>
          <p:cNvSpPr txBox="1"/>
          <p:nvPr/>
        </p:nvSpPr>
        <p:spPr bwMode="auto">
          <a:xfrm rot="0" flipH="0" flipV="0">
            <a:off x="6533842" y="4898002"/>
            <a:ext cx="3762849" cy="132834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schur补得到green函数</a:t>
            </a:r>
            <a:endParaRPr sz="2000"/>
          </a:p>
          <a:p>
            <a:pPr>
              <a:defRPr/>
            </a:pPr>
            <a:r>
              <a:rPr sz="2000"/>
              <a:t>用pauli张量积的哈密顿模型代入</a:t>
            </a:r>
            <a:endParaRPr sz="2000"/>
          </a:p>
          <a:p>
            <a:pPr>
              <a:defRPr/>
            </a:pPr>
            <a:r>
              <a:rPr sz="2000"/>
              <a:t>得到具体计算模型</a:t>
            </a:r>
            <a:endParaRPr/>
          </a:p>
        </p:txBody>
      </p:sp>
      <p:sp>
        <p:nvSpPr>
          <p:cNvPr id="37917563" name=""/>
          <p:cNvSpPr txBox="1"/>
          <p:nvPr/>
        </p:nvSpPr>
        <p:spPr bwMode="auto">
          <a:xfrm rot="0" flipH="0" flipV="0">
            <a:off x="4449034" y="244270"/>
            <a:ext cx="4169616" cy="4993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600">
                <a:solidFill>
                  <a:srgbClr val="00B050"/>
                </a:solidFill>
              </a:rPr>
              <a:t>2.量化非阿贝尔性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457527" name="矩形 29"/>
          <p:cNvSpPr/>
          <p:nvPr/>
        </p:nvSpPr>
        <p:spPr bwMode="auto">
          <a:xfrm>
            <a:off x="1893060" y="412751"/>
            <a:ext cx="8420639" cy="9300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sz="3600" b="1" spc="225">
                <a:solidFill>
                  <a:srgbClr val="2E6FC3"/>
                </a:solidFill>
                <a:latin typeface="微软雅黑"/>
                <a:ea typeface="微软雅黑"/>
              </a:rPr>
              <a:t>结果总览</a:t>
            </a:r>
            <a:endParaRPr lang="zh-CN" sz="2000" b="1" spc="225">
              <a:solidFill>
                <a:srgbClr val="2E6FC3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6093332" name="图片 5"/>
          <p:cNvPicPr>
            <a:picLocks noChangeAspect="1"/>
          </p:cNvPicPr>
          <p:nvPr/>
        </p:nvPicPr>
        <p:blipFill rotWithShape="1">
          <a:blip r:embed="rId3"/>
          <a:srcRect l="0" t="44074" r="0" b="0"/>
          <a:stretch/>
        </p:blipFill>
        <p:spPr bwMode="auto">
          <a:xfrm flipH="1">
            <a:off x="0" y="2529839"/>
            <a:ext cx="5516880" cy="1717040"/>
          </a:xfrm>
          <a:custGeom>
            <a:avLst/>
            <a:gdLst>
              <a:gd name="connsiteX0" fmla="*/ 0 w 10274591"/>
              <a:gd name="connsiteY0" fmla="*/ 0 h 3835400"/>
              <a:gd name="connsiteX1" fmla="*/ 10274591 w 10274591"/>
              <a:gd name="connsiteY1" fmla="*/ 0 h 3835400"/>
              <a:gd name="connsiteX2" fmla="*/ 10274591 w 10274591"/>
              <a:gd name="connsiteY2" fmla="*/ 3835400 h 3835400"/>
              <a:gd name="connsiteX3" fmla="*/ 0 w 10274591"/>
              <a:gd name="connsiteY3" fmla="*/ 3835400 h 383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74591" h="3835400" fill="norm" stroke="1" extrusionOk="0">
                <a:moveTo>
                  <a:pt x="0" y="0"/>
                </a:moveTo>
                <a:lnTo>
                  <a:pt x="10274591" y="0"/>
                </a:lnTo>
                <a:lnTo>
                  <a:pt x="10274591" y="3835400"/>
                </a:lnTo>
                <a:lnTo>
                  <a:pt x="0" y="3835400"/>
                </a:lnTo>
                <a:close/>
              </a:path>
            </a:pathLst>
          </a:custGeom>
        </p:spPr>
      </p:pic>
      <p:grpSp>
        <p:nvGrpSpPr>
          <p:cNvPr id="1269430698" name="组合 15"/>
          <p:cNvGrpSpPr/>
          <p:nvPr/>
        </p:nvGrpSpPr>
        <p:grpSpPr bwMode="auto">
          <a:xfrm>
            <a:off x="0" y="2529839"/>
            <a:ext cx="12192000" cy="1757680"/>
            <a:chOff x="0" y="2529839"/>
            <a:chExt cx="12192000" cy="1757680"/>
          </a:xfrm>
          <a:blipFill rotWithShape="1">
            <a:blip r:embed="rId4">
              <a:alphaModFix amt="86000"/>
            </a:blip>
            <a:stretch>
              <a:fillRect l="0" t="0" r="-33000" b="0"/>
            </a:stretch>
          </a:blipFill>
        </p:grpSpPr>
        <p:sp>
          <p:nvSpPr>
            <p:cNvPr id="2" name="矩形 1"/>
            <p:cNvSpPr/>
            <p:nvPr/>
          </p:nvSpPr>
          <p:spPr bwMode="auto">
            <a:xfrm>
              <a:off x="0" y="2529839"/>
              <a:ext cx="5516880" cy="1717040"/>
            </a:xfrm>
            <a:prstGeom prst="rect">
              <a:avLst/>
            </a:prstGeom>
            <a:gradFill>
              <a:gsLst>
                <a:gs pos="0">
                  <a:srgbClr val="0070C0">
                    <a:alpha val="54000"/>
                  </a:srgbClr>
                </a:gs>
                <a:gs pos="100000">
                  <a:srgbClr val="002060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defRPr/>
              </a:pPr>
              <a:endParaRPr lang="zh-CN"/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11348720" y="2529839"/>
              <a:ext cx="843280" cy="1757680"/>
            </a:xfrm>
            <a:prstGeom prst="rect">
              <a:avLst/>
            </a:prstGeom>
            <a:gradFill>
              <a:gsLst>
                <a:gs pos="0">
                  <a:srgbClr val="0070C0"/>
                </a:gs>
                <a:gs pos="100000">
                  <a:srgbClr val="002060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679781817" name="矩形 7"/>
          <p:cNvSpPr/>
          <p:nvPr/>
        </p:nvSpPr>
        <p:spPr bwMode="auto">
          <a:xfrm>
            <a:off x="1630065" y="3046550"/>
            <a:ext cx="3131726" cy="11890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200">
                <a:solidFill>
                  <a:schemeClr val="bg1"/>
                </a:solidFill>
                <a:latin typeface="Arial Black"/>
                <a:ea typeface="微软雅黑"/>
                <a:cs typeface="Times New Roman"/>
              </a:rPr>
              <a:t>Part 02</a:t>
            </a:r>
            <a:endParaRPr lang="zh-CN" sz="7200" b="1">
              <a:solidFill>
                <a:schemeClr val="bg1"/>
              </a:solidFill>
              <a:latin typeface="Arial Black"/>
              <a:ea typeface="微软雅黑"/>
              <a:cs typeface="Times New Roman"/>
            </a:endParaRPr>
          </a:p>
        </p:txBody>
      </p:sp>
      <p:sp>
        <p:nvSpPr>
          <p:cNvPr id="796729718" name="矩形 8"/>
          <p:cNvSpPr/>
          <p:nvPr/>
        </p:nvSpPr>
        <p:spPr bwMode="auto">
          <a:xfrm flipH="0" flipV="0">
            <a:off x="5516876" y="2912369"/>
            <a:ext cx="5742827" cy="6506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cap="none" spc="0">
                <a:ln>
                  <a:noFill/>
                </a:ln>
                <a:solidFill>
                  <a:srgbClr val="0070C0"/>
                </a:solidFill>
                <a:latin typeface="微软雅黑"/>
                <a:ea typeface="微软雅黑"/>
                <a:cs typeface="Times New Roman"/>
              </a:rPr>
              <a:t>投影子空间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355182" name="矩形 29"/>
          <p:cNvSpPr/>
          <p:nvPr/>
        </p:nvSpPr>
        <p:spPr bwMode="auto">
          <a:xfrm>
            <a:off x="1893060" y="412751"/>
            <a:ext cx="8415238" cy="9300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zh-CN" sz="3600" b="1" spc="225">
                <a:solidFill>
                  <a:srgbClr val="2E6FC3"/>
                </a:solidFill>
                <a:latin typeface="微软雅黑"/>
                <a:ea typeface="微软雅黑"/>
              </a:rPr>
              <a:t>模型改进</a:t>
            </a:r>
            <a:endParaRPr lang="zh-CN" sz="2000" b="1" spc="225">
              <a:solidFill>
                <a:srgbClr val="2E6FC3"/>
              </a:solidFill>
              <a:latin typeface="微软雅黑"/>
              <a:ea typeface="微软雅黑"/>
            </a:endParaRPr>
          </a:p>
        </p:txBody>
      </p:sp>
      <p:sp>
        <p:nvSpPr>
          <p:cNvPr id="1531131292" name=""/>
          <p:cNvSpPr txBox="1"/>
          <p:nvPr/>
        </p:nvSpPr>
        <p:spPr bwMode="auto">
          <a:xfrm rot="0" flipH="0" flipV="0">
            <a:off x="711817" y="1697181"/>
            <a:ext cx="11554063" cy="390470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上一次的模型</a:t>
            </a:r>
            <a:r>
              <a:rPr lang="en-US" sz="2200"/>
              <a:t>:</a:t>
            </a:r>
            <a:endParaRPr sz="22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R=exp(iH)</m:t>
                      </m:r>
                    </m:oMath>
                  </m:oMathPara>
                </a14:m>
              </mc:Choice>
              <mc:Fallback/>
            </mc:AlternateContent>
            <a:endParaRPr lang="en-US" sz="22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pHide m:val="on"/>
                          <m:ctrlPr>
                            <a:rPr lang="zh-CN" sz="22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zh-CN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a,b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zh-CN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ab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  <m:r>
                            <m:rPr/>
                            <a:rPr lang="zh-CN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⊗</m:t>
                          </m:r>
                          <m:sSub>
                            <m:sSubPr>
                              <m:ctrlPr>
                                <a:rPr lang="zh-CN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a:endParaRPr lang="en-US" sz="2200"/>
          </a:p>
          <a:p>
            <a:pPr>
              <a:defRPr/>
            </a:pPr>
            <a:r>
              <a:rPr sz="2200"/>
              <a:t>存在如下问题</a:t>
            </a:r>
            <a:r>
              <a:rPr lang="en-US" sz="2200"/>
              <a:t>, 这是一个代数模型，对应的可以认为是一个静态的解，并不能符合一般都物理算符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U=T ∫</m:t>
                      </m:r>
                      <m:r>
                        <m:rPr>
                          <m:sty m:val="p"/>
                        </m:rPr>
                        <a:rPr lang="en-US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iH(s)ds</m:t>
                      </m:r>
                    </m:oMath>
                  </m:oMathPara>
                </a14:m>
              </mc:Choice>
              <mc:Fallback/>
            </mc:AlternateContent>
            <a:r>
              <a:rPr lang="en-US" sz="2200"/>
              <a:t> （T:路径有序算符）. 所以沿着时间路径演化对应的R应该看作一系列静态的组合，是对应的一族的解。</a:t>
            </a:r>
            <a:endParaRPr lang="en-US" sz="2200"/>
          </a:p>
          <a:p>
            <a:pPr>
              <a:defRPr/>
            </a:pPr>
            <a:endParaRPr lang="en-US" sz="2200"/>
          </a:p>
          <a:p>
            <a:pPr>
              <a:defRPr/>
            </a:pPr>
            <a:r>
              <a:rPr lang="en-US" sz="2200"/>
              <a:t>所以考虑带有谱参数的Yang Baxter方程:</a:t>
            </a:r>
            <a:endParaRPr lang="en-US" sz="22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13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u+v</m:t>
                          </m:r>
                        </m:e>
                      </m:d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23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d>
                      <m:r>
                        <m:rPr/>
                        <a:rPr lang="en-US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23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</m:d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13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u+v</m:t>
                          </m:r>
                        </m:e>
                      </m:d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sub>
                      </m:sSub>
                      <m:r>
                        <m:rPr/>
                        <a:rPr lang="en-US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(u)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576682" name=""/>
          <p:cNvSpPr txBox="1"/>
          <p:nvPr/>
        </p:nvSpPr>
        <p:spPr bwMode="auto">
          <a:xfrm rot="0" flipH="0" flipV="0">
            <a:off x="642545" y="831272"/>
            <a:ext cx="1103168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604189914" name=""/>
          <p:cNvSpPr txBox="1"/>
          <p:nvPr/>
        </p:nvSpPr>
        <p:spPr bwMode="auto">
          <a:xfrm rot="0" flipH="0" flipV="0">
            <a:off x="798409" y="1264227"/>
            <a:ext cx="10244797" cy="506635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在引入了谱参数后</a:t>
            </a:r>
            <a:r>
              <a:rPr lang="en-US" sz="2000"/>
              <a:t>，把谱参数看作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u=u(t)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， 则谱参数的变化就体现了时间上的演化。进一步可以把R(u)和哈密顿写为： 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R(u)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exp(-i </m:t>
                      </m:r>
                      <m:nary>
                        <m:naryPr>
                          <m:chr m:val="∫"/>
                          <m:grow m:val="off"/>
                          <m:limLoc m:val="subSup"/>
                          <m:ctrlPr>
                            <a:rPr lang="en-US" sz="20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p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</m:d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ds 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Arial"/>
                <a:cs typeface="Arial"/>
              </a:rPr>
              <a:t>可以得到生成元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Arial"/>
                <a:cs typeface="Arial"/>
              </a:rPr>
              <a:t>：</a:t>
            </a:r>
            <a:endParaRPr lang="en-US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=i 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sSup>
                        <m:sSup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("/>
                              <m:endChr m:val=")"/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</m:e>
                        <m:sup>
                          <m:r>
                            <m:rPr/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</m:oMath>
                  </m:oMathPara>
                </a14:m>
              </mc:Choice>
              <mc:Fallback/>
            </mc:AlternateContent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Arial"/>
                <a:cs typeface="Arial"/>
              </a:rPr>
              <a:t>使用pauli张量积表示为</a:t>
            </a:r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H(u)=</m:t>
                      </m:r>
                      <m:nary>
                        <m:naryPr>
                          <m:chr m:val="∑"/>
                          <m:grow m:val="off"/>
                          <m:limLoc m:val="subSup"/>
                          <m:supHide m:val="on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ab</m:t>
                              </m:r>
                            </m:sub>
                          </m:s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(u)</m:t>
                          </m:r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⊗</m:t>
                          </m:r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sz="2000"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非阿贝尔性不在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本身,而在本征态随 u 的变化结构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Arial"/>
                <a:cs typeface="Arial"/>
              </a:rPr>
              <a:t>:</a:t>
            </a:r>
            <a:endParaRPr lang="en-US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mn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(u)</m:t>
                      </m:r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=i〈m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n(u)〉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lang="en-US"/>
          </a:p>
          <a:p>
            <a:pPr>
              <a:defRPr/>
            </a:pP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686512" name=""/>
          <p:cNvSpPr txBox="1"/>
          <p:nvPr/>
        </p:nvSpPr>
        <p:spPr bwMode="auto">
          <a:xfrm rot="0" flipH="0" flipV="0">
            <a:off x="573271" y="1091044"/>
            <a:ext cx="11540873" cy="496355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参考论文的观点</a:t>
            </a:r>
            <a:r>
              <a:rPr lang="en-US" sz="2000"/>
              <a:t>，把演化写成几何项和动力学的额外项乘积：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geom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/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  <m:t>-i∫E(t)dt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/>
              <a:t>其中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geom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/>
              <a:t>表示了几何项这个非阿贝尔演化: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geom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=P ∫A(u)du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/>
              <a:t>或者更直观的: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U=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geom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p>
                        <m:sSup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/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-iθ</m:t>
                          </m:r>
                        </m:sup>
                      </m:sSup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能谱用来区分 MZM 与 ABS</a:t>
            </a:r>
            <a:r>
              <a:rPr lang="en-US" sz="2000"/>
              <a:t>：</a:t>
            </a:r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 MZM: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E≈0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且受拓扑/局域性保护；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 ABS: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 ≠0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（或仅在有限系统中近似零能）；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 trivial: 有较大能隙，无零模。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sp>
        <p:nvSpPr>
          <p:cNvPr id="1265741200" name=""/>
          <p:cNvSpPr txBox="1"/>
          <p:nvPr/>
        </p:nvSpPr>
        <p:spPr bwMode="auto">
          <a:xfrm rot="0" flipH="0" flipV="0">
            <a:off x="548610" y="5344583"/>
            <a:ext cx="10612493" cy="37392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如果要将之前的YBE的解</a:t>
            </a:r>
            <a:r>
              <a:rPr lang="en-US"/>
              <a:t>R(u)和具有braid项和动力学项的形式的算符联系起来,可以考虑以下变换: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579106" name=""/>
          <p:cNvSpPr txBox="1"/>
          <p:nvPr/>
        </p:nvSpPr>
        <p:spPr bwMode="auto">
          <a:xfrm rot="0" flipH="0" flipV="0">
            <a:off x="53726" y="398317"/>
            <a:ext cx="12095966" cy="59156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定义本征态矩阵</a:t>
            </a:r>
            <a:r>
              <a:rPr lang="en-US" sz="2000"/>
              <a:t>:</a:t>
            </a:r>
            <a:endParaRPr lang="en-US" sz="22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=(|1(u)〉,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|2(u)〉...</m:t>
                      </m:r>
                    </m:oMath>
                  </m:oMathPara>
                </a14:m>
              </mc:Choice>
              <mc:Fallback/>
            </mc:AlternateContent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sSup>
                        <m:sSup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†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=I</m:t>
                      </m:r>
                    </m:oMath>
                  </m:oMathPara>
                </a14:m>
              </mc:Choice>
              <mc:Fallback/>
            </mc:AlternateContent>
            <a:endParaRPr lang="zh-CN"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sz="1800"/>
              <a:t>有</a:t>
            </a:r>
            <a:r>
              <a:rPr lang="en-US" sz="1800"/>
              <a:t>:</a:t>
            </a:r>
            <a:endParaRPr lang="en-US" sz="18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|n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〉=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(u)|n(u)〉</m:t>
                      </m:r>
                    </m:oMath>
                  </m:oMathPara>
                </a14:m>
              </mc:Choice>
              <mc:Fallback/>
            </mc:AlternateContent>
            <a:endParaRPr lang="en-US" sz="1800"/>
          </a:p>
          <a:p>
            <a:pPr>
              <a:defRPr/>
            </a:pPr>
            <a:r>
              <a:rPr lang="en-US" sz="1800"/>
              <a:t>根据</a:t>
            </a:r>
            <a:endParaRPr lang="en-US" sz="18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=i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sSup>
                        <m:sSup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("/>
                              <m:endChr m:val=")"/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</m:e>
                        <m:sup>
                          <m:r>
                            <m:rPr/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lang="zh-CN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则有瞬时本征分解：</a:t>
            </a:r>
            <a:endParaRPr lang="en-US" sz="18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=V(u)E(u)</m:t>
                      </m:r>
                      <m:sSup>
                        <m:sSup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†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sz="18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 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diag{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(u),...}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把任意态写成本征基的展开：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|"/>
                          <m:endChr m:val="|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〉=V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</m:e>
                      </m:d>
                      <m:acc>
                        <m:accPr>
                          <m:chr m:val="̃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e>
                      </m:acc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〉</m:t>
                      </m:r>
                    </m:oMath>
                  </m:oMathPara>
                </a14:m>
              </mc:Choice>
              <mc:Fallback/>
            </mc:AlternateContent>
            <a:endParaRPr lang="zh-CN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/>
              <a:t>代入</a:t>
            </a:r>
            <a:r>
              <a:rPr lang="en-US"/>
              <a:t>: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|ψ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〉=H(u)|ψ(u)〉</m:t>
                      </m:r>
                    </m:oMath>
                  </m:oMathPara>
                </a14:m>
              </mc:Choice>
              <mc:Fallback/>
            </mc:AlternateContent>
            <a:endParaRPr lang="en-US"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/>
              <a:t>左</a:t>
            </a:r>
            <a:r>
              <a:rPr lang="en-US"/>
              <a:t>乘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†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/>
              <a:t>,: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e>
                      </m:acc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+i</m:t>
                      </m:r>
                      <m:sSup>
                        <m:sSup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†</m:t>
                          </m:r>
                        </m:sup>
                      </m:sSup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V)</m:t>
                      </m:r>
                      <m:acc>
                        <m:accPr>
                          <m:chr m:val="̃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e>
                      </m:acc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 E</m:t>
                      </m:r>
                      <m:acc>
                        <m:accPr>
                          <m:chr m:val="̃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e>
                      </m:acc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r>
              <a:rPr lang="en-US"/>
              <a:t>移项得到: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e>
                      </m:acc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E-A</m:t>
                          </m:r>
                        </m:e>
                      </m:d>
                      <m:acc>
                        <m:accPr>
                          <m:chr m:val="̃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e>
                      </m:acc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  , A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sSup>
                            <m:sSup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†</m:t>
                              </m:r>
                            </m:sup>
                          </m:sSup>
                          <m:d>
                            <m:dPr>
                              <m:begChr m:val="("/>
                              <m:endChr m:val=")"/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/>
              <a:t>生成元为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E-A</m:t>
                      </m:r>
                    </m:oMath>
                  </m:oMathPara>
                </a14:m>
              </mc:Choice>
              <mc:Fallback/>
            </mc:AlternateContent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165311" name=""/>
          <p:cNvSpPr txBox="1"/>
          <p:nvPr/>
        </p:nvSpPr>
        <p:spPr bwMode="auto">
          <a:xfrm rot="0" flipH="0" flipV="0">
            <a:off x="330817" y="727362"/>
            <a:ext cx="11838675" cy="451206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在简并子空间</a:t>
            </a:r>
            <a:r>
              <a:rPr lang="en-US" sz="2000"/>
              <a:t>S上投影: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P(u)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pHide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a∈S</m:t>
                          </m:r>
                        </m:sub>
                        <m:sup/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|a(u)〉〈a(u)|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=P(u)H(u)P(u)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endParaRPr lang="zh-CN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sz="2000"/>
              <a:t>得到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-A(u)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(u)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表示能谱(对角),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A(u)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为berry connection</a:t>
            </a:r>
            <a:endParaRPr lang="en-US" sz="2000"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000"/>
              <a:t>非阿贝尔性产生的来源:</a:t>
            </a:r>
            <a:endParaRPr lang="en-US" sz="2000"/>
          </a:p>
          <a:p>
            <a:pPr>
              <a:defRPr/>
            </a:pPr>
            <a:r>
              <a:rPr lang="en-US" sz="2000"/>
              <a:t>1,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(u)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,参考下面的推导,否则出现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r>
                        <m:rPr>
                          <m:sty m:val="i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∞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/>
              <a:t>2,</a:t>
            </a:r>
            <a:r>
              <a:rPr sz="1900" b="0" i="1" u="none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子空间内</a:t>
            </a:r>
            <a:r>
              <a:rPr lang="en-US" sz="20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〈a|</m:t>
                      </m:r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⊗</m:t>
                      </m:r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β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|b〉≠0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,否则所有项都是对角,是abel</a:t>
            </a:r>
            <a:endParaRPr lang="en-US" sz="2000"/>
          </a:p>
          <a:p>
            <a:pPr>
              <a:defRPr/>
            </a:pPr>
            <a:r>
              <a:rPr lang="en-US" sz="2000"/>
              <a:t>3,路径非对易,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[H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,H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(u)]≠0</m:t>
                      </m:r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528215" name=""/>
          <p:cNvSpPr txBox="1"/>
          <p:nvPr/>
        </p:nvSpPr>
        <p:spPr bwMode="auto">
          <a:xfrm rot="0" flipH="0" flipV="0">
            <a:off x="566248" y="811387"/>
            <a:ext cx="10854397" cy="13547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/>
              <a:t>总演化算符:</a:t>
            </a:r>
            <a:endParaRPr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U(u)=V(u) exp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-i</m:t>
                          </m:r>
                          <m:nary>
                            <m:naryPr>
                              <m:grow m:val="off"/>
                              <m:limLoc m:val="undOvr"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sup>
                            <m:e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ctrl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-A(s)ds</m:t>
                              </m:r>
                            </m:e>
                          </m:nary>
                        </m:e>
                      </m:d>
                      <m:sSup>
                        <m:sSup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†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</p:txBody>
      </p:sp>
      <p:sp>
        <p:nvSpPr>
          <p:cNvPr id="573409370" name=""/>
          <p:cNvSpPr txBox="1"/>
          <p:nvPr/>
        </p:nvSpPr>
        <p:spPr bwMode="auto">
          <a:xfrm rot="0" flipH="0" flipV="0">
            <a:off x="566248" y="2434166"/>
            <a:ext cx="10768006" cy="11477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分离条件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(在下面推导)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：只有当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[D(s),A(s')]=0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（例如在本征基下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为对角）或在严格绝热极限（跨本征的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mn</m:t>
                          </m:r>
                        </m:sub>
                      </m:sSub>
                      <m:r>
                        <m:rPr>
                          <m:sty m:val="i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≪|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i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i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下，动力学因子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exp(-i</m:t>
                      </m:r>
                      <m:nary>
                        <m:naryPr>
                          <m:chr m:val="∫"/>
                          <m:grow m:val="off"/>
                          <m:subHide m:val="on"/>
                          <m:supHide m:val="on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与几何因子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exp(</m:t>
                      </m:r>
                      <m:nary>
                        <m:naryPr>
                          <m:chr m:val="∫"/>
                          <m:grow m:val="off"/>
                          <m:subHide m:val="on"/>
                          <m:supHide m:val="on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(路径有序)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可近似分离为产物形式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geom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dyn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/>
          </a:p>
        </p:txBody>
      </p:sp>
      <p:sp>
        <p:nvSpPr>
          <p:cNvPr id="376265361" name=""/>
          <p:cNvSpPr txBox="1"/>
          <p:nvPr/>
        </p:nvSpPr>
        <p:spPr bwMode="auto">
          <a:xfrm rot="0" flipH="0" flipV="0">
            <a:off x="707360" y="3986388"/>
            <a:ext cx="10313718" cy="1485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如果想要消去动力学项的影响</a:t>
            </a:r>
            <a:r>
              <a:rPr lang="en-US"/>
              <a:t>,也就是退化成全局相位,由上式容易得到: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nary>
                        <m:naryPr>
                          <m:grow m:val="off"/>
                          <m:limLoc m:val="undOvr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d>
                            <m:dPr>
                              <m:begChr m:val=""/>
                              <m:endChr m:val=")"/>
                              <m:ctrlPr>
                                <a:rPr/>
                              </m:ctrlPr>
                            </m:dPr>
                            <m:e>
                              <m:d>
                                <m:dPr>
                                  <m:begChr m:val="("/>
                                  <m:endChr m:val=""/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i"/>
                                        </m:rPr>
                                        <a:rPr lang="en-US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  <m:r>
                                <m:rPr/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</m:t>
                              </m:r>
                              <m:sSub>
                                <m:sSubPr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/>
                                    <a:rPr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-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 ∈ 2πZ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32846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0030" y="-51954"/>
            <a:ext cx="11386325" cy="69099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642554" name=""/>
          <p:cNvSpPr txBox="1"/>
          <p:nvPr/>
        </p:nvSpPr>
        <p:spPr bwMode="auto">
          <a:xfrm rot="0" flipH="0" flipV="0">
            <a:off x="336942" y="370414"/>
            <a:ext cx="11815552" cy="12954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下面通过引入一个简单的例子</a:t>
            </a:r>
            <a:r>
              <a:rPr lang="en-US" sz="2000"/>
              <a:t>,说明把现在的pauli张量积投影到子空间后,会呈现出简单的SU(2)群结构.</a:t>
            </a:r>
            <a:endParaRPr lang="en-US" sz="2000"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选取子空间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span{|01〉,|10〉}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,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以后将此空间记作逻辑子空间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logical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=spac{|</m:t>
                      </m:r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〉,|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〉}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/>
              <a:t>下面的具体模型都会选择用逻辑子空间为例.</a:t>
            </a:r>
            <a:r>
              <a:rPr lang="zh-CN" sz="1800" b="0" i="0" u="none" strike="noStrike" cap="none" spc="0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若改变基序或对本征向量做非平凡局部相位变换，矩阵表示会相应改变。</a:t>
            </a:r>
            <a:endParaRPr/>
          </a:p>
        </p:txBody>
      </p:sp>
      <p:sp>
        <p:nvSpPr>
          <p:cNvPr id="642572310" name=""/>
          <p:cNvSpPr txBox="1"/>
          <p:nvPr/>
        </p:nvSpPr>
        <p:spPr bwMode="auto">
          <a:xfrm rot="0" flipH="0" flipV="0">
            <a:off x="446187" y="1763887"/>
            <a:ext cx="11519665" cy="33245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记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X=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, Y=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Z=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 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XX=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⊗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,YY,ZZ等同理 </a:t>
            </a:r>
            <a:r>
              <a:rPr lang="en-US" sz="200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,利用张量积运算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A⊗B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C⊗D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=(A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C)⊗(B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:</a:t>
            </a:r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XX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|01〉=(X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|0〉)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⊗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(X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|1〉)=|1〉⊗|0〉=|10〉</m:t>
                      </m:r>
                    </m:oMath>
                  </m:oMathPara>
                </a14:m>
              </mc:Choice>
              <mc:Fallback/>
            </mc:AlternateContent>
            <a:endParaRPr lang="zh-CN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sz="2000"/>
              <a:t>也就是说这里XX</a:t>
            </a:r>
            <a:r>
              <a:rPr sz="2000">
                <a:latin typeface="Arial"/>
                <a:ea typeface="Arial"/>
                <a:cs typeface="Arial"/>
              </a:rPr>
              <a:t>~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 , 和X门作用一致</a:t>
            </a:r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200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以及: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X⊗Z |01〉=|1〉⊗(-</m:t>
                      </m:r>
                      <m:d>
                        <m:dPr>
                          <m:begChr m:val="|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1〉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=-|11〉</m:t>
                      </m:r>
                    </m:oMath>
                  </m:oMathPara>
                </a14:m>
              </mc:Choice>
              <mc:Fallback/>
            </mc:AlternateContent>
            <a:r>
              <a:rPr lang="en-US" sz="200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,不在子空间.下面会记这种现象为泄漏,这里XZ投影后矩阵元在子空间里都是0</a:t>
            </a:r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zh-CN" sz="200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依次运算得到如下对照</a:t>
            </a:r>
            <a:r>
              <a:rPr lang="en-US" sz="200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:</a:t>
            </a:r>
            <a:endParaRPr lang="zh-CN"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endParaRPr lang="zh-CN"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</p:txBody>
      </p:sp>
      <p:graphicFrame>
        <p:nvGraphicFramePr>
          <p:cNvPr id="882231573" name=""/>
          <p:cNvGraphicFramePr>
            <a:graphicFrameLocks xmlns:a="http://schemas.openxmlformats.org/drawingml/2006/main"/>
          </p:cNvGraphicFramePr>
          <p:nvPr/>
        </p:nvGraphicFramePr>
        <p:xfrm rot="0">
          <a:off x="1591027" y="5419074"/>
          <a:ext cx="8127999" cy="10972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063999"/>
                <a:gridCol w="4063999"/>
              </a:tblGrid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二次积形式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投影后形式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I⊗X, I⊗Y,X⊗I,Y⊗I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en-US" sz="1800" u="none" strike="noStrike" cap="none" spc="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X⊗Z, Z⊗X,Y⊗Z, Z⊗Y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853902649" name=""/>
          <p:cNvGraphicFramePr>
            <a:graphicFrameLocks xmlns:a="http://schemas.openxmlformats.org/drawingml/2006/main"/>
          </p:cNvGraphicFramePr>
          <p:nvPr/>
        </p:nvGraphicFramePr>
        <p:xfrm rot="0">
          <a:off x="2031999" y="1371600"/>
          <a:ext cx="8127999" cy="134608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063999"/>
                <a:gridCol w="4063999"/>
              </a:tblGrid>
              <a:tr h="40640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二次积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投影后</a:t>
                      </a:r>
                      <a:endParaRPr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I⊗I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zh-CN" sz="1800" u="none" strike="noStrike" cap="none" spc="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Z⊗Z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-I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zh-CN" sz="1800" u="none" strike="noStrike" cap="none" spc="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Z⊗I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I⊗Z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</m:t>
                                </m:r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X⊗X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Y⊗Y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zh-CN" sz="1800" u="none" strike="noStrike" cap="none" spc="0">
                        <a:solidFill>
                          <a:schemeClr val="dk1"/>
                        </a:solidFill>
                        <a:latin typeface="Cambria Math"/>
                        <a:ea typeface="Cambria Math"/>
                        <a:cs typeface="Cambria Math"/>
                      </a:endParaRPr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X⊗Y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</m:t>
                                </m:r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  <a:tr h="40640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zh-CN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Y⊗X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p"/>
                                  </m:rPr>
                                  <a:rPr lang="en-US" sz="1800" u="none" strike="noStrike" cap="none" spc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107660" name=""/>
          <p:cNvSpPr txBox="1"/>
          <p:nvPr/>
        </p:nvSpPr>
        <p:spPr bwMode="auto">
          <a:xfrm rot="0" flipH="0" flipV="0">
            <a:off x="566248" y="793748"/>
            <a:ext cx="11326705" cy="593602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/>
              <a:t>由于基底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{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I,σ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}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,也就是SU(2)基底的完备性,任何的2*2厄米矩阵都能在上面展开.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sz="2000"/>
              <a:t>因此</a:t>
            </a:r>
            <a:r>
              <a:rPr lang="en-US" sz="2000"/>
              <a:t>,如果有哈密顿: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H=aXX+bYY+cXY+dZZ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lang="en-US" sz="2000"/>
              <a:t>在子空间表示下,等价于: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a+b</m:t>
                          </m:r>
                        </m:e>
                      </m:d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endParaRPr sz="2000"/>
          </a:p>
          <a:p>
            <a:pPr>
              <a:defRPr/>
            </a:pPr>
            <a:r>
              <a:rPr sz="2000"/>
              <a:t>更一般的</a:t>
            </a:r>
            <a:r>
              <a:rPr lang="en-US" sz="2000"/>
              <a:t>,记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I+d⋅σ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sz="2000"/>
              <a:t>其中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d=(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,d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,d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,d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,d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/>
              <a:t>,具体为: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Tr(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Tr(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138812" name=""/>
          <p:cNvSpPr txBox="1"/>
          <p:nvPr/>
        </p:nvSpPr>
        <p:spPr bwMode="auto">
          <a:xfrm rot="0" flipH="0" flipV="0">
            <a:off x="866109" y="846666"/>
            <a:ext cx="10715099" cy="412043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取一般都哈密顿形式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H(u)=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pHide m:val="on"/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a,b ∈ I,X,Y,Z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ab</m:t>
                              </m:r>
                            </m:sub>
                          </m:s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(u)</m:t>
                          </m:r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⊗</m:t>
                          </m:r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有如下对照:(严格推导参考文件append/s1.md)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xx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yy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(u)</m:t>
                      </m:r>
                    </m:oMath>
                  </m:oMathPara>
                </a14:m>
              </mc:Choice>
              <mc:Fallback/>
            </mc:AlternateContent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xy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yx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(u)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zI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Iz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(u)</m:t>
                      </m:r>
                    </m:oMath>
                  </m:oMathPara>
                </a14:m>
              </mc:Choice>
              <mc:Fallback/>
            </mc:AlternateContent>
            <a:endParaRPr lang="zh-CN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II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zz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(u)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endParaRPr lang="zh-CN"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zh-CN"/>
              <a:t>这样</a:t>
            </a:r>
            <a:r>
              <a:rPr lang="en-US"/>
              <a:t>,在逻辑子空间里面,张量积形式就等价为了SU(2)下,也就是可以描述为SU(2)旋转的形式.</a:t>
            </a:r>
            <a:endParaRPr lang="zh-CN"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150237" name=""/>
          <p:cNvSpPr txBox="1"/>
          <p:nvPr/>
        </p:nvSpPr>
        <p:spPr bwMode="auto">
          <a:xfrm rot="0" flipH="0" flipV="0">
            <a:off x="478055" y="723194"/>
            <a:ext cx="11148497" cy="9732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I+d⋅σ</m:t>
                      </m:r>
                    </m:oMath>
                  </m:oMathPara>
                </a14:m>
              </mc:Choice>
              <mc:Fallback/>
            </mc:AlternateContent>
            <a:r>
              <a:rPr sz="2000"/>
              <a:t>的物理意义</a:t>
            </a:r>
            <a:r>
              <a:rPr lang="en-US" sz="2000"/>
              <a:t>: 在子空间里的演化对应着:</a:t>
            </a:r>
            <a:endParaRPr lang="en-US" sz="2000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graphicFrame>
        <p:nvGraphicFramePr>
          <p:cNvPr id="585811831" name=""/>
          <p:cNvGraphicFramePr>
            <a:graphicFrameLocks xmlns:a="http://schemas.openxmlformats.org/drawingml/2006/main"/>
          </p:cNvGraphicFramePr>
          <p:nvPr/>
        </p:nvGraphicFramePr>
        <p:xfrm rot="0">
          <a:off x="1255888" y="1442155"/>
          <a:ext cx="10052444" cy="11298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350814"/>
                <a:gridCol w="3350814"/>
                <a:gridCol w="3350814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分量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来源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作用</a:t>
                      </a:r>
                      <a:endParaRPr/>
                    </a:p>
                  </a:txBody>
                  <a:tcPr/>
                </a:tc>
              </a:tr>
              <a:tr h="35424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XX</a:t>
                      </a:r>
                      <a:r>
                        <a:rPr lang="en-US"/>
                        <a:t>, YY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几何旋转</a:t>
                      </a:r>
                      <a:r>
                        <a:rPr lang="en-US"/>
                        <a:t>,hopping/pairing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XY,YX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相位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ZI</a:t>
                      </a:r>
                      <a:r>
                        <a:rPr lang="en-US"/>
                        <a:t>,IZ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/>
                        <a:t>能量不对称,分裂等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69090619" name=""/>
          <p:cNvSpPr txBox="1"/>
          <p:nvPr/>
        </p:nvSpPr>
        <p:spPr bwMode="auto">
          <a:xfrm rot="0" flipH="0" flipV="0">
            <a:off x="425136" y="3280833"/>
            <a:ext cx="11754709" cy="30353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注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: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这里的判断是针对投影后的逻辑子空间低能演化，而不是直接给出整个链的全局拓扑结论。因为现在给出的都是子空间的瞬时的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,并不能代表全局.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具体分析各个分量的物理意义: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在逻辑子空间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,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,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把两个逻辑态互相翻转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;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-i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,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也把两个逻辑态互相翻转，但带上相位；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18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直接在两个逻辑态之间引入能量差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937212" name=""/>
          <p:cNvSpPr txBox="1"/>
          <p:nvPr/>
        </p:nvSpPr>
        <p:spPr bwMode="auto">
          <a:xfrm rot="0" flipH="0" flipV="0">
            <a:off x="301665" y="617360"/>
            <a:ext cx="11819149" cy="591792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因此：</a:t>
            </a:r>
            <a:endParaRPr lang="zh-CN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和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负责逻辑子空间里的“横向混合 / 旋转”，它们决定有效两能级的几何旋转方向；</a:t>
            </a:r>
            <a:endParaRPr lang="zh-CN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负责逻辑子空间里的“纵向偏置”，它直接给态之间加上能量差。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sz="2000"/>
              <a:t>将具体形式带入</a:t>
            </a:r>
            <a:r>
              <a:rPr lang="en-US" sz="2000"/>
              <a:t>,得到瞬时的本征值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 </m:t>
                      </m:r>
                      <m:rad>
                        <m:radPr>
                          <m:degHide m:val="on"/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/>
                          </m:r>
                        </m:deg>
                        <m:e>
                          <m:sSup>
                            <m:sSup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sub>
                              </m:sSub>
                            </m:e>
                            <m:sup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sub>
                              </m:sSub>
                            </m:e>
                            <m:sup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sub>
                              </m:sSub>
                            </m:e>
                            <m:sup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sz="2000"/>
              <a:t>因此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总的能级分裂是：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ΔE=2</m:t>
                      </m:r>
                      <m:rad>
                        <m:radPr>
                          <m:degHide m:val="on"/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/>
                          </m:r>
                        </m:deg>
                        <m:e>
                          <m:sSup>
                            <m:sSup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sub>
                              </m:sSub>
                            </m:e>
                            <m:sup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sub>
                              </m:sSub>
                            </m:e>
                            <m:sup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sub>
                              </m:sSub>
                            </m:e>
                            <m:sup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sz="2000"/>
              <a:t>前文提到的退化为全局相位的条件是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nary>
                        <m:naryPr>
                          <m:grow m:val="off"/>
                          <m:limLoc m:val="undOvr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d>
                            <m:dPr>
                              <m:begChr m:val=""/>
                              <m:endChr m:val=")"/>
                              <m:ctrlPr>
                                <a:rPr sz="2000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("/>
                                  <m:endChr m:val=""/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</m:t>
                              </m:r>
                              <m:sSub>
                                <m:sSub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/>
                                    <a:rPr sz="2000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-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 ∈ 2πZ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sz="2000"/>
              <a:t>在这里也可以表示成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nary>
                        <m:naryPr>
                          <m:grow m:val="off"/>
                          <m:limLoc m:val="undOvr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r>
                            <m:rPr/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||</m:t>
                          </m:r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  <m:r>
                            <m:rPr/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>||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⋅dt ∈ πZ</m:t>
                      </m:r>
                    </m:oMath>
                  </m:oMathPara>
                </a14:m>
              </mc:Choice>
              <mc:Fallback/>
            </mc:AlternateContent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191005" name=""/>
          <p:cNvSpPr txBox="1"/>
          <p:nvPr/>
        </p:nvSpPr>
        <p:spPr bwMode="auto">
          <a:xfrm rot="0" flipH="0" flipV="0">
            <a:off x="213472" y="458610"/>
            <a:ext cx="1178277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2097112663" name=""/>
          <p:cNvSpPr txBox="1"/>
          <p:nvPr/>
        </p:nvSpPr>
        <p:spPr bwMode="auto">
          <a:xfrm rot="0" flipH="0" flipV="0">
            <a:off x="213471" y="493884"/>
            <a:ext cx="11819867" cy="60180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具体示例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a:r>
              <a:rPr lang="en-US" sz="2000"/>
              <a:t>取yang baxter的解的椭圆形式, eight vertex类型: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R(u)=</m:t>
                      </m:r>
                      <m:d>
                        <m:dPr>
                          <m:ctrlPr>
                            <a:rPr lang="en-US" sz="20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baseJc m:val="center"/>
                                    <m:cGp/>
                                    <m:cGpRule/>
                                    <m:cSp/>
                                    <m:mcs>
                                      <m:mc>
                                        <m:mcPr>
                                          <m:mcJc m:val="center"/>
                                          <m:count m:val="2"/>
                                        </m:mcPr>
                                      </m:mc>
                                    </m:mcs>
                                    <m:plcHide m:val="off"/>
                                    <m:rSp/>
                                    <m:rSpRule/>
                                    <m:ctrlPr>
                                      <a:rPr lang="en-US" sz="2000" i="1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m:rPr/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u</m:t>
                                          </m:r>
                                        </m:e>
                                      </m:func>
                                    </m:e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func>
                                        <m:funcPr>
                                          <m:ctrl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m:rPr/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u</m:t>
                                          </m:r>
                                        </m:e>
                                      </m:func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baseJc m:val="center"/>
                                    <m:cGp/>
                                    <m:cGpRule/>
                                    <m:cSp/>
                                    <m:mcs>
                                      <m:mc>
                                        <m:mcPr>
                                          <m:mcJc m:val="center"/>
                                          <m:count m:val="2"/>
                                        </m:mcPr>
                                      </m:mc>
                                    </m:mcs>
                                    <m:plcHide m:val="off"/>
                                    <m:rSp/>
                                    <m:rSpRule/>
                                    <m:ctrlPr>
                                      <a:rPr lang="en-US" sz="2000" i="1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iδ</m:t>
                                      </m:r>
                                      <m:func>
                                        <m:funcPr>
                                          <m:ctrl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m:rPr/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u</m:t>
                                          </m:r>
                                        </m:e>
                                      </m:func>
                                    </m:e>
                                  </m:m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m:rPr/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u</m:t>
                                          </m:r>
                                        </m:e>
                                      </m:func>
                                    </m:e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baseJc m:val="center"/>
                                    <m:cGp/>
                                    <m:cGpRule/>
                                    <m:cSp/>
                                    <m:mcs>
                                      <m:mc>
                                        <m:mcPr>
                                          <m:mcJc m:val="center"/>
                                          <m:count m:val="2"/>
                                        </m:mcPr>
                                      </m:mc>
                                    </m:mcs>
                                    <m:plcHide m:val="off"/>
                                    <m:rSp/>
                                    <m:rSpRule/>
                                    <m:ctrlPr>
                                      <a:rPr lang="en-US" sz="2000" i="1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func>
                                        <m:funcPr>
                                          <m:ctrl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m:rPr/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u</m:t>
                                          </m:r>
                                        </m:e>
                                      </m:func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iδ</m:t>
                                      </m:r>
                                      <m:func>
                                        <m:funcPr>
                                          <m:ctrl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m:rPr/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u</m:t>
                                          </m:r>
                                        </m:e>
                                      </m:func>
                                    </m:e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baseJc m:val="center"/>
                                    <m:cGp/>
                                    <m:cGpRule/>
                                    <m:cSp/>
                                    <m:mcs>
                                      <m:mc>
                                        <m:mcPr>
                                          <m:mcJc m:val="center"/>
                                          <m:count m:val="2"/>
                                        </m:mcPr>
                                      </m:mc>
                                    </m:mcs>
                                    <m:plcHide m:val="off"/>
                                    <m:rSp/>
                                    <m:rSpRule/>
                                    <m:ctrlPr>
                                      <a:rPr lang="en-US" sz="2000" i="1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func>
                                        <m:funcPr>
                                          <m:ctrl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m:rPr/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u</m:t>
                                          </m:r>
                                        </m:e>
                                      </m:func>
                                    </m:e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func>
                                        <m:funcPr>
                                          <m:ctrl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m:rPr/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u</m:t>
                                          </m:r>
                                        </m:e>
                                      </m:func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/>
              <a:t>通过</a:t>
            </a:r>
            <a:endParaRPr lang="zh-CN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=i 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sSup>
                        <m:sSup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("/>
                              <m:endChr m:val=")"/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d>
                        </m:e>
                        <m:sup>
                          <m:r>
                            <m:rPr/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得到哈密顿: (这里简化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-1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†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+O(</m:t>
                      </m:r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,对小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展开)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unc>
                        <m:funcPr>
                          <m:ctrlPr>
                            <a:rPr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XX+</m:t>
                      </m:r>
                      <m:f>
                        <m:f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YX-XY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(ZI-IZ)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/>
              <a:t>矩阵形式: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</m:func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-i</m:t>
                                </m:r>
                                <m:func>
                                  <m:func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</m:func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+i</m:t>
                                </m:r>
                                <m:func>
                                  <m:func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</m:func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-δ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d=(</m:t>
                      </m:r>
                      <m:func>
                        <m:funcPr>
                          <m:ctrlPr>
                            <a:rPr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func>
                        <m:funcPr>
                          <m:ctrlPr>
                            <a:rPr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,δ)</m:t>
                      </m:r>
                    </m:oMath>
                  </m:oMathPara>
                </a14:m>
              </mc:Choice>
              <mc:Fallback/>
            </mc:AlternateContent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瞬时能级的本征值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Arial"/>
                <a:cs typeface="Arial"/>
              </a:rPr>
              <a:t>:</a:t>
            </a:r>
            <a:endParaRPr lang="en-US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±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/>
                          </m:r>
                        </m:deg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δ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</mc:Choice>
              <mc:Fallback/>
            </mc:AlternateContent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705787" name=""/>
          <p:cNvSpPr txBox="1"/>
          <p:nvPr/>
        </p:nvSpPr>
        <p:spPr bwMode="auto">
          <a:xfrm rot="0" flipH="0" flipV="0">
            <a:off x="160555" y="440971"/>
            <a:ext cx="11906619" cy="387739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在上述例子模型里面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d=(</m:t>
                      </m:r>
                      <m:func>
                        <m:funcPr>
                          <m:ctrlPr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func>
                        <m:funcPr>
                          <m:ctrlPr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,δ)</m:t>
                      </m:r>
                    </m:oMath>
                  </m:oMathPara>
                </a14:m>
              </mc:Choice>
              <mc:Fallback/>
            </mc:AlternateContent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所以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δ&gt;0</m:t>
                      </m:r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增大能量幅度并引入额外累积相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∫|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 dt</m:t>
                      </m:r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，改变重叠随 T 的行为。</a:t>
            </a:r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Arial"/>
                <a:cs typeface="Arial"/>
              </a:rPr>
              <a:t>如果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δ=0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对应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哈密顿量在 xy 平面，演化主要是平面旋转（几何/拓扑主导），对应理想化的 Majorana zero mode（MZM-like）行为 ,对 braiding time 不那么敏感</a:t>
            </a:r>
            <a:r>
              <a:rPr lang="en-US" sz="2000"/>
              <a:t>.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δ&gt;0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,在 z 方向出现分量，导致瞬时能级分裂（finite-energy），等效于形成局域 Andreev bound state（ABS）；这会产生额外的动力学相（dynamic phase），使最终重叠/门更依赖时间和参数</a:t>
            </a:r>
            <a:r>
              <a:rPr lang="en-US" sz="2000"/>
              <a:t>.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(这一部分会在最后面给出具体的结果,类比论文fig3-5的部分)</a:t>
            </a:r>
            <a:endParaRPr lang="en-US" sz="2000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680940" name=""/>
          <p:cNvSpPr txBox="1"/>
          <p:nvPr/>
        </p:nvSpPr>
        <p:spPr bwMode="auto">
          <a:xfrm rot="0" flipH="0" flipV="0">
            <a:off x="213471" y="423333"/>
            <a:ext cx="12105693" cy="53898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根据论文</a:t>
            </a:r>
            <a:endParaRPr lang="zh-CN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Non-Abelian statistics of Majorana zero modes in the presence of an Andreev bound state</a:t>
            </a:r>
            <a:endParaRPr lang="zh-CN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Wenqin Chen,1 Jiachen Wang,1 Yijia Wu ,2 Junjie Qi,3 Jie Liu ,1,* and X. C. Xie2,3,4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,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DOI: 10.1103/PhysRevB.105.054507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有两个主要观点需要我们的模型复现出来: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1. 在存在 ABS 的情况下，braid 和 hybridization 的叠加会把单比特演化写成 Bloch 球上的一般SU(2)旋转(一个全局相位)；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 若通过调节门电压、Zeeman 场或耦合强度使动力学相退化为全局相，则总演化恢复到近似纯编织门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braid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或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geom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，从而恢复理想 non-Abelian statistics。</a:t>
            </a:r>
            <a:endParaRPr lang="en-US" sz="20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第二点根据前文的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nary>
                        <m:naryPr>
                          <m:grow m:val="off"/>
                          <m:limLoc m:val="undOvr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r>
                            <m:rPr/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  <m:t>||</m:t>
                          </m:r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  <m:r>
                            <m:rPr/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  <m:t>||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⋅dt ∈ πZ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已经可以说明,只需要调节对应的物理参数搭建路径u(t),就可以实现.下面着重说明第一点的复现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164108" name=""/>
          <p:cNvSpPr txBox="1"/>
          <p:nvPr/>
        </p:nvSpPr>
        <p:spPr bwMode="auto">
          <a:xfrm rot="0" flipH="0" flipV="0">
            <a:off x="178192" y="458608"/>
            <a:ext cx="12251136" cy="626008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600" b="1"/>
              <a:t>复现前的准备pre1:</a:t>
            </a:r>
            <a:endParaRPr lang="en-US" sz="2600" b="1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sz="2000"/>
              <a:t>首先需要先说明我们的模型能否做到SU</a:t>
            </a:r>
            <a:r>
              <a:rPr lang="en-US" sz="2000"/>
              <a:t>(2)的任意旋转,这里给出命题: (完整证明也在append/s1.md)</a:t>
            </a:r>
            <a:endParaRPr lang="en-US"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/>
              <a:t>表示出任意旋转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↔H(u)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张成Lie su(2)代数,形式一点都说法是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李代数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Lie{i </m:t>
                      </m:r>
                      <m:acc>
                        <m:accPr>
                          <m:chr m:val="⃗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⋅σ</m:t>
                      </m:r>
                      <m:sSub>
                        <m:sSub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}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u∈ Τ</m:t>
                          </m:r>
                        </m:sub>
                      </m:sSub>
                      <m:r>
                        <m:rPr>
                          <m:sty m:val="i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=su(2)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当且仅当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Cambria Math"/>
                <a:ea typeface="Cambria Math"/>
                <a:cs typeface="Cambria Math"/>
              </a:rPr>
              <a:t>参数轨迹的像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D={</m:t>
                      </m:r>
                      <m:acc>
                        <m:accPr>
                          <m:chr m:val="⃗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u): u∈ Τ}</m:t>
                      </m:r>
                    </m:oMath>
                  </m:oMathPara>
                </a14:m>
              </mc:Choice>
              <mc:Fallback/>
            </mc:AlternateContent>
            <a:r>
              <a:rPr/>
              <a:t>满足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span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/>
              <a:t>也就是要满足: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≠ 0</m:t>
                      </m:r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更强的三点判据（等价）：存在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,u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,u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使得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det</m:t>
                          </m:r>
                        </m:fName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[</m:t>
                          </m:r>
                          <m:acc>
                            <m:accPr>
                              <m:chr m:val="⃗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acc>
                          <m:d>
                            <m:dPr>
                              <m:begChr m:val="("/>
                              <m:endChr m:val=")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acc>
                          <m:d>
                            <m:dPr>
                              <m:begChr m:val="("/>
                              <m:endChr m:val=")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acc>
                          <m:d>
                            <m:dPr>
                              <m:begChr m:val="("/>
                              <m:endChr m:val=")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]</m:t>
                          </m:r>
                        </m:e>
                      </m:func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⋅[</m:t>
                      </m:r>
                      <m:acc>
                        <m:accPr>
                          <m:chr m:val="⃗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]≠0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简单说明证明要点：对任意两个方向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⃗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，有 Lie 对易子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[id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σ,id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⋅σ]=-2i(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)⋅σ</m:t>
                      </m:r>
                    </m:oMath>
                  </m:oMathPara>
                </a14:m>
              </mc:Choice>
              <mc:Fallback/>
            </mc:AlternateContent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因此只要存在两不共线向量，便可通过一次对易得到第三个方向；三线性独立则生成全 su(2)</a:t>
            </a:r>
            <a:endParaRPr lang="en-US" sz="2000"/>
          </a:p>
          <a:p>
            <a:pPr>
              <a:defRPr/>
            </a:pP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819218" name=""/>
          <p:cNvSpPr txBox="1"/>
          <p:nvPr/>
        </p:nvSpPr>
        <p:spPr bwMode="auto">
          <a:xfrm rot="0" flipH="0" flipV="0">
            <a:off x="178194" y="423333"/>
            <a:ext cx="117298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29778668" name=""/>
          <p:cNvSpPr txBox="1"/>
          <p:nvPr/>
        </p:nvSpPr>
        <p:spPr bwMode="auto">
          <a:xfrm rot="0" flipH="0" flipV="0">
            <a:off x="125276" y="352776"/>
            <a:ext cx="12196774" cy="649154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600" b="1"/>
              <a:t>pre2:</a:t>
            </a:r>
            <a:endParaRPr lang="en-US"/>
          </a:p>
          <a:p>
            <a:pPr>
              <a:defRPr/>
            </a:pPr>
            <a:r>
              <a:rPr lang="en-US" sz="2000"/>
              <a:t>下面要将用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/>
              <a:t>表示的杂化以及braid操作对应到我们的简化的模型上:</a:t>
            </a:r>
            <a:endParaRPr lang="en-US" sz="2000"/>
          </a:p>
          <a:p>
            <a:pPr>
              <a:defRPr/>
            </a:pPr>
            <a:r>
              <a:rPr lang="en-US" sz="2000"/>
              <a:t>引入Jordan Wigner变换: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2j-1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grow m:val="off"/>
                              <m:limLoc m:val="undOvr"/>
                              <m:supHide m:val="on"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m&lt;j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("/>
                                      <m:endChr m:val=")"/>
                                      <m:ctrl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i"/>
                                            </m:r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i"/>
                                            </m:rPr>
                                            <a:rPr lang="en-US" sz="20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</m:t>
                          </m:r>
                        </m:sub>
                      </m:sSub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grow m:val="off"/>
                              <m:limLoc m:val="undOvr"/>
                              <m:supHide m:val="on"/>
                              <m:ctrlPr>
                                <a:rPr lang="zh-CN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i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m&lt;j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zh-CN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("/>
                                      <m:endChr m:val=")"/>
                                      <m:ctrlPr>
                                        <a:rPr lang="zh-CN" sz="1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sz="18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i"/>
                                            </m:rPr>
                                            <a:rPr lang="zh-CN" sz="18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i"/>
                                            </m:rPr>
                                            <a:rPr lang="zh-CN" sz="18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/>
                                    <a:rPr lang="zh-CN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sSup>
                        <m:sSup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于是同一费米模上的杂化项里的张量积直接变成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2j-1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</m:t>
                      </m:r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对最近邻的 Majorana 二次项，有</a:t>
            </a:r>
            <a:endParaRPr lang="en-US" sz="22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2j-1</m:t>
                          </m:r>
                        </m:sub>
                      </m:sSub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2j+1</m:t>
                          </m:r>
                        </m:sub>
                      </m:sSub>
                      <m:r>
                        <m:rPr/>
                        <a:rPr lang="en-US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p>
                      </m:sSup>
                      <m:sSup>
                        <m:sSup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j+1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lang="en-US" sz="22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2j-1</m:t>
                          </m:r>
                        </m:sub>
                      </m:sSub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2j+2</m:t>
                          </m:r>
                        </m:sub>
                      </m:sSub>
                      <m:r>
                        <m:rPr/>
                        <a:rPr lang="en-US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p>
                      </m:sSup>
                      <m:sSup>
                        <m:sSup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j+1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lang="en-US" sz="22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</m:t>
                          </m:r>
                        </m:sub>
                      </m:sSub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2j+1</m:t>
                          </m:r>
                        </m:sub>
                      </m:sSub>
                      <m:r>
                        <m:rPr/>
                        <a:rPr lang="en-US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</m:t>
                      </m:r>
                      <m:sSup>
                        <m:sSup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p>
                      </m:sSup>
                      <m:sSup>
                        <m:sSup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j+1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lang="en-US" sz="22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</m:t>
                          </m:r>
                        </m:sub>
                      </m:sSub>
                      <m:sSub>
                        <m:sSub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2j+2</m:t>
                          </m:r>
                        </m:sub>
                      </m:sSub>
                      <m:r>
                        <m:rPr/>
                        <a:rPr lang="en-US" sz="22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</m:t>
                      </m:r>
                      <m:sSup>
                        <m:sSup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p>
                      </m:sSup>
                      <m:sSup>
                        <m:sSupPr>
                          <m:ctrl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2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j+1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/>
              <a:t>因此,得到一般结论: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(t)=i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pHide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a&lt;b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ϵ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ab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nary>
                            <m:naryPr>
                              <m:chr m:val="∑"/>
                              <m:grow m:val="off"/>
                              <m:limLoc m:val="undOvr"/>
                              <m:supHide m:val="on"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α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α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endParaRPr 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300895" name=""/>
          <p:cNvSpPr txBox="1"/>
          <p:nvPr/>
        </p:nvSpPr>
        <p:spPr bwMode="auto">
          <a:xfrm rot="0" flipH="0" flipV="0">
            <a:off x="160554" y="493887"/>
            <a:ext cx="12128018" cy="365900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其中</a:t>
            </a:r>
            <a:r>
              <a:rPr lang="en-US" sz="2000"/>
              <a:t>,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是 Pauli 串或两体张量积</a:t>
            </a:r>
            <a:r>
              <a:rPr lang="en-US" sz="2000"/>
              <a:t>,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则由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和 JW 产生的Z串共同决定</a:t>
            </a:r>
            <a:r>
              <a:rPr lang="en-US" sz="2000"/>
              <a:t>.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若只关心逻辑比特，继续投影到编码子空间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I+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lang="zh-CN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/>
              <a:t>这里的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来自于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u=u(t)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,即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H(u(t))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braid操作,例如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B=exp(</m:t>
                      </m:r>
                      <m:f>
                        <m:f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m:rPr>
                          <m:sty m:val="i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→exp(-i</m:t>
                      </m:r>
                      <m:f>
                        <m:f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/>
              <a:t>也可以由同样的方法推导得到.</a:t>
            </a:r>
            <a:endParaRPr lang="en-US" sz="2000"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(更一般的证明可以参考append/s1.md)</a:t>
            </a:r>
            <a:endParaRPr lang="en-US" sz="20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174071" name=""/>
          <p:cNvSpPr txBox="1"/>
          <p:nvPr/>
        </p:nvSpPr>
        <p:spPr bwMode="auto">
          <a:xfrm rot="0" flipH="0" flipV="0">
            <a:off x="107637" y="352776"/>
            <a:ext cx="11836415" cy="57699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1"/>
              <a:t>pre3:从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i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 -&gt;</m:t>
                      </m:r>
                      <m:sSub>
                        <m:sSubPr>
                          <m:ctrlPr>
                            <a:rPr lang="en-US" sz="2400" b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en-US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r>
                        <m:rPr>
                          <m:sty m:val="bi"/>
                        </m:rPr>
                        <a:rPr sz="2400">
                          <a:latin typeface="Cambria Math"/>
                          <a:ea typeface="Cambria Math"/>
                          <a:cs typeface="Cambria Math"/>
                        </a:rPr>
                        <m:t>→R</m:t>
                      </m:r>
                    </m:oMath>
                  </m:oMathPara>
                </a14:m>
              </mc:Choice>
              <mc:Fallback/>
            </mc:AlternateContent>
            <a:r>
              <a:rPr lang="en-US" sz="2400"/>
              <a:t>演化</a:t>
            </a:r>
            <a:r>
              <a:rPr lang="en-US" sz="2400"/>
              <a:t>也是下面对比论文时从哈密顿开始构建到R的过程:</a:t>
            </a:r>
            <a:endParaRPr lang="en-US" sz="240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严格复现链：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box>
                        <m:boxPr>
                          <m:aln m:val="off"/>
                          <m:diff m:val="off"/>
                          <m:noBreak m:val="off"/>
                          <m:opEmu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oxPr>
                        <m:e>
                          <m:groupChr>
                            <m:groupChrPr>
                              <m:chr m:val="→"/>
                              <m:pos m:val="bot"/>
                              <m:vertJc m:val="bot"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groupChr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JW mapping</m:t>
                              </m:r>
                            </m:e>
                          </m:groupChr>
                        </m:e>
                      </m:box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subHide m:val="on"/>
                          <m:supHide m:val="on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</m:sSub>
                          <m:sSub>
                            <m:sSubPr>
                              <m:ctrlPr>
                                <a:rPr sz="2000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sz="20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sz="20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sub>
                          </m:sSub>
                        </m:e>
                      </m:nary>
                      <m:box>
                        <m:boxPr>
                          <m:aln m:val="off"/>
                          <m:diff m:val="off"/>
                          <m:noBreak m:val="off"/>
                          <m:opEmu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oxPr>
                        <m:e>
                          <m:groupChr>
                            <m:groupChrPr>
                              <m:chr m:val="→"/>
                              <m:pos m:val="bot"/>
                              <m:vertJc m:val="bot"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groupChr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     </m:t>
                              </m:r>
                              <m:sSub>
                                <m:sSub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sub>
                              </m:s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     </m:t>
                              </m:r>
                            </m:e>
                          </m:groupChr>
                        </m:e>
                      </m:box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I+d⋅σ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lang="en-US" sz="2000"/>
              <a:t>其中: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⊗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subHide m:val="on"/>
                          <m:supHide m:val="on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μν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ν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 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r>
              <a:rPr lang="en-US" sz="2000"/>
              <a:t>在这里起到了一个中转的作用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若在逻辑基底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〉,|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〉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上展开，便有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 = </m:t>
                      </m:r>
                      <m:d>
                        <m:d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〈0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⊗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endChr m:val=")"/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</m:d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〉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〈0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⊗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endChr m:val=")"/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</m:d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  <m:sub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〉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〈1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⊗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endChr m:val=")"/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</m:d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〉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〈1</m:t>
                                    </m:r>
                                  </m:e>
                                  <m:sub>
                                    <m:r>
                                      <m:rPr>
                                        <m:sty m:val="i"/>
                                      </m:r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⊗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endChr m:val=")"/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e>
                                </m:d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  <m:sub>
                                    <m:r>
                                      <m:rPr/>
                                      <a:rPr lang="en-US" sz="2000" u="none" strike="noStrike" cap="none" spc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</m:sSub>
                                <m:r>
                                  <m:rPr/>
                                  <a:rPr lang="en-US" sz="2000" u="none" strike="noStrike" cap="none" spc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〉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把这个2*2厄米矩阵按 Pauli 基展开，就得到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I+d⋅σ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endParaRPr lang="en-US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261168" name=""/>
          <p:cNvSpPr txBox="1"/>
          <p:nvPr/>
        </p:nvSpPr>
        <p:spPr bwMode="auto">
          <a:xfrm rot="0" flipH="0" flipV="0">
            <a:off x="266388" y="423333"/>
            <a:ext cx="11810137" cy="557589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于是总演化为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exp(-i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dt)=</m:t>
                      </m:r>
                      <m:sSup>
                        <m:sSup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/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  <m:t>-iΦ(T)</m:t>
                          </m:r>
                        </m:sup>
                      </m:sSup>
                      <m:acc>
                        <m:acc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acc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exp(-i</m:t>
                      </m:r>
                      <m:nary>
                        <m:naryPr>
                          <m:grow m:val="off"/>
                          <m:limLoc m:val="subSup"/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d(t)</m:t>
                          </m:r>
                        </m:e>
                      </m:nary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⋅σdt</m:t>
                      </m:r>
                      <m:nary>
                        <m:naryPr>
                          <m:chr m:val="∫"/>
                          <m:grow m:val="off"/>
                          <m:limLoc m:val="subSup"/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2000"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endChr m:val=")"/>
                          <m:ctrlPr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sz="2000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grow m:val="off"/>
                          <m:limLoc m:val="subSup"/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(t)</m:t>
                          </m:r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若每一段路径内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d(t)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近似固定，则对第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k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段有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iτ</m:t>
                              </m:r>
                            </m:e>
                            <m:sub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0,k</m:t>
                              </m:r>
                            </m:sub>
                          </m:sSub>
                        </m:sup>
                      </m:sSup>
                      <m:func>
                        <m:func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[cos</m:t>
                          </m:r>
                        </m:fName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/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τ</m:t>
                              </m:r>
                            </m:e>
                            <m:sub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func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)I-i</m:t>
                      </m:r>
                      <m:func>
                        <m:func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/>
                                    <a:rPr lang="zh-CN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τ</m:t>
                              </m:r>
                            </m:e>
                            <m:sub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func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)⋅σ]</m:t>
                      </m:r>
                    </m:oMath>
                  </m:oMathPara>
                </a14:m>
              </mc:Choice>
              <mc:Fallback/>
            </mc:AlternateContent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Arial"/>
                <a:cs typeface="Arial"/>
              </a:rPr>
              <a:t>因此</a:t>
            </a:r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∏"/>
                          <m:grow m:val="off"/>
                          <m:limLoc m:val="undOvr"/>
                          <m:supHide m:val="on"/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-iΦ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sup>
                      </m:sSup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SU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</mc:Choice>
              <mc:Fallback/>
            </mc:AlternateContent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当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d(t)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绕原点闭合时，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SU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就是 Bloch 球上的旋转门；当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只贡献全局相位时，就得到论文所说的“理想 braid + 相位动力学累积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-&gt;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Bloch 旋转”。</a:t>
            </a:r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685233" name=""/>
          <p:cNvSpPr txBox="1"/>
          <p:nvPr/>
        </p:nvSpPr>
        <p:spPr bwMode="auto">
          <a:xfrm rot="0" flipH="0" flipV="0">
            <a:off x="160553" y="423331"/>
            <a:ext cx="12047013" cy="481063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复现流程</a:t>
            </a:r>
            <a:endParaRPr lang="en-US" sz="2000"/>
          </a:p>
          <a:p>
            <a:pPr>
              <a:defRPr/>
            </a:pPr>
            <a:endParaRPr/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把论文中的器件控制参数统一记作</a:t>
            </a:r>
            <a:r>
              <a:rPr/>
              <a:t>路径</a:t>
            </a:r>
            <a:r>
              <a:rPr lang="en-US"/>
              <a:t>,表示为如下形式</a:t>
            </a:r>
            <a:endParaRPr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=(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,g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,g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,g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,V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,ϕ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,V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(t))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其中：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是四个门的开关变量，控制各臂之间是否连通；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是 Zeeman 场；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是上下纳米线之间的相位差；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是量子点或局域势阱深度，用于产生/调节 ABS；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ic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是器件与中心 trivial superconductor 的时变耦合。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这里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是统一的基准跃迁幅度</a:t>
            </a:r>
            <a:endParaRPr lang="en-US" sz="2000"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000"/>
              <a:t>参考supplement_materialV2附录,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先设计门控路径，再得到时变微观哈密顿量；随后把它投影到低能零模子空间，得到 Majorana 的有效耦合；最后区分出理想 MZM 的非阿贝尔 braid，以及 ABS 参与时的动力学相积累。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路径设计的本质，就是按时间调节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，让某些 Majorana 先杂化、再交换、再回到杂化。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071447" name=""/>
          <p:cNvSpPr txBox="1"/>
          <p:nvPr/>
        </p:nvSpPr>
        <p:spPr bwMode="auto">
          <a:xfrm rot="0" flipH="0" flipV="0">
            <a:off x="160553" y="458608"/>
            <a:ext cx="11924975" cy="584123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=exp(</m:t>
                      </m:r>
                      <m:f>
                        <m:fPr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zh-CN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lang="zh-CN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=exp(-</m:t>
                      </m:r>
                      <m:f>
                        <m:fPr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=exp(</m:t>
                      </m:r>
                      <m:f>
                        <m:fPr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=exp(-</m:t>
                      </m:r>
                      <m:f>
                        <m:fPr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zh-CN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=exp(-</m:t>
                      </m:r>
                      <m:f>
                        <m:fPr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其中</a:t>
            </a:r>
            <a:endParaRPr lang="zh-CN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zh-CN" sz="20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grow m:val="off"/>
                          <m:limLoc m:val="subSup"/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sSup>
                            <m:sSup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ϵ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zh-CN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(i)</m:t>
                              </m:r>
                            </m:sup>
                          </m:sSup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(t)</m:t>
                          </m:r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endParaRPr lang="zh-CN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因此总演化是</a:t>
            </a:r>
            <a:endParaRPr lang="zh-CN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tot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/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lang="en-US"/>
              <a:t>(注,下面会把初始状态也计入,因此下面是6个步骤)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14451" name=""/>
          <p:cNvSpPr txBox="1"/>
          <p:nvPr/>
        </p:nvSpPr>
        <p:spPr bwMode="auto">
          <a:xfrm rot="0" flipH="0" flipV="0">
            <a:off x="107637" y="405693"/>
            <a:ext cx="12243924" cy="2652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总结支持材料里面的整个哈密顿可以写为</a:t>
            </a:r>
            <a:r>
              <a:rPr lang="en-US" sz="2000"/>
              <a:t>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sz="14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⊗</m:t>
                          </m:r>
                        </m:sub>
                      </m:sSub>
                      <m:r>
                        <m:rPr/>
                        <a:rPr lang="en-US" sz="1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1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1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cGp/>
                              <m:cGpRule/>
                              <m:cSp/>
                              <m:mcs>
                                <m:mc>
                                  <m:mcPr>
                                    <m:mcJc m:val="center"/>
                                    <m:count m:val="2"/>
                                  </m:mcPr>
                                </m:mc>
                              </m:mcs>
                              <m:plcHide m:val="off"/>
                              <m:rSp/>
                              <m:rSpRule/>
                              <m:ctrlPr>
                                <a:rPr sz="1400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baseJc m:val="center"/>
                                    <m:cGp/>
                                    <m:cGpRule/>
                                    <m:cSp/>
                                    <m:mcs>
                                      <m:mc>
                                        <m:mcPr>
                                          <m:mcJc m:val="center"/>
                                          <m:count m:val="2"/>
                                        </m:mcPr>
                                      </m:mc>
                                    </m:mcs>
                                    <m:plcHide m:val="off"/>
                                    <m:rSp/>
                                    <m:rSpRule/>
                                    <m:ctrlPr>
                                      <a:rPr sz="1400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-</m:t>
                                      </m:r>
                                      <m:d>
                                        <m:dPr>
                                          <m:begChr m:val="("/>
                                          <m:endChr m:val=")"/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          </m:t>
                                      </m:r>
                                    </m:e>
                                    <m:e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                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 </m:t>
                                      </m:r>
                                    </m:e>
                                    <m:e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                         -</m:t>
                                      </m:r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6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6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baseJc m:val="center"/>
                                    <m:cGp/>
                                    <m:cGpRule/>
                                    <m:cSp/>
                                    <m:mcs>
                                      <m:mc>
                                        <m:mcPr>
                                          <m:mcJc m:val="center"/>
                                          <m:count m:val="2"/>
                                        </m:mcPr>
                                      </m:mc>
                                    </m:mcs>
                                    <m:plcHide m:val="off"/>
                                    <m:rSp/>
                                    <m:rSpRule/>
                                    <m:ctrlPr>
                                      <a:rPr sz="1400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-</m:t>
                                      </m:r>
                                      <m:d>
                                        <m:dPr>
                                          <m:begChr m:val="("/>
                                          <m:endChr m:val=")"/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+i(</m:t>
                                      </m:r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)</m:t>
                                      </m:r>
                                    </m:e>
                                  </m:mr>
                                  <m:mr>
                                    <m:e>
                                      <m:d>
                                        <m:dPr>
                                          <m:begChr m:val="("/>
                                          <m:endChr m:val=")"/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-</m:t>
                                          </m:r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+i(</m:t>
                                      </m:r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-</m:t>
                                      </m:r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baseJc m:val="center"/>
                                    <m:cGp/>
                                    <m:cGpRule/>
                                    <m:cSp/>
                                    <m:mcs>
                                      <m:mc>
                                        <m:mcPr>
                                          <m:mcJc m:val="center"/>
                                          <m:count m:val="2"/>
                                        </m:mcPr>
                                      </m:mc>
                                    </m:mcs>
                                    <m:plcHide m:val="off"/>
                                    <m:rSp/>
                                    <m:rSpRule/>
                                    <m:ctrlPr>
                                      <a:rPr sz="1400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d>
                                        <m:dPr>
                                          <m:begChr m:val="("/>
                                          <m:endChr m:val=")"/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-</m:t>
                                          </m:r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-i(</m:t>
                                      </m:r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-</m:t>
                                      </m:r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)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-</m:t>
                                      </m:r>
                                      <m:d>
                                        <m:dPr>
                                          <m:begChr m:val="("/>
                                          <m:endChr m:val=")"/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4</m:t>
                                              </m:r>
                                            </m:sub>
                                          </m:s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g</m:t>
                                              </m:r>
                                            </m:e>
                                            <m:sub>
                                              <m:r>
                                                <m:rPr/>
                                                <a:rPr sz="1400"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-i(</m:t>
                                      </m:r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)</m:t>
                                      </m:r>
                                    </m:e>
                                    <m:e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baseJc m:val="center"/>
                                    <m:cGp/>
                                    <m:cGpRule/>
                                    <m:cSp/>
                                    <m:mcs>
                                      <m:mc>
                                        <m:mcPr>
                                          <m:mcJc m:val="center"/>
                                          <m:count m:val="2"/>
                                        </m:mcPr>
                                      </m:mc>
                                    </m:mcs>
                                    <m:plcHide m:val="off"/>
                                    <m:rSp/>
                                    <m:rSpRule/>
                                    <m:ctrlPr>
                                      <a:rPr sz="1400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!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6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-</m:t>
                                      </m:r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6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                               </m:t>
                                      </m:r>
                                    </m:e>
                                    <m:e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 0                                   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/>
                                        <a:rPr sz="14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g</m:t>
                                          </m:r>
                                        </m:e>
                                        <m:sub>
                                          <m:r>
                                            <m:rPr/>
                                            <a:rPr sz="140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m:rPr/>
                        <a:rPr lang="en-US" sz="1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+h.c</m:t>
                      </m:r>
                    </m:oMath>
                  </m:oMathPara>
                </a14:m>
              </mc:Choice>
              <mc:Fallback/>
            </mc:AlternateContent>
            <a:endParaRPr lang="en-US" sz="14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sp>
        <p:nvSpPr>
          <p:cNvPr id="77888230" name=""/>
          <p:cNvSpPr txBox="1"/>
          <p:nvPr/>
        </p:nvSpPr>
        <p:spPr bwMode="auto">
          <a:xfrm rot="0" flipH="0" flipV="0">
            <a:off x="275030" y="3026788"/>
            <a:ext cx="11900499" cy="342408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接下来考虑带入到我们的pauli张量积模型中</a:t>
            </a:r>
            <a:r>
              <a:rPr lang="en-US" sz="2000"/>
              <a:t>,首先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路径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p(t)</m:t>
                      </m:r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本身不是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μν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，它先决定一组随时间变化的控制幅度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(p(t))</m:t>
                      </m:r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。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于是微观哈密顿量可统一写成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: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⊗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⊗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(0)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pHide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其中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是固定的张量积算符基。若改写到 Pauli 张量基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: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⊗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supHide m:val="on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μ,ν∈{0,x,y,z}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μν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mc:Choice>
              <mc:Fallback/>
            </mc:AlternateContent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构造逻辑:</a:t>
            </a:r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p(t)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{μν}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R(u)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YBE.</m:t>
                      </m:r>
                    </m:oMath>
                  </m:oMathPara>
                </a14:m>
              </mc:Choice>
              <mc:Fallback/>
            </mc:AlternateContent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490316" name=""/>
          <p:cNvSpPr txBox="1"/>
          <p:nvPr/>
        </p:nvSpPr>
        <p:spPr bwMode="auto">
          <a:xfrm rot="0" flipH="0" flipV="0">
            <a:off x="125276" y="423333"/>
            <a:ext cx="12135567" cy="610452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取四个相关 Majorana 的固定顺序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=(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并用两 qubit 的 JW 表示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=X⊗I,  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=Y⊗I , 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=Z⊗X,  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=Z⊗Y</m:t>
                      </m:r>
                    </m:oMath>
                  </m:oMathPara>
                </a14:m>
              </mc:Choice>
              <mc:Fallback/>
            </mc:AlternateContent>
            <a:endParaRPr lang="en-US"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则六个双线性项变成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=-Z⊗I</m:t>
                      </m:r>
                    </m:oMath>
                  </m:oMathPara>
                </a14:m>
              </mc:Choice>
              <mc:Fallback/>
            </mc:AlternateContent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=-Y⊗X</m:t>
                      </m:r>
                    </m:oMath>
                  </m:oMathPara>
                </a14:m>
              </mc:Choice>
              <mc:Fallback/>
            </mc:AlternateContent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=Y⊗Y</m:t>
                      </m:r>
                    </m:oMath>
                  </m:oMathPara>
                </a14:m>
              </mc:Choice>
              <mc:Fallback/>
            </mc:AlternateContent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=-X⊗X</m:t>
                      </m:r>
                    </m:oMath>
                  </m:oMathPara>
                </a14:m>
              </mc:Choice>
              <mc:Fallback/>
            </mc:AlternateContent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=-X⊗Y</m:t>
                      </m:r>
                    </m:oMath>
                  </m:oMathPara>
                </a14:m>
              </mc:Choice>
              <mc:Fallback/>
            </mc:AlternateContent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=-I⊗Z</m:t>
                      </m:r>
                    </m:oMath>
                  </m:oMathPara>
                </a14:m>
              </mc:Choice>
              <mc:Fallback/>
            </mc:AlternateContent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因此支撑材料中的低能哈密顿量可写成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⊗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Z⊗I-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Y⊗X+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Y⊗Y-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X⊗X-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X⊗Y-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I⊗Z+h.c.)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r>
              <a:rPr lang="en-US"/>
              <a:t>非零系数:</a:t>
            </a:r>
            <a:endParaRPr lang="en-US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ZI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 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YX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 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YY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=+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endParaRPr lang="en-US"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XX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 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XY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 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IZ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=-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若显式保留 h.c.且系数实数，则整体统一乘以 2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795830" name=""/>
          <p:cNvSpPr txBox="1"/>
          <p:nvPr/>
        </p:nvSpPr>
        <p:spPr bwMode="auto">
          <a:xfrm rot="0" flipH="0" flipV="0">
            <a:off x="178194" y="440971"/>
            <a:ext cx="12008134" cy="28850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在逻辑子空间进行投影</a:t>
            </a:r>
            <a:r>
              <a:rPr lang="en-US" sz="2000"/>
              <a:t>,应用我们之前的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和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的变换规律: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(t)+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(t)+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(t)-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IZ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II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ZZ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endParaRPr lang="en-US"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于是该两 qubit Pauli 张量积哈密顿量在逻辑子空间中的严格结果为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=d⋅σ=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endParaRPr lang="en-US" sz="18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407989477" name=""/>
          <p:cNvSpPr txBox="1"/>
          <p:nvPr/>
        </p:nvSpPr>
        <p:spPr bwMode="auto">
          <a:xfrm rot="0" flipH="0" flipV="0">
            <a:off x="301665" y="3429000"/>
            <a:ext cx="11704666" cy="164663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下面开始设计路径</a:t>
            </a:r>
            <a:r>
              <a:rPr lang="en-US" sz="2000"/>
              <a:t>,并进行复现:</a:t>
            </a:r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初始配置: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=0,   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=1</m:t>
                      </m:r>
                    </m:oMath>
                  </m:oMathPara>
                </a14:m>
              </mc:Choice>
              <mc:Fallback/>
            </mc:AlternateContent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这意味着只有某些臂与中心区相连，三个低能 Majorana 对被局域在不同的 domain wall 上。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036638" name=""/>
          <p:cNvSpPr txBox="1"/>
          <p:nvPr/>
        </p:nvSpPr>
        <p:spPr bwMode="auto">
          <a:xfrm rot="0" flipH="0" flipV="0">
            <a:off x="195832" y="440971"/>
            <a:ext cx="12244293" cy="59027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把准备也视为第一段路径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,则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前三段路径写成统一的段内归一化参数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a∈[0,1]</m:t>
                      </m:r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：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a,0,1-a,1</m:t>
                          </m:r>
                        </m:e>
                      </m:d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 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1-a,a,0,1</m:t>
                          </m:r>
                        </m:e>
                      </m:d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 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/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0,1-a,a,1</m:t>
                          </m:r>
                        </m:e>
                      </m:d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其中参数</a:t>
            </a:r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a=</m:t>
                      </m:r>
                      <m:f>
                        <m:fPr>
                          <m:ctrlPr>
                            <a:rPr lang="zh-CN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t-</m:t>
                          </m:r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,  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=nT</m:t>
                      </m:r>
                    </m:oMath>
                  </m:oMathPara>
                </a14:m>
              </mc:Choice>
              <mc:Fallback/>
            </mc:AlternateContent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是该段的起始时间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,T是每段的时间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并在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t∈[3T,6T]</m:t>
                      </m:r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重复一次前 3 段。把它直接代入 9.2.2.1 的两比特 Pauli 基哈密顿量，得到每一段的精确微观形式</a:t>
            </a:r>
            <a:r>
              <a:rPr lang="en-US" sz="2000"/>
              <a:t>: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⊗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[-u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1-u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Y⊗X+uY⊗Y-(1-u)I⊗Z]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⊗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[-u</m:t>
                      </m:r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Z⊗I+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1-u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Y⊗Y-uX⊗Y]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1-u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⊗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[-u</m:t>
                      </m:r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X⊗X-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1-u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X⊗Y-uI⊗Z]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1-u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Arial"/>
                <a:cs typeface="Arial"/>
              </a:rPr>
              <a:t>投影到子空间: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-a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1-a</m:t>
                          </m:r>
                        </m:e>
                      </m:d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1-a</m:t>
                          </m:r>
                        </m:e>
                      </m:d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endParaRPr sz="20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[(1-a)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+u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-a</m:t>
                      </m:r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1-a</m:t>
                          </m:r>
                        </m:e>
                      </m:d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-a(1-a)</m:t>
                          </m:r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+(1-a)</m:t>
                      </m:r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+a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]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724470" name=""/>
          <p:cNvSpPr txBox="1"/>
          <p:nvPr/>
        </p:nvSpPr>
        <p:spPr bwMode="auto">
          <a:xfrm rot="0" flipH="0" flipV="0">
            <a:off x="213471" y="458609"/>
            <a:ext cx="12116496" cy="577841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每段的物理时间长度为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T,</a:t>
            </a: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段内演化的精确结果是路径有序指数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</m:e>
                        <m: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(k)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sub>
                          </m:sSub>
                        </m:e>
                      </m:acc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exp(-iT</m:t>
                      </m:r>
                      <m:nary>
                        <m:naryPr>
                          <m:grow m:val="off"/>
                          <m:limLoc m:val="subSup"/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sub>
                              </m:sSub>
                            </m:e>
                            <m:sup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(k)</m:t>
                              </m:r>
                            </m:sup>
                          </m:sSup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(a)da)</m:t>
                          </m:r>
                        </m:e>
                      </m:nary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   k=1,2,3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</mc:Choice>
              <mc:Fallback/>
            </mc:AlternateContent>
            <a:r>
              <a:rPr lang="en-US" sz="2000"/>
              <a:t>表示时间有序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六步总演化(含初始状态)就是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L,F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 </m:t>
                      </m:r>
                      <m:sSup>
                        <m:sSup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(R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  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sub>
                          <m:r>
                            <m:rPr/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接下来就是验证,在我们的模型表示下,braid 和 hybridization 的操作会把单比特演化写成 Bloch 球上的一般SU(2)旋转(一个全局相位)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/>
              <a:t>注:具体代码步骤和分析可以参考re1.md文档.下面只说明思路和结果.</a:t>
            </a:r>
            <a:endParaRPr lang="en-US" sz="200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zh-CN" sz="2000" b="0" i="0" u="none" strike="noStrike" cap="none" spc="0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第 </a:t>
            </a:r>
            <a:r>
              <a:rPr lang="zh-CN" sz="2000" b="0" i="0" u="none" strike="noStrike" cap="none" spc="0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k</a:t>
            </a:r>
            <a:r>
              <a:rPr lang="zh-CN" sz="2000" b="0" i="0" u="none" strike="noStrike" cap="none" spc="0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 段的数值积分可按网格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=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zh-CN" sz="2000" b="0" i="1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 离散为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(k)</m:t>
                          </m:r>
                        </m:sup>
                      </m:sSup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nary>
                        <m:naryPr>
                          <m:chr m:val="∏"/>
                          <m:grow m:val="off"/>
                          <m:limLoc m:val="undOvr"/>
                          <m:ctrlPr>
                            <a:rPr lang="en-US" sz="20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m=M-1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p>
                        <m:e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exp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</m:t>
                              </m:r>
                              <m:sSup>
                                <m:sSup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iTΔaH</m:t>
                                  </m:r>
                                </m:e>
                                <m:sup>
                                  <m:r>
                                    <m:rPr>
                                      <m:sty m:val="i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p>
                              </m:sSup>
                              <m:d>
                                <m:dPr>
                                  <m:begChr m:val="("/>
                                  <m:endChr m:val=")"/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i"/>
                                        </m:rPr>
                                        <a:rPr lang="en-US" sz="20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  Δa=</m:t>
                          </m:r>
                          <m:f>
                            <m:fPr>
                              <m:ctrlPr>
                                <a:rPr lang="en-US" sz="20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486853" name=""/>
          <p:cNvSpPr txBox="1"/>
          <p:nvPr/>
        </p:nvSpPr>
        <p:spPr bwMode="auto">
          <a:xfrm rot="0" flipH="0" flipV="0">
            <a:off x="266387" y="352776"/>
            <a:ext cx="12004178" cy="4849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2000" b="0" i="0" u="none" strike="noStrike" cap="none" spc="0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这里乘积从右向左累积，和路径有序指数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 的方向一致。六步总门就是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L,F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 </m:t>
                      </m:r>
                      <m:sSup>
                        <m:sSupPr>
                          <m:ctrlPr>
                            <a:rPr lang="en-US" sz="20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(R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sub>
                              <m:r>
                                <m:rPr/>
                                <a:rPr lang="en-US" sz="20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  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zh-CN" sz="2000" b="0" i="0" u="none" strike="noStrike" cap="none" spc="0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然后与论文的理想 braid 门比较：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braid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rgbClr val="33333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=exp</m:t>
                      </m:r>
                      <m:d>
                        <m:dPr>
                          <m:begChr m:val="("/>
                          <m:endChr m:val=")"/>
                          <m:ctrl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sz="2000" b="0" i="1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num>
                            <m:den>
                              <m:r>
                                <m:rPr>
                                  <m:sty m:val="i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den>
                          </m:f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γ</m:t>
                              </m:r>
                            </m:e>
                            <m:sub>
                              <m:r>
                                <m:rPr/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</m:e>
                      </m:d>
                      <m:r>
                        <m:rPr/>
                        <a:rPr lang="zh-CN" sz="2000" u="none" strike="noStrike" cap="none" spc="0">
                          <a:solidFill>
                            <a:srgbClr val="33333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∼exp(-i</m:t>
                      </m:r>
                      <m:f>
                        <m:fPr>
                          <m:ctrlPr>
                            <a:rPr lang="zh-CN" sz="2000" b="0" i="1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r>
                        <m:rPr/>
                        <a:rPr lang="zh-CN" sz="2000" u="none" strike="noStrike" cap="none" spc="0">
                          <a:solidFill>
                            <a:srgbClr val="33333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sSub>
                        <m:sSubPr>
                          <m:ctrlPr>
                            <a:rPr lang="zh-CN" sz="145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45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zh-CN" sz="145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sSub>
                        <m:sSubPr>
                          <m:ctrlPr>
                            <a:rPr lang="zh-CN" sz="145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45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145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b>
                      </m:sSub>
                      <m:sSub>
                        <m:sSubPr>
                          <m:ctrlPr>
                            <a:rPr lang="zh-CN" sz="145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145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b>
                          <m:r>
                            <m:rPr/>
                            <a:rPr lang="zh-CN" sz="145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r>
              <a:rPr lang="zh-CN" sz="2000" b="0" i="0" u="none" strike="noStrike" cap="none" spc="0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数值检验时，最直接的残差是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200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45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braid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rgbClr val="33333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>
                          <m:ctrlPr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sz="2000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limLowPr>
                            <m:e>
                              <m:r>
                                <m:rPr/>
                                <a:rPr sz="20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m:rPr/>
                                <a:rPr sz="20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ϕ∈R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sz="2000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sz="2000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sz="20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/>
                                        <a:rPr sz="20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m:rPr/>
                                        <a:rPr sz="20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iϕ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sz="20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/>
                                        <a:rPr sz="20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/>
                                        <a:rPr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L,F</m:t>
                                      </m:r>
                                    </m:sub>
                                  </m:sSub>
                                  <m:r>
                                    <m:rPr/>
                                    <a:rPr sz="2000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-</m:t>
                                  </m:r>
                                  <m:sSub>
                                    <m:sSubPr>
                                      <m:ctrlPr>
                                        <a:rPr sz="20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/>
                                        <a:rPr sz="20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m:rPr/>
                                        <a:rPr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braid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</mc:Choice>
              <mc:Fallback/>
            </mc:AlternateContent>
            <a:endParaRPr sz="2000" b="0" i="0" u="none">
              <a:solidFill>
                <a:srgbClr val="333333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zh-CN" sz="2000" b="0" i="0" u="none" strike="noStrike" cap="none" spc="0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而如果要检查 braid/YBE 形式本身，就把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̆"/>
                          <m:ctrlPr>
                            <a:rPr lang="zh-CN" sz="2000" b="0" i="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braid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</mc:Choice>
              <mc:Fallback/>
            </mc:AlternateContent>
            <a:r>
              <a:rPr lang="zh-CN" sz="2000" b="0" i="0" u="none" strike="noStrike" cap="none" spc="0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  <a:t> 作为两体门嵌入三体空间，验证</a:t>
            </a:r>
            <a:endParaRPr sz="2000"/>
          </a:p>
          <a:p>
            <a:pPr>
              <a:defRPr/>
            </a:pPr>
            <a:br>
              <a:rPr sz="2000" b="0" i="0" u="none">
                <a:solidFill>
                  <a:srgbClr val="333333"/>
                </a:solidFill>
                <a:latin typeface="Liberation Sans"/>
                <a:ea typeface="Liberation Sans"/>
                <a:cs typeface="Liberation Sans"/>
              </a:rPr>
            </a:b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̆"/>
                          <m:ctrlPr>
                            <a:rPr lang="zh-CN" sz="2000" b="0" i="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sub>
                          </m:sSub>
                        </m:e>
                      </m:acc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rgbClr val="33333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acc>
                        <m:accPr>
                          <m:chr m:val="̆"/>
                          <m:ctrlPr>
                            <a:rPr lang="zh-CN" sz="2000" b="0" i="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23</m:t>
                              </m:r>
                            </m:sub>
                          </m:sSub>
                        </m:e>
                      </m:acc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rgbClr val="33333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acc>
                        <m:accPr>
                          <m:chr m:val="̆"/>
                          <m:ctrlPr>
                            <a:rPr lang="zh-CN" sz="2000" b="0" i="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sub>
                          </m:sSub>
                        </m:e>
                      </m:acc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rgbClr val="33333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-</m:t>
                      </m:r>
                      <m:acc>
                        <m:accPr>
                          <m:chr m:val="̆"/>
                          <m:ctrlPr>
                            <a:rPr lang="zh-CN" sz="2000" b="0" i="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23</m:t>
                              </m:r>
                            </m:sub>
                          </m:sSub>
                        </m:e>
                      </m:acc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rgbClr val="33333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acc>
                        <m:accPr>
                          <m:chr m:val="̆"/>
                          <m:ctrlPr>
                            <a:rPr lang="zh-CN" sz="2000" b="0" i="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sub>
                          </m:sSub>
                        </m:e>
                      </m:acc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rgbClr val="33333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acc>
                        <m:accPr>
                          <m:chr m:val="̆"/>
                          <m:ctrlPr>
                            <a:rPr lang="zh-CN" sz="2000" b="0" i="0" u="none" strike="noStrike" cap="none" spc="0">
                              <a:solidFill>
                                <a:srgbClr val="333333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2000" u="none" strike="noStrike" cap="none" spc="0">
                                  <a:solidFill>
                                    <a:srgbClr val="333333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23</m:t>
                              </m:r>
                            </m:sub>
                          </m:sSub>
                        </m:e>
                      </m:acc>
                      <m:r>
                        <m:rPr>
                          <m:sty m:val="p"/>
                        </m:rPr>
                        <a:rPr lang="zh-CN" sz="2000" u="none" strike="noStrike" cap="none" spc="0">
                          <a:solidFill>
                            <a:srgbClr val="333333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=0 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endParaRPr sz="1450" b="0" i="0" u="none">
              <a:solidFill>
                <a:srgbClr val="333333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/>
              <a:t>注</a:t>
            </a:r>
            <a:r>
              <a:rPr lang="en-US"/>
              <a:t>:上述演化在实际计算中,参考了论文里面定义的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i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[0.59 + 0.03 cos(t/T · π )]Δ</m:t>
                      </m:r>
                    </m:oMath>
                  </m:oMathPara>
                </a14:m>
              </mc:Choice>
              <mc:Fallback/>
            </mc:AlternateContent>
            <a:r>
              <a:rPr/>
              <a:t>这种余弦形式</a:t>
            </a:r>
            <a:r>
              <a:rPr lang="en-US"/>
              <a:t>,作为路径积分的调参.</a:t>
            </a:r>
            <a:endParaRPr sz="1450" b="0" i="0" u="none">
              <a:solidFill>
                <a:srgbClr val="333333"/>
              </a:solidFill>
              <a:latin typeface="Liberation Sans"/>
              <a:ea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49272" name=""/>
          <p:cNvSpPr txBox="1"/>
          <p:nvPr/>
        </p:nvSpPr>
        <p:spPr bwMode="auto">
          <a:xfrm rot="0" flipH="0" flipV="0">
            <a:off x="231111" y="423333"/>
            <a:ext cx="11825976" cy="5929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复现结果</a:t>
            </a:r>
            <a:r>
              <a:rPr lang="en-US"/>
              <a:t>:</a:t>
            </a:r>
            <a:endParaRPr lang="en-US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左图：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 `x`, `y`, `z`：逻辑门和三个理想 braid 轴 `exp(-i π/4 σ_a)` 的相位对齐残差；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 `braid`：braid relation 残差；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 `YBE`：constant YBE 残差。</a:t>
            </a:r>
            <a:endParaRPr lang="en-US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右图: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||e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iϕ</m:t>
                          </m:r>
                        </m:sup>
                      </m:sSup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braid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||</m:t>
                      </m:r>
                    </m:oMath>
                  </m:oMathPara>
                </a14:m>
              </mc:Choice>
              <mc:Fallback/>
            </mc:AlternateContent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也就是先把逻辑门 `R_L` 做全局相位对齐，再看它与理想 braid 门逐个元素的绝对差。</a:t>
            </a:r>
            <a:endParaRPr/>
          </a:p>
        </p:txBody>
      </p:sp>
      <p:pic>
        <p:nvPicPr>
          <p:cNvPr id="11312526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83472" y="485086"/>
            <a:ext cx="8644777" cy="3526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24291" name=""/>
          <p:cNvSpPr txBox="1"/>
          <p:nvPr/>
        </p:nvSpPr>
        <p:spPr bwMode="auto">
          <a:xfrm rot="0" flipH="0" flipV="0">
            <a:off x="213471" y="352776"/>
            <a:ext cx="12098498" cy="605482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上述数值结果显示：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 门是非平凡的，确实有 braid-like 结构；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- 但当前路径和参数并没有把逻辑门压到论文里那个“理想、时间无关、接近标准 braid 算符”的极限。</a:t>
            </a:r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主要原因是因为这个简化模型里面对于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,ϕ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  <m:sSub>
                        <m:sSubPr>
                          <m:ctrlPr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,V</m:t>
                          </m:r>
                        </m:e>
                        <m:sub>
                          <m:r>
                            <m:rPr/>
                            <a:rPr lang="zh-CN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zh-CN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(t)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这些参数的精度不够,进一步调参有望得到更精确的结果</a:t>
            </a:r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接下来是具体分析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braiding时MZM和ABS的行为: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我们代入8 vertex的模型:</a:t>
            </a:r>
            <a:endParaRPr sz="20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θ</m:t>
                      </m:r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)=</m:t>
                      </m:r>
                      <m:func>
                        <m:funcPr>
                          <m:ctrlPr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unc>
                        <m:funcPr>
                          <m:ctrlPr>
                            <a:rPr sz="20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δσ</m:t>
                          </m:r>
                        </m:e>
                        <m:sub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我们在代码里面用 网格给出时间点、每步用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eff</m:t>
                          </m:r>
                        </m:sub>
                      </m:sSub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θ</m:t>
                      </m:r>
                      <m:r>
                        <m:rPr/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计算短时传播子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U=exp(-i</m:t>
                      </m:r>
                      <m:nary>
                        <m:naryPr>
                          <m:chr m:val="∫"/>
                          <m:grow m:val="off"/>
                          <m:subHide m:val="on"/>
                          <m:supHide m:val="on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dt)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，累积得到总演化 </a:t>
            </a:r>
            <a:endParaRPr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U,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再计算重叠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overlaps[i]=</m:t>
                      </m:r>
                      <m:d>
                        <m:dPr>
                          <m:begChr m:val="⟨"/>
                          <m:endChr m:val="|"/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ψ(0)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ψ(</m:t>
                      </m:r>
                      <m:sSub>
                        <m:sSubPr>
                          <m:ctrl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)⟩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, 最终取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|overlaps[-1]|</m:t>
                      </m:r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作为 final-overlap.</a:t>
            </a:r>
            <a:endParaRPr sz="20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106371" name=""/>
          <p:cNvSpPr txBox="1"/>
          <p:nvPr/>
        </p:nvSpPr>
        <p:spPr bwMode="auto">
          <a:xfrm rot="0" flipH="0" flipV="0">
            <a:off x="442777" y="546805"/>
            <a:ext cx="11247493" cy="5896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MZM-like 分支对时间更稳，ABS-like 分支随 braiding time 更明显变化</a:t>
            </a:r>
            <a:r>
              <a:rPr lang="en-US"/>
              <a:t>(一个拐点)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这里的:</a:t>
            </a:r>
            <a:endParaRPr lang="en-US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baseline = 脚本里的参考/默认参数下得到的参考曲线；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best = 自动搜索（run_auto_scan）选出的“最 paper-like”参数下的曲线（最大化对应的 trend_score）；</a:t>
            </a:r>
            <a:endParaRPr lang="en-US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18142054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63699" y="892703"/>
            <a:ext cx="8304076" cy="4078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003539" name=""/>
          <p:cNvSpPr txBox="1"/>
          <p:nvPr/>
        </p:nvSpPr>
        <p:spPr bwMode="auto">
          <a:xfrm rot="0" flipH="0" flipV="0">
            <a:off x="442777" y="546805"/>
            <a:ext cx="11240653" cy="675268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MZM-like 分支对时间更稳，ABS-like 分支随 braiding time 更明显变化</a:t>
            </a:r>
            <a:r>
              <a:rPr lang="en-US"/>
              <a:t>(一个拐点)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“ABS 的拐点”：不是一个真正的相变点，也不是能隙突然闭合的点，而是一个crossover（交叉过渡）。在这个简化模型里，拐点意味着两件事发生了切换：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1. 低能态不再只是“跟着路径平滑地走”，而开始明显感受到有限能量分支的弯折。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2. 绝热跟随与动力学相积累之间的平衡被打破，导致谱线斜率改变、曲线出现折弯。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换句话说，这个拐点说明 ABS 不是像 MZM 那样被拓扑钉住的零能模；它会随着控制路径和时间尺度改变自己的瞬时能量，所以它对 braiding time 更敏感。</a:t>
            </a:r>
            <a:endParaRPr lang="en-US"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788720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63699" y="892703"/>
            <a:ext cx="8304076" cy="4078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356795" name=""/>
          <p:cNvSpPr txBox="1"/>
          <p:nvPr/>
        </p:nvSpPr>
        <p:spPr bwMode="auto">
          <a:xfrm rot="0" flipH="0" flipV="0">
            <a:off x="266388" y="423333"/>
            <a:ext cx="1178277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932015137" name=""/>
          <p:cNvSpPr txBox="1"/>
          <p:nvPr/>
        </p:nvSpPr>
        <p:spPr bwMode="auto">
          <a:xfrm rot="0" flipH="0" flipV="0">
            <a:off x="195832" y="423333"/>
            <a:ext cx="11556354" cy="12748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论文里这一部分有两个层次：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1. 在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V_x=[0.59+0.02\cos(t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/T)]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∆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时，重叠的幅度已经基本不依赖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T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，但相位仍会随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T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振荡。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2. 在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V_x=[0.57+0.02\cos(t\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/T)]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∆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且只作用于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[4T,6T]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时，连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1,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-</m:t>
                      </m:r>
                      <m:sSub>
                        <m:sSubPr>
                          <m:ctrl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也被消掉，于是幅度和相位都对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T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不敏感，接近真正的 MZM 式稳定非阿贝尔交换。</a:t>
            </a:r>
            <a:endParaRPr/>
          </a:p>
        </p:txBody>
      </p:sp>
      <p:pic>
        <p:nvPicPr>
          <p:cNvPr id="14858802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855787" y="2301698"/>
            <a:ext cx="9046851" cy="3208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654577" name=""/>
          <p:cNvSpPr txBox="1"/>
          <p:nvPr/>
        </p:nvSpPr>
        <p:spPr bwMode="auto">
          <a:xfrm rot="0" flipH="0" flipV="0">
            <a:off x="266387" y="423333"/>
            <a:ext cx="11782776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2194317" name=""/>
          <p:cNvSpPr txBox="1"/>
          <p:nvPr/>
        </p:nvSpPr>
        <p:spPr bwMode="auto">
          <a:xfrm rot="0" flipH="0" flipV="0">
            <a:off x="195831" y="123472"/>
            <a:ext cx="11874572" cy="605457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在我们的模型里面</a:t>
            </a:r>
            <a:r>
              <a:rPr lang="en-US" sz="2000"/>
              <a:t>:</a:t>
            </a:r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(a)全周期调制产生节段依赖的震荡，瞬时能级在正负之间切换，积分后动力学相有机会互相抵消；</a:t>
            </a:r>
            <a:endParaRPr lang="en-US"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(b)窗口化调制在后段施加相移，能更有针对性地抵消某些段的相位累积，从而在若干 T 区间显著降低最终相位敏感性；</a:t>
            </a: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两张图片对应的是论文里两种 Vx 调制的实现，但在代码里是通过不同的 base 值 + 全周期/窗口化的调制策略实现的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</p:txBody>
      </p:sp>
      <p:pic>
        <p:nvPicPr>
          <p:cNvPr id="174044584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558" y="1415449"/>
            <a:ext cx="12191999" cy="3074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540628" name=""/>
          <p:cNvSpPr txBox="1"/>
          <p:nvPr/>
        </p:nvSpPr>
        <p:spPr bwMode="auto">
          <a:xfrm rot="0" flipH="0" flipV="0">
            <a:off x="266388" y="423333"/>
            <a:ext cx="1178277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406937070" name=""/>
          <p:cNvSpPr txBox="1"/>
          <p:nvPr/>
        </p:nvSpPr>
        <p:spPr bwMode="auto">
          <a:xfrm rot="0" flipH="0" flipV="0">
            <a:off x="218689" y="789451"/>
            <a:ext cx="11878892" cy="338159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Case (a) — 全周期调制：Vx = 0.59 + 0.02·cos(π t/T)。</a:t>
            </a: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Case (b) — 窗口化调制：Vx = 0.57 + 0.02·cos(π t/T)，但只在最后阶段 t ∈ [4T,6T] 施加（windowed）。</a:t>
            </a:r>
            <a:endParaRPr lang="en-US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Case (a) 主要试图让 θ2 的动力学相在整个过程被抵消；Case (b) 则是针对性地在最后段施加相移，以抵消剩下的 θ1,−θ3 残余相，两者在 base 值（0.59 vs 0.57）和施加窗口上不同，效果也不同（见图中相位/幅值对比）。</a:t>
            </a:r>
            <a:endParaRPr lang="en-US"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</p:txBody>
      </p:sp>
      <p:pic>
        <p:nvPicPr>
          <p:cNvPr id="11854173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2915" y="3589394"/>
            <a:ext cx="11405304" cy="2876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05144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57777" y="607434"/>
            <a:ext cx="5842362" cy="3626148"/>
          </a:xfrm>
          <a:prstGeom prst="rect">
            <a:avLst/>
          </a:prstGeom>
        </p:spPr>
      </p:pic>
      <p:sp>
        <p:nvSpPr>
          <p:cNvPr id="136360857" name=""/>
          <p:cNvSpPr txBox="1"/>
          <p:nvPr/>
        </p:nvSpPr>
        <p:spPr bwMode="auto">
          <a:xfrm rot="0" flipH="0" flipV="0">
            <a:off x="178194" y="388055"/>
            <a:ext cx="10805445" cy="568293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这里我们的模型显示了</a:t>
            </a:r>
            <a:endParaRPr/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低振幅 vs 高振幅 的 final-overlap 随 T 比较</a:t>
            </a:r>
            <a:endParaRPr lang="zh-CN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1.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在大 T（更绝热）处两曲线靠拢说明“振幅不敏感”</a:t>
            </a:r>
            <a:endParaRPr lang="zh-CN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即调制机制在绝热极限下鲁棒。</a:t>
            </a: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不同振幅曲线彼此靠近，</a:t>
            </a:r>
            <a:endParaRPr/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说明对振幅扰动的响应减弱。</a:t>
            </a:r>
            <a:endParaRPr/>
          </a:p>
          <a:p>
            <a:pPr>
              <a:defRPr/>
            </a:pP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2. 曲线尾部趋于平坦，体现绝热极限下的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“参数不敏感性”。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论文原文给出的具体比较是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=[0.59+0.01cos(t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/T)]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∆</m:t>
                      </m:r>
                    </m:oMath>
                  </m:oMathPara>
                </a14:m>
              </mc:Choice>
              <mc:Fallback/>
            </mc:AlternateContent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和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zh-CN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zh-CN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=[0.59+0.03\cos(t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/T)]</m:t>
                      </m:r>
                      <m:r>
                        <m:rPr>
                          <m:sty m:val="p"/>
                        </m:rPr>
                        <a:rPr lang="zh-CN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</m:oMath>
                  </m:oMathPara>
                </a14:m>
              </mc:Choice>
              <mc:Fallback/>
            </mc:AlternateContent>
            <a:r>
              <a:rPr lang="en-US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  </a:t>
            </a:r>
            <a:endParaRPr lang="en-US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它要说明的是：只要 braiding 足够慢，振幅从 0.01 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变到 0.03，最终交换统计几乎不变。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这意味着去掉动态相的机制不是一个需要精细调参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ea typeface="等线"/>
              <a:cs typeface="等线"/>
            </a:endParaRPr>
          </a:p>
          <a:p>
            <a:pPr>
              <a:defRPr/>
            </a:pPr>
            <a:r>
              <a:rPr lang="zh-CN" sz="1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才成立的，而是一个在绝热条件下相当鲁棒的机制。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509399" name=""/>
          <p:cNvSpPr txBox="1"/>
          <p:nvPr/>
        </p:nvSpPr>
        <p:spPr bwMode="auto">
          <a:xfrm rot="0" flipH="0" flipV="0">
            <a:off x="389860" y="511527"/>
            <a:ext cx="10992627" cy="382539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CN" sz="22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总结</a:t>
            </a:r>
            <a:endParaRPr lang="zh-CN" sz="1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zh-CN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这次针对论文 Fig.3/Fig.4/Fig.5 的复现，总结为:已经在简化模型中复现了论文的趋势和机理，但还没有做到完整 BdG 模型下的定量一致。</a:t>
            </a:r>
            <a:endParaRPr lang="zh-CN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zh-CN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更具体地说：</a:t>
            </a:r>
            <a:endParaRPr lang="zh-CN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endParaRPr lang="zh-CN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1. Fig.3-like 主要复现了“ABS 随 braiding time 更敏感、MZM 更稳定”的对比趋势；默认版已经能看出差异，自动扫描版把差异放得更明显。</a:t>
            </a:r>
            <a:endParaRPr lang="zh-CN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2. Fig.4-like 复现了“通过正弦调制抵消动力学相，使 braiding 结果更接近时间无关”的趋势。</a:t>
            </a:r>
            <a:endParaRPr lang="zh-CN" sz="20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20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3. Fig.5-like 复现了“在绝热区，不同调制振幅下的结果趋于一致”的鲁棒性趋势。</a:t>
            </a:r>
            <a:endParaRPr sz="20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250361" name="图片 5"/>
          <p:cNvPicPr>
            <a:picLocks noChangeAspect="1"/>
          </p:cNvPicPr>
          <p:nvPr/>
        </p:nvPicPr>
        <p:blipFill rotWithShape="1">
          <a:blip r:embed="rId3"/>
          <a:srcRect l="0" t="44074" r="0" b="0"/>
          <a:stretch/>
        </p:blipFill>
        <p:spPr bwMode="auto">
          <a:xfrm flipH="1">
            <a:off x="0" y="2529838"/>
            <a:ext cx="5516879" cy="1717039"/>
          </a:xfrm>
          <a:custGeom>
            <a:avLst/>
            <a:gdLst>
              <a:gd name="connsiteX0" fmla="*/ 0 w 10274591"/>
              <a:gd name="connsiteY0" fmla="*/ 0 h 3835400"/>
              <a:gd name="connsiteX1" fmla="*/ 10274591 w 10274591"/>
              <a:gd name="connsiteY1" fmla="*/ 0 h 3835400"/>
              <a:gd name="connsiteX2" fmla="*/ 10274591 w 10274591"/>
              <a:gd name="connsiteY2" fmla="*/ 3835400 h 3835400"/>
              <a:gd name="connsiteX3" fmla="*/ 0 w 10274591"/>
              <a:gd name="connsiteY3" fmla="*/ 3835400 h 383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74591" h="3835400" fill="norm" stroke="1" extrusionOk="0">
                <a:moveTo>
                  <a:pt x="0" y="0"/>
                </a:moveTo>
                <a:lnTo>
                  <a:pt x="10274591" y="0"/>
                </a:lnTo>
                <a:lnTo>
                  <a:pt x="10274591" y="3835400"/>
                </a:lnTo>
                <a:lnTo>
                  <a:pt x="0" y="3835400"/>
                </a:lnTo>
                <a:close/>
              </a:path>
            </a:pathLst>
          </a:custGeom>
        </p:spPr>
      </p:pic>
      <p:grpSp>
        <p:nvGrpSpPr>
          <p:cNvPr id="591068058" name="组合 15"/>
          <p:cNvGrpSpPr/>
          <p:nvPr/>
        </p:nvGrpSpPr>
        <p:grpSpPr bwMode="auto">
          <a:xfrm>
            <a:off x="0" y="2529838"/>
            <a:ext cx="12192000" cy="1757679"/>
            <a:chOff x="0" y="2529838"/>
            <a:chExt cx="12192000" cy="1757679"/>
          </a:xfrm>
          <a:blipFill rotWithShape="1">
            <a:blip r:embed="rId4">
              <a:alphaModFix amt="86000"/>
            </a:blip>
            <a:stretch>
              <a:fillRect l="0" t="0" r="-33000" b="0"/>
            </a:stretch>
          </a:blipFill>
        </p:grpSpPr>
        <p:sp>
          <p:nvSpPr>
            <p:cNvPr id="1174096033" name="矩形 1"/>
            <p:cNvSpPr/>
            <p:nvPr/>
          </p:nvSpPr>
          <p:spPr bwMode="auto">
            <a:xfrm>
              <a:off x="0" y="2529838"/>
              <a:ext cx="5516879" cy="1717039"/>
            </a:xfrm>
            <a:prstGeom prst="rect">
              <a:avLst/>
            </a:prstGeom>
            <a:gradFill>
              <a:gsLst>
                <a:gs pos="0">
                  <a:srgbClr val="0070C0">
                    <a:alpha val="54000"/>
                  </a:srgbClr>
                </a:gs>
                <a:gs pos="100000">
                  <a:srgbClr val="002060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defRPr/>
              </a:pPr>
              <a:endParaRPr lang="zh-CN"/>
            </a:p>
          </p:txBody>
        </p:sp>
        <p:sp>
          <p:nvSpPr>
            <p:cNvPr id="1517643422" name="矩形 12"/>
            <p:cNvSpPr/>
            <p:nvPr/>
          </p:nvSpPr>
          <p:spPr bwMode="auto">
            <a:xfrm>
              <a:off x="11348719" y="2529838"/>
              <a:ext cx="843279" cy="1757679"/>
            </a:xfrm>
            <a:prstGeom prst="rect">
              <a:avLst/>
            </a:prstGeom>
            <a:gradFill>
              <a:gsLst>
                <a:gs pos="0">
                  <a:srgbClr val="0070C0"/>
                </a:gs>
                <a:gs pos="100000">
                  <a:srgbClr val="002060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/>
            </a:p>
          </p:txBody>
        </p:sp>
      </p:grpSp>
      <p:sp>
        <p:nvSpPr>
          <p:cNvPr id="1154775891" name="矩形 7"/>
          <p:cNvSpPr/>
          <p:nvPr/>
        </p:nvSpPr>
        <p:spPr bwMode="auto">
          <a:xfrm>
            <a:off x="1630064" y="3046549"/>
            <a:ext cx="3131726" cy="11890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200">
                <a:solidFill>
                  <a:schemeClr val="bg1"/>
                </a:solidFill>
                <a:latin typeface="Arial Black"/>
                <a:ea typeface="微软雅黑"/>
                <a:cs typeface="Times New Roman"/>
              </a:rPr>
              <a:t>Part 03</a:t>
            </a:r>
            <a:endParaRPr lang="zh-CN" sz="7200" b="1">
              <a:solidFill>
                <a:schemeClr val="bg1"/>
              </a:solidFill>
              <a:latin typeface="Arial Black"/>
              <a:ea typeface="微软雅黑"/>
              <a:cs typeface="Times New Roman"/>
            </a:endParaRPr>
          </a:p>
        </p:txBody>
      </p:sp>
      <p:sp>
        <p:nvSpPr>
          <p:cNvPr id="1805675697" name="矩形 8"/>
          <p:cNvSpPr/>
          <p:nvPr/>
        </p:nvSpPr>
        <p:spPr bwMode="auto">
          <a:xfrm flipH="0" flipV="0">
            <a:off x="5516875" y="2912368"/>
            <a:ext cx="5778466" cy="6506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cap="none" spc="0">
                <a:ln>
                  <a:noFill/>
                </a:ln>
                <a:solidFill>
                  <a:srgbClr val="0070C0"/>
                </a:solidFill>
                <a:latin typeface="微软雅黑"/>
                <a:ea typeface="微软雅黑"/>
                <a:cs typeface="Times New Roman"/>
              </a:rPr>
              <a:t>量化非阿贝尔性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50</Slides>
  <Notes>50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/>
  <cp:revision>52</cp:revision>
  <dcterms:created xsi:type="dcterms:W3CDTF">2022-05-23T10:27:50Z</dcterms:created>
  <dcterms:modified xsi:type="dcterms:W3CDTF">2026-05-19T12:38:58Z</dcterms:modified>
</cp:coreProperties>
</file>