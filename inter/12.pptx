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6" d="100"/>
          <a:sy n="86" d="100"/>
        </p:scale>
        <p:origin x="562" y="6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840108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79220945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382FE30-D1CB-4640-A759-810F00360910}" type="datetimeFigureOut">
              <a:rPr lang="zh-CN"/>
              <a:t>2022/6/24</a:t>
            </a:fld>
            <a:endParaRPr lang="zh-CN"/>
          </a:p>
        </p:txBody>
      </p:sp>
      <p:sp>
        <p:nvSpPr>
          <p:cNvPr id="1090702434" name="幻灯片图像占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10511253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412276030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734220826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024435C-6EC0-481B-A838-74E1A0E375B9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96679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68407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39023875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F8842C-CD7E-4B02-818D-3B3BCD1E698F}" type="slidenum">
              <a:rPr lang="zh-CN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+mn-cs"/>
              </a:rPr>
              <a:t>1</a:t>
            </a:fld>
            <a:endParaRPr lang="zh-CN" sz="1200" b="0" i="0" u="none" strike="noStrike" cap="none" spc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611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88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23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1E610-F5E2-F82A-59DB-05AFE1FD82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E99C9-F95D-2FA2-398D-124382FF44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483B8C-79BA-CE89-4BE2-B123537EEC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5FFE59-1184-1127-3D0F-037005E5C5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914FBC-69AB-C5F5-AC8D-34E72B7B39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833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474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23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F8FC14-8E2B-4032-C6CC-61CEA7B3BC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094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290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5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58A80-D97D-4BFD-57CB-A30C41431C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310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675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3684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B7C5A-DAE6-B439-6D22-FE78348A3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063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316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F21F43-01C1-ACC8-4FB2-AD21144C79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205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799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019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8C42F4-3C95-44F3-45E8-D0F2D509F8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723193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8152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11190085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F8842C-CD7E-4B02-818D-3B3BCD1E698F}" type="slidenum">
              <a:rPr lang="zh-CN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+mn-cs"/>
              </a:rPr>
              <a:t>10</a:t>
            </a:fld>
            <a:endParaRPr lang="zh-CN" sz="1200" b="0" i="0" u="none" strike="noStrike" cap="none" spc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198071" name="矩形 1"/>
          <p:cNvSpPr/>
          <p:nvPr userDrawn="1"/>
        </p:nvSpPr>
        <p:spPr bwMode="auto">
          <a:xfrm>
            <a:off x="3835400" y="0"/>
            <a:ext cx="4521200" cy="182880"/>
          </a:xfrm>
          <a:prstGeom prst="rect">
            <a:avLst/>
          </a:prstGeom>
          <a:solidFill>
            <a:srgbClr val="2B77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1_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437485" name="图片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5080000"/>
          </a:xfrm>
          <a:prstGeom prst="rect">
            <a:avLst/>
          </a:prstGeom>
        </p:spPr>
      </p:pic>
      <p:sp>
        <p:nvSpPr>
          <p:cNvPr id="1326340518" name="矩形 7"/>
          <p:cNvSpPr/>
          <p:nvPr userDrawn="1"/>
        </p:nvSpPr>
        <p:spPr bwMode="auto">
          <a:xfrm>
            <a:off x="0" y="1"/>
            <a:ext cx="12192000" cy="5079999"/>
          </a:xfrm>
          <a:prstGeom prst="rect">
            <a:avLst/>
          </a:prstGeom>
          <a:blipFill rotWithShape="1">
            <a:blip r:embed="rId3">
              <a:alphaModFix amt="92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en-US" b="1">
              <a:solidFill>
                <a:srgbClr val="0070C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542619" name="椭圆 8"/>
          <p:cNvSpPr/>
          <p:nvPr/>
        </p:nvSpPr>
        <p:spPr bwMode="auto">
          <a:xfrm>
            <a:off x="5430000" y="4370791"/>
            <a:ext cx="1332000" cy="13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49539272" name="矩形 18"/>
          <p:cNvSpPr/>
          <p:nvPr/>
        </p:nvSpPr>
        <p:spPr bwMode="auto">
          <a:xfrm>
            <a:off x="679047" y="2066074"/>
            <a:ext cx="10916342" cy="1209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800" b="1" spc="225">
                <a:solidFill>
                  <a:prstClr val="white"/>
                </a:solidFill>
                <a:latin typeface="微软雅黑"/>
                <a:ea typeface="微软雅黑"/>
              </a:rPr>
              <a:t>复试面试答辩</a:t>
            </a:r>
            <a:endParaRPr lang="zh-CN" sz="2800" b="1" i="0" u="none" strike="noStrike" cap="none" spc="225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Arial"/>
            </a:endParaRPr>
          </a:p>
        </p:txBody>
      </p:sp>
      <p:sp>
        <p:nvSpPr>
          <p:cNvPr id="1464258962" name="矩形 25"/>
          <p:cNvSpPr/>
          <p:nvPr/>
        </p:nvSpPr>
        <p:spPr bwMode="auto">
          <a:xfrm>
            <a:off x="4522977" y="5834934"/>
            <a:ext cx="3151804" cy="379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800" b="1" i="0" u="none" strike="noStrike" cap="none" spc="0">
                <a:ln>
                  <a:noFill/>
                </a:ln>
                <a:solidFill>
                  <a:srgbClr val="233A84"/>
                </a:solidFill>
                <a:latin typeface="Arial"/>
                <a:ea typeface="微软雅黑"/>
                <a:cs typeface="Arial"/>
              </a:rPr>
              <a:t>西安交通大学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233A84"/>
                </a:solidFill>
                <a:latin typeface="Arial"/>
                <a:ea typeface="微软雅黑"/>
                <a:cs typeface="Arial"/>
              </a:rPr>
              <a:t>   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233A84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sz="1800" b="1" i="0" u="none" strike="noStrike" cap="none" spc="0">
                <a:ln>
                  <a:noFill/>
                </a:ln>
                <a:solidFill>
                  <a:srgbClr val="233A84"/>
                </a:solidFill>
                <a:latin typeface="Arial"/>
                <a:ea typeface="微软雅黑"/>
                <a:cs typeface="Arial"/>
              </a:rPr>
              <a:t> 孙源隆</a:t>
            </a:r>
            <a:endParaRPr lang="zh-CN" sz="1800" b="1" i="0" u="none" strike="noStrike" cap="none" spc="0">
              <a:ln>
                <a:noFill/>
              </a:ln>
              <a:solidFill>
                <a:srgbClr val="233A84"/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949405414" name="椭圆 4"/>
          <p:cNvSpPr/>
          <p:nvPr/>
        </p:nvSpPr>
        <p:spPr bwMode="auto">
          <a:xfrm>
            <a:off x="5538000" y="4484265"/>
            <a:ext cx="1116000" cy="1116000"/>
          </a:xfrm>
          <a:prstGeom prst="ellipse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pic>
        <p:nvPicPr>
          <p:cNvPr id="1805679503" name="图片 6"/>
          <p:cNvPicPr>
            <a:picLocks noChangeAspect="1"/>
          </p:cNvPicPr>
          <p:nvPr/>
        </p:nvPicPr>
        <p:blipFill rotWithShape="1">
          <a:blip r:embed="rId3"/>
          <a:srcRect l="0" t="0" r="72729" b="0"/>
          <a:stretch/>
        </p:blipFill>
        <p:spPr bwMode="auto">
          <a:xfrm>
            <a:off x="5689646" y="4634082"/>
            <a:ext cx="812708" cy="798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899161" name="矩形 17"/>
          <p:cNvSpPr/>
          <p:nvPr/>
        </p:nvSpPr>
        <p:spPr bwMode="auto">
          <a:xfrm>
            <a:off x="0" y="0"/>
            <a:ext cx="4793941" cy="6858000"/>
          </a:xfrm>
          <a:prstGeom prst="rect">
            <a:avLst/>
          </a:prstGeom>
          <a:blipFill rotWithShape="1">
            <a:blip r:embed="rId3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84239542" name="矩形 22"/>
          <p:cNvSpPr/>
          <p:nvPr/>
        </p:nvSpPr>
        <p:spPr bwMode="auto">
          <a:xfrm>
            <a:off x="0" y="0"/>
            <a:ext cx="4793941" cy="6857998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 l="-52412" t="0" r="-142586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0070C0"/>
              </a:solidFill>
              <a:latin typeface="微软雅黑"/>
              <a:ea typeface="微软雅黑"/>
              <a:cs typeface="Arial"/>
            </a:endParaRPr>
          </a:p>
        </p:txBody>
      </p:sp>
      <p:grpSp>
        <p:nvGrpSpPr>
          <p:cNvPr id="1251808591" name="组合 2"/>
          <p:cNvGrpSpPr/>
          <p:nvPr/>
        </p:nvGrpSpPr>
        <p:grpSpPr bwMode="auto">
          <a:xfrm>
            <a:off x="488304" y="1569097"/>
            <a:ext cx="3455807" cy="3408167"/>
            <a:chOff x="-9049" y="2167638"/>
            <a:chExt cx="3455807" cy="3408167"/>
          </a:xfrm>
          <a:solidFill>
            <a:schemeClr val="bg1"/>
          </a:solidFill>
        </p:grpSpPr>
        <p:grpSp>
          <p:nvGrpSpPr>
            <p:cNvPr id="2059005343" name="组合 3"/>
            <p:cNvGrpSpPr/>
            <p:nvPr/>
          </p:nvGrpSpPr>
          <p:grpSpPr bwMode="auto">
            <a:xfrm>
              <a:off x="734485" y="2167638"/>
              <a:ext cx="2487740" cy="2288124"/>
              <a:chOff x="8374817" y="3976830"/>
              <a:chExt cx="719114" cy="661412"/>
            </a:xfrm>
            <a:grpFill/>
          </p:grpSpPr>
          <p:sp>
            <p:nvSpPr>
              <p:cNvPr id="1765190682" name="Freeform 44"/>
              <p:cNvSpPr/>
              <p:nvPr/>
            </p:nvSpPr>
            <p:spPr bwMode="auto">
              <a:xfrm>
                <a:off x="9018919" y="4072039"/>
                <a:ext cx="75012" cy="68521"/>
              </a:xfrm>
              <a:custGeom>
                <a:avLst/>
                <a:gdLst>
                  <a:gd name="T0" fmla="*/ 28 w 44"/>
                  <a:gd name="T1" fmla="*/ 11 h 40"/>
                  <a:gd name="T2" fmla="*/ 0 w 44"/>
                  <a:gd name="T3" fmla="*/ 18 h 40"/>
                  <a:gd name="T4" fmla="*/ 31 w 44"/>
                  <a:gd name="T5" fmla="*/ 40 h 40"/>
                  <a:gd name="T6" fmla="*/ 28 w 44"/>
                  <a:gd name="T7" fmla="*/ 1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0" fill="norm" stroke="1" extrusionOk="0">
                    <a:moveTo>
                      <a:pt x="28" y="11"/>
                    </a:moveTo>
                    <a:cubicBezTo>
                      <a:pt x="13" y="0"/>
                      <a:pt x="0" y="18"/>
                      <a:pt x="0" y="18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44" y="22"/>
                      <a:pt x="28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474898291" name="Freeform 45"/>
              <p:cNvSpPr/>
              <p:nvPr/>
            </p:nvSpPr>
            <p:spPr bwMode="auto">
              <a:xfrm>
                <a:off x="8831387" y="4116758"/>
                <a:ext cx="230087" cy="284184"/>
              </a:xfrm>
              <a:custGeom>
                <a:avLst/>
                <a:gdLst>
                  <a:gd name="T0" fmla="*/ 187 w 319"/>
                  <a:gd name="T1" fmla="*/ 85 h 394"/>
                  <a:gd name="T2" fmla="*/ 156 w 319"/>
                  <a:gd name="T3" fmla="*/ 125 h 394"/>
                  <a:gd name="T4" fmla="*/ 104 w 319"/>
                  <a:gd name="T5" fmla="*/ 198 h 394"/>
                  <a:gd name="T6" fmla="*/ 0 w 319"/>
                  <a:gd name="T7" fmla="*/ 342 h 394"/>
                  <a:gd name="T8" fmla="*/ 74 w 319"/>
                  <a:gd name="T9" fmla="*/ 394 h 394"/>
                  <a:gd name="T10" fmla="*/ 104 w 319"/>
                  <a:gd name="T11" fmla="*/ 352 h 394"/>
                  <a:gd name="T12" fmla="*/ 130 w 319"/>
                  <a:gd name="T13" fmla="*/ 314 h 394"/>
                  <a:gd name="T14" fmla="*/ 156 w 319"/>
                  <a:gd name="T15" fmla="*/ 276 h 394"/>
                  <a:gd name="T16" fmla="*/ 319 w 319"/>
                  <a:gd name="T17" fmla="*/ 52 h 394"/>
                  <a:gd name="T18" fmla="*/ 248 w 319"/>
                  <a:gd name="T19" fmla="*/ 0 h 394"/>
                  <a:gd name="T20" fmla="*/ 187 w 319"/>
                  <a:gd name="T21" fmla="*/ 85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9" h="394" fill="norm" stroke="1" extrusionOk="0">
                    <a:moveTo>
                      <a:pt x="187" y="85"/>
                    </a:moveTo>
                    <a:lnTo>
                      <a:pt x="156" y="125"/>
                    </a:lnTo>
                    <a:lnTo>
                      <a:pt x="104" y="198"/>
                    </a:lnTo>
                    <a:lnTo>
                      <a:pt x="0" y="342"/>
                    </a:lnTo>
                    <a:lnTo>
                      <a:pt x="74" y="394"/>
                    </a:lnTo>
                    <a:lnTo>
                      <a:pt x="104" y="352"/>
                    </a:lnTo>
                    <a:lnTo>
                      <a:pt x="130" y="314"/>
                    </a:lnTo>
                    <a:lnTo>
                      <a:pt x="156" y="276"/>
                    </a:lnTo>
                    <a:lnTo>
                      <a:pt x="319" y="52"/>
                    </a:lnTo>
                    <a:lnTo>
                      <a:pt x="248" y="0"/>
                    </a:lnTo>
                    <a:lnTo>
                      <a:pt x="187" y="8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139997014" name="Freeform 46"/>
              <p:cNvSpPr/>
              <p:nvPr/>
            </p:nvSpPr>
            <p:spPr bwMode="auto">
              <a:xfrm>
                <a:off x="8374817" y="3976830"/>
                <a:ext cx="569089" cy="661412"/>
              </a:xfrm>
              <a:custGeom>
                <a:avLst/>
                <a:gdLst>
                  <a:gd name="T0" fmla="*/ 312 w 334"/>
                  <a:gd name="T1" fmla="*/ 348 h 388"/>
                  <a:gd name="T2" fmla="*/ 293 w 334"/>
                  <a:gd name="T3" fmla="*/ 366 h 388"/>
                  <a:gd name="T4" fmla="*/ 40 w 334"/>
                  <a:gd name="T5" fmla="*/ 366 h 388"/>
                  <a:gd name="T6" fmla="*/ 22 w 334"/>
                  <a:gd name="T7" fmla="*/ 348 h 388"/>
                  <a:gd name="T8" fmla="*/ 22 w 334"/>
                  <a:gd name="T9" fmla="*/ 41 h 388"/>
                  <a:gd name="T10" fmla="*/ 40 w 334"/>
                  <a:gd name="T11" fmla="*/ 23 h 388"/>
                  <a:gd name="T12" fmla="*/ 293 w 334"/>
                  <a:gd name="T13" fmla="*/ 23 h 388"/>
                  <a:gd name="T14" fmla="*/ 312 w 334"/>
                  <a:gd name="T15" fmla="*/ 41 h 388"/>
                  <a:gd name="T16" fmla="*/ 312 w 334"/>
                  <a:gd name="T17" fmla="*/ 140 h 388"/>
                  <a:gd name="T18" fmla="*/ 334 w 334"/>
                  <a:gd name="T19" fmla="*/ 109 h 388"/>
                  <a:gd name="T20" fmla="*/ 334 w 334"/>
                  <a:gd name="T21" fmla="*/ 21 h 388"/>
                  <a:gd name="T22" fmla="*/ 313 w 334"/>
                  <a:gd name="T23" fmla="*/ 0 h 388"/>
                  <a:gd name="T24" fmla="*/ 21 w 334"/>
                  <a:gd name="T25" fmla="*/ 0 h 388"/>
                  <a:gd name="T26" fmla="*/ 0 w 334"/>
                  <a:gd name="T27" fmla="*/ 21 h 388"/>
                  <a:gd name="T28" fmla="*/ 0 w 334"/>
                  <a:gd name="T29" fmla="*/ 368 h 388"/>
                  <a:gd name="T30" fmla="*/ 21 w 334"/>
                  <a:gd name="T31" fmla="*/ 388 h 388"/>
                  <a:gd name="T32" fmla="*/ 313 w 334"/>
                  <a:gd name="T33" fmla="*/ 388 h 388"/>
                  <a:gd name="T34" fmla="*/ 334 w 334"/>
                  <a:gd name="T35" fmla="*/ 368 h 388"/>
                  <a:gd name="T36" fmla="*/ 334 w 334"/>
                  <a:gd name="T37" fmla="*/ 223 h 388"/>
                  <a:gd name="T38" fmla="*/ 312 w 334"/>
                  <a:gd name="T39" fmla="*/ 254 h 388"/>
                  <a:gd name="T40" fmla="*/ 312 w 334"/>
                  <a:gd name="T41" fmla="*/ 348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4" h="388" fill="norm" stroke="1" extrusionOk="0">
                    <a:moveTo>
                      <a:pt x="312" y="348"/>
                    </a:moveTo>
                    <a:cubicBezTo>
                      <a:pt x="312" y="358"/>
                      <a:pt x="303" y="366"/>
                      <a:pt x="293" y="366"/>
                    </a:cubicBezTo>
                    <a:cubicBezTo>
                      <a:pt x="40" y="366"/>
                      <a:pt x="40" y="366"/>
                      <a:pt x="40" y="366"/>
                    </a:cubicBezTo>
                    <a:cubicBezTo>
                      <a:pt x="30" y="366"/>
                      <a:pt x="22" y="358"/>
                      <a:pt x="22" y="348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2" y="31"/>
                      <a:pt x="30" y="23"/>
                      <a:pt x="40" y="23"/>
                    </a:cubicBezTo>
                    <a:cubicBezTo>
                      <a:pt x="293" y="23"/>
                      <a:pt x="293" y="23"/>
                      <a:pt x="293" y="23"/>
                    </a:cubicBezTo>
                    <a:cubicBezTo>
                      <a:pt x="303" y="23"/>
                      <a:pt x="312" y="31"/>
                      <a:pt x="312" y="41"/>
                    </a:cubicBezTo>
                    <a:cubicBezTo>
                      <a:pt x="312" y="140"/>
                      <a:pt x="312" y="140"/>
                      <a:pt x="312" y="140"/>
                    </a:cubicBezTo>
                    <a:cubicBezTo>
                      <a:pt x="334" y="109"/>
                      <a:pt x="334" y="109"/>
                      <a:pt x="334" y="109"/>
                    </a:cubicBezTo>
                    <a:cubicBezTo>
                      <a:pt x="334" y="21"/>
                      <a:pt x="334" y="21"/>
                      <a:pt x="334" y="21"/>
                    </a:cubicBezTo>
                    <a:cubicBezTo>
                      <a:pt x="334" y="10"/>
                      <a:pt x="325" y="0"/>
                      <a:pt x="313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9"/>
                      <a:pt x="9" y="388"/>
                      <a:pt x="21" y="388"/>
                    </a:cubicBezTo>
                    <a:cubicBezTo>
                      <a:pt x="313" y="388"/>
                      <a:pt x="313" y="388"/>
                      <a:pt x="313" y="388"/>
                    </a:cubicBezTo>
                    <a:cubicBezTo>
                      <a:pt x="325" y="388"/>
                      <a:pt x="334" y="379"/>
                      <a:pt x="334" y="368"/>
                    </a:cubicBezTo>
                    <a:cubicBezTo>
                      <a:pt x="334" y="223"/>
                      <a:pt x="334" y="223"/>
                      <a:pt x="334" y="223"/>
                    </a:cubicBezTo>
                    <a:cubicBezTo>
                      <a:pt x="312" y="254"/>
                      <a:pt x="312" y="254"/>
                      <a:pt x="312" y="254"/>
                    </a:cubicBezTo>
                    <a:lnTo>
                      <a:pt x="312" y="3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947735062" name="Freeform 47"/>
              <p:cNvSpPr/>
              <p:nvPr/>
            </p:nvSpPr>
            <p:spPr bwMode="auto">
              <a:xfrm>
                <a:off x="8806142" y="4377141"/>
                <a:ext cx="67799" cy="77176"/>
              </a:xfrm>
              <a:custGeom>
                <a:avLst/>
                <a:gdLst>
                  <a:gd name="T0" fmla="*/ 21 w 94"/>
                  <a:gd name="T1" fmla="*/ 0 h 107"/>
                  <a:gd name="T2" fmla="*/ 0 w 94"/>
                  <a:gd name="T3" fmla="*/ 107 h 107"/>
                  <a:gd name="T4" fmla="*/ 94 w 94"/>
                  <a:gd name="T5" fmla="*/ 52 h 107"/>
                  <a:gd name="T6" fmla="*/ 21 w 94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107" fill="norm" stroke="1" extrusionOk="0">
                    <a:moveTo>
                      <a:pt x="21" y="0"/>
                    </a:moveTo>
                    <a:lnTo>
                      <a:pt x="0" y="107"/>
                    </a:lnTo>
                    <a:lnTo>
                      <a:pt x="94" y="52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592862928" name="Rectangle 48"/>
              <p:cNvSpPr>
                <a:spLocks noChangeArrowheads="1"/>
              </p:cNvSpPr>
              <p:nvPr/>
            </p:nvSpPr>
            <p:spPr bwMode="auto">
              <a:xfrm>
                <a:off x="8459928" y="4504807"/>
                <a:ext cx="296222" cy="3462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889784687" name="Rectangle 49"/>
              <p:cNvSpPr>
                <a:spLocks noChangeArrowheads="1"/>
              </p:cNvSpPr>
              <p:nvPr/>
            </p:nvSpPr>
            <p:spPr bwMode="auto">
              <a:xfrm>
                <a:off x="8459928" y="4428351"/>
                <a:ext cx="296222" cy="3389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026832724" name="Rectangle 50"/>
              <p:cNvSpPr>
                <a:spLocks noChangeArrowheads="1"/>
              </p:cNvSpPr>
              <p:nvPr/>
            </p:nvSpPr>
            <p:spPr bwMode="auto">
              <a:xfrm>
                <a:off x="8459928" y="4354781"/>
                <a:ext cx="296222" cy="3245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765279951" name="Rectangle 51"/>
              <p:cNvSpPr>
                <a:spLocks noChangeArrowheads="1"/>
              </p:cNvSpPr>
              <p:nvPr/>
            </p:nvSpPr>
            <p:spPr bwMode="auto">
              <a:xfrm>
                <a:off x="8459928" y="4278325"/>
                <a:ext cx="296222" cy="3245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334242033" name="Rectangle 52"/>
              <p:cNvSpPr>
                <a:spLocks noChangeArrowheads="1"/>
              </p:cNvSpPr>
              <p:nvPr/>
            </p:nvSpPr>
            <p:spPr bwMode="auto">
              <a:xfrm>
                <a:off x="8459928" y="4201869"/>
                <a:ext cx="296222" cy="3389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  <p:sp>
            <p:nvSpPr>
              <p:cNvPr id="1240327121" name="Rectangle 53"/>
              <p:cNvSpPr>
                <a:spLocks noChangeArrowheads="1"/>
              </p:cNvSpPr>
              <p:nvPr/>
            </p:nvSpPr>
            <p:spPr bwMode="auto">
              <a:xfrm>
                <a:off x="8459928" y="4124693"/>
                <a:ext cx="296222" cy="3462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1" tIns="45730" rIns="91461" bIns="45730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Arial"/>
                </a:endParaRPr>
              </a:p>
            </p:txBody>
          </p:sp>
        </p:grpSp>
        <p:sp>
          <p:nvSpPr>
            <p:cNvPr id="318003998" name="TextBox 59"/>
            <p:cNvSpPr>
              <a:spLocks noChangeArrowheads="1"/>
            </p:cNvSpPr>
            <p:nvPr/>
          </p:nvSpPr>
          <p:spPr bwMode="auto">
            <a:xfrm flipH="1">
              <a:off x="-9049" y="4652476"/>
              <a:ext cx="3455807" cy="9233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  <a:ea typeface="宋体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5pPr>
              <a:lvl6pPr marL="2514599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9pPr>
            </a:lstStyle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5400" b="1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David"/>
                </a:rPr>
                <a:t>CONTENTS </a:t>
              </a:r>
              <a:endParaRPr/>
            </a:p>
          </p:txBody>
        </p:sp>
      </p:grpSp>
      <p:sp>
        <p:nvSpPr>
          <p:cNvPr id="788974935" name="Oval 4"/>
          <p:cNvSpPr/>
          <p:nvPr/>
        </p:nvSpPr>
        <p:spPr bwMode="auto">
          <a:xfrm>
            <a:off x="6759300" y="196941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Arial"/>
              </a:rPr>
              <a:t>1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Arial"/>
            </a:endParaRPr>
          </a:p>
        </p:txBody>
      </p:sp>
      <p:sp>
        <p:nvSpPr>
          <p:cNvPr id="424009493" name="Oval 4"/>
          <p:cNvSpPr/>
          <p:nvPr/>
        </p:nvSpPr>
        <p:spPr bwMode="auto">
          <a:xfrm>
            <a:off x="6759300" y="314799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Arial"/>
              </a:rPr>
              <a:t>2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Arial"/>
            </a:endParaRPr>
          </a:p>
        </p:txBody>
      </p:sp>
      <p:sp>
        <p:nvSpPr>
          <p:cNvPr id="520697814" name="Oval 4"/>
          <p:cNvSpPr/>
          <p:nvPr/>
        </p:nvSpPr>
        <p:spPr bwMode="auto">
          <a:xfrm>
            <a:off x="6759300" y="432657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Arial"/>
              </a:rPr>
              <a:t>3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Arial"/>
            </a:endParaRPr>
          </a:p>
        </p:txBody>
      </p:sp>
      <p:sp>
        <p:nvSpPr>
          <p:cNvPr id="1404146392" name="Text Box 17"/>
          <p:cNvSpPr txBox="1">
            <a:spLocks noChangeArrowheads="1"/>
          </p:cNvSpPr>
          <p:nvPr/>
        </p:nvSpPr>
        <p:spPr bwMode="auto">
          <a:xfrm>
            <a:off x="7672453" y="2051709"/>
            <a:ext cx="3158745" cy="5794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zh-CN" sz="3200"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学习经历</a:t>
            </a:r>
            <a:endParaRPr/>
          </a:p>
        </p:txBody>
      </p:sp>
      <p:sp>
        <p:nvSpPr>
          <p:cNvPr id="1368056794" name="Text Box 17"/>
          <p:cNvSpPr txBox="1">
            <a:spLocks noChangeArrowheads="1"/>
          </p:cNvSpPr>
          <p:nvPr/>
        </p:nvSpPr>
        <p:spPr bwMode="auto">
          <a:xfrm>
            <a:off x="7672453" y="3230288"/>
            <a:ext cx="2553770" cy="5885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32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学生工作</a:t>
            </a:r>
            <a:endParaRPr/>
          </a:p>
        </p:txBody>
      </p:sp>
      <p:sp>
        <p:nvSpPr>
          <p:cNvPr id="490302360" name="Text Box 17"/>
          <p:cNvSpPr txBox="1">
            <a:spLocks noChangeArrowheads="1"/>
          </p:cNvSpPr>
          <p:nvPr/>
        </p:nvSpPr>
        <p:spPr bwMode="auto">
          <a:xfrm>
            <a:off x="7672456" y="4408869"/>
            <a:ext cx="2562410" cy="5885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599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zh-CN" sz="32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科研经历</a:t>
            </a:r>
            <a:endParaRPr lang="zh-CN" sz="3200" b="1" i="0" u="none" strike="noStrike" cap="none" spc="0">
              <a:ln>
                <a:noFill/>
              </a:ln>
              <a:solidFill>
                <a:srgbClr val="0070C0"/>
              </a:solidFill>
              <a:latin typeface="微软雅黑"/>
              <a:ea typeface="微软雅黑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764046" name="矩形 29"/>
          <p:cNvSpPr/>
          <p:nvPr/>
        </p:nvSpPr>
        <p:spPr bwMode="auto">
          <a:xfrm>
            <a:off x="1893060" y="412751"/>
            <a:ext cx="8422438" cy="91475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学习经历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1457542788" name=""/>
          <p:cNvSpPr txBox="1"/>
          <p:nvPr/>
        </p:nvSpPr>
        <p:spPr bwMode="auto">
          <a:xfrm rot="0" flipH="0" flipV="0">
            <a:off x="486681" y="1264227"/>
            <a:ext cx="11554445" cy="4754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/>
              <a:t>教育经历:</a:t>
            </a:r>
            <a:endParaRPr lang="en-US" sz="2000"/>
          </a:p>
          <a:p>
            <a:pPr>
              <a:defRPr/>
            </a:pPr>
            <a:r>
              <a:rPr lang="en-US" sz="2000"/>
              <a:t>2021-2023: 西安交通大学少年班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2023-至今： 西安交通大学物理实验班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400" b="0"/>
              <a:t>大学期间奖励情况:</a:t>
            </a:r>
            <a:endParaRPr sz="2000" b="1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2025美赛H奖</a:t>
            </a:r>
            <a:endParaRPr lang="en-US" sz="2000"/>
          </a:p>
          <a:p>
            <a:pPr>
              <a:defRPr/>
            </a:pPr>
            <a:r>
              <a:rPr lang="en-US" sz="2000"/>
              <a:t>2023挑战杯创新论文赛道优秀奖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531146" name="矩形 34"/>
          <p:cNvSpPr/>
          <p:nvPr/>
        </p:nvSpPr>
        <p:spPr bwMode="auto">
          <a:xfrm>
            <a:off x="1893060" y="412751"/>
            <a:ext cx="8418118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学生工作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1876968264" name=""/>
          <p:cNvSpPr txBox="1"/>
          <p:nvPr/>
        </p:nvSpPr>
        <p:spPr bwMode="auto">
          <a:xfrm rot="0" flipH="0" flipV="0">
            <a:off x="278863" y="1004454"/>
            <a:ext cx="11321803" cy="340809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/>
              <a:t>2023加入挑战网社团:</a:t>
            </a:r>
            <a:endParaRPr lang="en-US" sz="2600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400"/>
              <a:t>现任职社团</a:t>
            </a:r>
            <a:r>
              <a:rPr lang="en-US" sz="2400"/>
              <a:t>技术部门负责人，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团支部副团支书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西咸新区挑战信息科技有限公司</a:t>
            </a:r>
            <a:r>
              <a:rPr lang="en-US" sz="2400"/>
              <a:t>CTO</a:t>
            </a:r>
            <a:r>
              <a:rPr lang="en-US" sz="2600"/>
              <a:t>(社团下属公司)</a:t>
            </a:r>
            <a:endParaRPr lang="en-US" sz="2600"/>
          </a:p>
          <a:p>
            <a:pPr>
              <a:defRPr/>
            </a:pPr>
            <a:endParaRPr lang="en-US" sz="26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主要工作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是维护后端框架，在此框架上搭建了团委,青年之声,社会实践等校级网站.</a:t>
            </a:r>
            <a:endParaRPr lang="en-US" sz="26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6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600"/>
          </a:p>
          <a:p>
            <a:pPr>
              <a:defRPr/>
            </a:pPr>
            <a:endParaRPr/>
          </a:p>
        </p:txBody>
      </p:sp>
      <p:pic>
        <p:nvPicPr>
          <p:cNvPr id="888257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31318" y="3275309"/>
            <a:ext cx="7704817" cy="3506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856580" name="矩形 66"/>
          <p:cNvSpPr/>
          <p:nvPr/>
        </p:nvSpPr>
        <p:spPr bwMode="auto">
          <a:xfrm>
            <a:off x="1893060" y="412751"/>
            <a:ext cx="8423878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科研经历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1295719341" name=""/>
          <p:cNvSpPr txBox="1"/>
          <p:nvPr/>
        </p:nvSpPr>
        <p:spPr bwMode="auto">
          <a:xfrm rot="0" flipH="0" flipV="0">
            <a:off x="503999" y="1246908"/>
            <a:ext cx="11816487" cy="13036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大三开始，跟随刘杰老师进行科研训练，开始接触非阿贝尔编织方面知识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/>
              <a:t>现在主要工作是，对于一个不可求出显式积分表达式的系统，尝试其他方法找到多个参数对其的影响的解析式.</a:t>
            </a:r>
            <a:r>
              <a:rPr lang="en-US" sz="2000"/>
              <a:t>原来是从波函数角度研究编织保真度，非常复杂.因此我希望从流形上就能找到和保真度的关系</a:t>
            </a:r>
            <a:endParaRPr/>
          </a:p>
        </p:txBody>
      </p:sp>
      <p:pic>
        <p:nvPicPr>
          <p:cNvPr id="13208410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80" y="3283933"/>
            <a:ext cx="10755221" cy="3004657"/>
          </a:xfrm>
          <a:prstGeom prst="rect">
            <a:avLst/>
          </a:prstGeom>
        </p:spPr>
      </p:pic>
      <p:pic>
        <p:nvPicPr>
          <p:cNvPr id="125269578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30147" y="2545745"/>
            <a:ext cx="3200400" cy="1476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97377" name="矩形 2"/>
          <p:cNvSpPr/>
          <p:nvPr/>
        </p:nvSpPr>
        <p:spPr bwMode="auto">
          <a:xfrm>
            <a:off x="1893060" y="412751"/>
            <a:ext cx="8459158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从李群角度解释此系统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412053458" name=""/>
          <p:cNvSpPr txBox="1"/>
          <p:nvPr/>
        </p:nvSpPr>
        <p:spPr bwMode="auto">
          <a:xfrm rot="0" flipH="0" flipV="0">
            <a:off x="573272" y="1316181"/>
            <a:ext cx="112394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6010606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225" y="1126294"/>
            <a:ext cx="10709594" cy="5585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45246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36666" y="1352619"/>
            <a:ext cx="10089444" cy="5395998"/>
          </a:xfrm>
          <a:prstGeom prst="rect">
            <a:avLst/>
          </a:prstGeom>
        </p:spPr>
      </p:pic>
      <p:sp>
        <p:nvSpPr>
          <p:cNvPr id="1483989650" name=""/>
          <p:cNvSpPr txBox="1"/>
          <p:nvPr/>
        </p:nvSpPr>
        <p:spPr bwMode="auto">
          <a:xfrm rot="0" flipH="0" flipV="0">
            <a:off x="336944" y="440971"/>
            <a:ext cx="11284588" cy="79204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考虑对比</a:t>
            </a:r>
            <a:r>
              <a:rPr lang="en-US" sz="2200"/>
              <a:t>SO(5)</a:t>
            </a:r>
            <a:r>
              <a:rPr sz="2200"/>
              <a:t>演化的状态和理想流形</a:t>
            </a:r>
            <a:r>
              <a:rPr lang="en-US" sz="2200"/>
              <a:t>，研究这个误差也就是研究系统演化的保真度.</a:t>
            </a:r>
            <a:endParaRPr lang="en-US" sz="2200"/>
          </a:p>
          <a:p>
            <a:pPr>
              <a:defRPr/>
            </a:pPr>
            <a:r>
              <a:rPr lang="en-US" sz="2200"/>
              <a:t>如果演化结果和理想一直，那么一定保真度为1. 反之，研究这个误差是怎么的演化关系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3319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5555" y="450354"/>
            <a:ext cx="10388734" cy="6254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83514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8333" y="341807"/>
            <a:ext cx="9576974" cy="6280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25249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840" y="434445"/>
            <a:ext cx="11887770" cy="1919842"/>
          </a:xfrm>
          <a:prstGeom prst="rect">
            <a:avLst/>
          </a:prstGeom>
        </p:spPr>
      </p:pic>
      <p:pic>
        <p:nvPicPr>
          <p:cNvPr id="82194905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2916" y="2567715"/>
            <a:ext cx="6086433" cy="4046690"/>
          </a:xfrm>
          <a:prstGeom prst="rect">
            <a:avLst/>
          </a:prstGeom>
        </p:spPr>
      </p:pic>
      <p:pic>
        <p:nvPicPr>
          <p:cNvPr id="70101181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955719" y="2884663"/>
            <a:ext cx="4943737" cy="37297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125415" name="矩形 2"/>
          <p:cNvSpPr/>
          <p:nvPr/>
        </p:nvSpPr>
        <p:spPr bwMode="auto">
          <a:xfrm>
            <a:off x="1893060" y="412751"/>
            <a:ext cx="8426039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科研总结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850546659" name=""/>
          <p:cNvSpPr txBox="1"/>
          <p:nvPr/>
        </p:nvSpPr>
        <p:spPr bwMode="auto">
          <a:xfrm rot="0" flipH="0" flipV="0">
            <a:off x="301666" y="1340555"/>
            <a:ext cx="10911639" cy="44192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目前从流形角度</a:t>
            </a:r>
            <a:r>
              <a:rPr lang="en-US" sz="2200"/>
              <a:t>，解析了部分保真度的性质. 本质上就是定义了这样的变换和偏导</a:t>
            </a:r>
            <a:endParaRPr/>
          </a:p>
        </p:txBody>
      </p:sp>
      <p:sp>
        <p:nvSpPr>
          <p:cNvPr id="461850558" name=""/>
          <p:cNvSpPr txBox="1"/>
          <p:nvPr/>
        </p:nvSpPr>
        <p:spPr bwMode="auto">
          <a:xfrm rot="0" flipH="0" flipV="0">
            <a:off x="566249" y="2134305"/>
            <a:ext cx="10846118" cy="121723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ψ: SO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 SO(2)×SO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zh-CN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∂E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,    </m:t>
                      </m:r>
                      <m:f>
                        <m:fPr>
                          <m:ctrlPr>
                            <a:rPr lang="zh-CN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184965816" name=""/>
          <p:cNvSpPr txBox="1"/>
          <p:nvPr/>
        </p:nvSpPr>
        <p:spPr bwMode="auto">
          <a:xfrm rot="0" flipH="0" flipV="0">
            <a:off x="193660" y="3633611"/>
            <a:ext cx="11306541" cy="8080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和论文的波函数定义的保真度相比</a:t>
            </a:r>
            <a:r>
              <a:rPr lang="en-US" sz="2200"/>
              <a:t>，仍有峰漂移现象等无法对应， 现在认为应该考虑到高阶项，也就是定义对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2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的高阶偏导数</a:t>
            </a:r>
            <a:r>
              <a:rPr lang="en-US" sz="2200"/>
              <a:t>.这也是我下一步的研究内容.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220001" name="椭圆 8"/>
          <p:cNvSpPr/>
          <p:nvPr/>
        </p:nvSpPr>
        <p:spPr bwMode="auto">
          <a:xfrm>
            <a:off x="5430000" y="4370791"/>
            <a:ext cx="1332000" cy="13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5275784" name="矩形 18"/>
          <p:cNvSpPr/>
          <p:nvPr/>
        </p:nvSpPr>
        <p:spPr bwMode="auto">
          <a:xfrm flipH="0" flipV="0">
            <a:off x="3621909" y="2066074"/>
            <a:ext cx="6558254" cy="1954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0" b="1" spc="225">
                <a:solidFill>
                  <a:prstClr val="white"/>
                </a:solidFill>
                <a:latin typeface="微软雅黑"/>
                <a:ea typeface="微软雅黑"/>
              </a:rPr>
              <a:t>谢谢大家！</a:t>
            </a:r>
            <a:endParaRPr lang="zh-CN" sz="5400" b="1" i="0" u="none" strike="noStrike" cap="none" spc="225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1570577311" name="椭圆 4"/>
          <p:cNvSpPr/>
          <p:nvPr/>
        </p:nvSpPr>
        <p:spPr bwMode="auto">
          <a:xfrm>
            <a:off x="5538000" y="4484265"/>
            <a:ext cx="1116000" cy="1116000"/>
          </a:xfrm>
          <a:prstGeom prst="ellipse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/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pic>
        <p:nvPicPr>
          <p:cNvPr id="627746862" name="图片 6"/>
          <p:cNvPicPr>
            <a:picLocks noChangeAspect="1"/>
          </p:cNvPicPr>
          <p:nvPr/>
        </p:nvPicPr>
        <p:blipFill rotWithShape="1">
          <a:blip r:embed="rId3"/>
          <a:srcRect l="0" t="0" r="72729" b="0"/>
          <a:stretch/>
        </p:blipFill>
        <p:spPr bwMode="auto">
          <a:xfrm>
            <a:off x="5689646" y="4634082"/>
            <a:ext cx="812708" cy="798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Taniaq;李一鸣;沈智然</dc:creator>
  <cp:lastModifiedBy/>
  <cp:revision>32</cp:revision>
  <dcterms:created xsi:type="dcterms:W3CDTF">2022-05-23T10:27:50Z</dcterms:created>
  <dcterms:modified xsi:type="dcterms:W3CDTF">2026-09-16T15:02:58Z</dcterms:modified>
</cp:coreProperties>
</file>