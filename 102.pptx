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50" d="100"/>
          <a:sy n="50" d="100"/>
        </p:scale>
        <p:origin x="1176" y="504"/>
      </p:cViewPr>
      <p:guideLst>
        <p:guide pos="415"/>
        <p:guide pos="7256"/>
        <p:guide pos="663" orient="horz"/>
        <p:guide pos="712" orient="horz"/>
        <p:guide pos="3928" orient="horz"/>
        <p:guide pos="3861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7306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57634039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1BB5295-0690-45DE-9E01-B4636744B25F}" type="datetimeFigureOut">
              <a:rPr lang="zh-CN"/>
              <a:t>2021/9/7</a:t>
            </a:fld>
            <a:endParaRPr lang="zh-CN"/>
          </a:p>
        </p:txBody>
      </p:sp>
      <p:sp>
        <p:nvSpPr>
          <p:cNvPr id="1407044814" name="幻灯片图像占位符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865730912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1323997852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471077583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3413C37-BE2C-4CB8-940D-F8BE2EE62933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6683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2450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5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A4AF97-2A97-DEA3-B3DF-60D3FBF37E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502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7137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042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0076BA-8528-08C5-AC35-E374D89170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317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9148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535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211C-18F4-B277-78C1-2D533ED4FD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74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4372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214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FC68C2-2105-EEF9-6D86-E1997AF83A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0378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088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58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12C3BF-CE57-134F-CD6F-D50E865DCD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076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3534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520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10EAFD-7939-D5EE-FA38-A05AE94C00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1572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8901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4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A5B110-22EB-3199-F8D9-90DCC00937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548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4113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665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8F0C4A-F747-7201-B03E-681D4418D9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743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6938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0113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2DFE22-2563-CE1F-C2E4-2D4ED028E3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2207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2822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29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CD4752-6C11-9A6A-3519-EA3FB8C23D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5472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2222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782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01F27C-8447-064B-C769-9AB0FC81F6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2486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6077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820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A7D0E2-E51D-D32B-3F29-B476057937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991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5347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825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6B9F23-7434-91EA-284F-DA81AF320F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3157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882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9174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6614C4-DB72-84EF-DF6A-CA863BF54C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972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610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968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AC5DFB-726E-D5D6-5F26-979AD1EBF1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956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52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641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333775-1423-CC68-2036-1CC6B97AF6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679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8488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2002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2B3441-9060-FF8B-E399-DEEA457C89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190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4848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229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970EDB-5D7F-56E8-A82E-257C81E96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8225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324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159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040F15-ECB6-63FC-142B-F04BA10155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1645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69614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4320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52E2-86EA-7241-9A65-6213F31C74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2031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9849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703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98162C-63EF-8F67-1D25-6DB2BADB18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1051165" name="图片 1"/>
          <p:cNvPicPr>
            <a:picLocks noChangeAspect="1"/>
          </p:cNvPicPr>
          <p:nvPr userDrawn="1"/>
        </p:nvPicPr>
        <p:blipFill rotWithShape="1">
          <a:blip r:embed="rId2"/>
          <a:srcRect l="1" t="0" r="33919" b="0"/>
          <a:stretch/>
        </p:blipFill>
        <p:spPr bwMode="auto">
          <a:xfrm>
            <a:off x="2737536" y="-23325"/>
            <a:ext cx="9450900" cy="6862666"/>
          </a:xfrm>
          <a:prstGeom prst="rect">
            <a:avLst/>
          </a:prstGeom>
        </p:spPr>
      </p:pic>
      <p:sp>
        <p:nvSpPr>
          <p:cNvPr id="1330916493" name="矩形 11"/>
          <p:cNvSpPr/>
          <p:nvPr/>
        </p:nvSpPr>
        <p:spPr bwMode="auto">
          <a:xfrm flipH="1">
            <a:off x="0" y="-9328"/>
            <a:ext cx="9172142" cy="6858000"/>
          </a:xfrm>
          <a:custGeom>
            <a:avLst/>
            <a:gdLst/>
            <a:ahLst/>
            <a:cxnLst/>
            <a:rect l="l" t="t" r="r" b="b"/>
            <a:pathLst>
              <a:path w="6444208" h="5143500" fill="norm" stroke="1" extrusionOk="0">
                <a:moveTo>
                  <a:pt x="2078067" y="0"/>
                </a:moveTo>
                <a:lnTo>
                  <a:pt x="6444208" y="0"/>
                </a:lnTo>
                <a:lnTo>
                  <a:pt x="6444208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srgbClr val="FFFFFF"/>
              </a:solidFill>
              <a:latin typeface="思源黑体 CN Normal"/>
              <a:cs typeface="+mn-cs"/>
            </a:endParaRPr>
          </a:p>
        </p:txBody>
      </p:sp>
      <p:grpSp>
        <p:nvGrpSpPr>
          <p:cNvPr id="883660085" name="组合 4"/>
          <p:cNvGrpSpPr/>
          <p:nvPr/>
        </p:nvGrpSpPr>
        <p:grpSpPr bwMode="auto">
          <a:xfrm flipH="1">
            <a:off x="6096000" y="-18659"/>
            <a:ext cx="3603649" cy="6858000"/>
            <a:chOff x="1531613" y="0"/>
            <a:chExt cx="3375826" cy="6858000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1761297" y="0"/>
              <a:ext cx="3146142" cy="6858000"/>
            </a:xfrm>
            <a:custGeom>
              <a:avLst/>
              <a:gdLst>
                <a:gd name="connsiteX0" fmla="*/ 2770756 w 3146142"/>
                <a:gd name="connsiteY0" fmla="*/ 0 h 6858000"/>
                <a:gd name="connsiteX1" fmla="*/ 3146142 w 3146142"/>
                <a:gd name="connsiteY1" fmla="*/ 0 h 6858000"/>
                <a:gd name="connsiteX2" fmla="*/ 375386 w 3146142"/>
                <a:gd name="connsiteY2" fmla="*/ 6858000 h 6858000"/>
                <a:gd name="connsiteX3" fmla="*/ 0 w 3146142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6142" h="6858000" fill="norm" stroke="1" extrusionOk="0">
                  <a:moveTo>
                    <a:pt x="2770756" y="0"/>
                  </a:moveTo>
                  <a:lnTo>
                    <a:pt x="3146142" y="0"/>
                  </a:lnTo>
                  <a:lnTo>
                    <a:pt x="37538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5E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思源黑体 CN Normal"/>
                <a:cs typeface="+mn-cs"/>
              </a:endParaRPr>
            </a:p>
          </p:txBody>
        </p:sp>
        <p:sp>
          <p:nvSpPr>
            <p:cNvPr id="7" name="任意多边形: 形状 6"/>
            <p:cNvSpPr/>
            <p:nvPr/>
          </p:nvSpPr>
          <p:spPr bwMode="auto">
            <a:xfrm>
              <a:off x="1531613" y="0"/>
              <a:ext cx="3030637" cy="6858000"/>
            </a:xfrm>
            <a:custGeom>
              <a:avLst/>
              <a:gdLst>
                <a:gd name="connsiteX0" fmla="*/ 2770756 w 3030637"/>
                <a:gd name="connsiteY0" fmla="*/ 0 h 6858000"/>
                <a:gd name="connsiteX1" fmla="*/ 3030637 w 3030637"/>
                <a:gd name="connsiteY1" fmla="*/ 0 h 6858000"/>
                <a:gd name="connsiteX2" fmla="*/ 259881 w 3030637"/>
                <a:gd name="connsiteY2" fmla="*/ 6858000 h 6858000"/>
                <a:gd name="connsiteX3" fmla="*/ 0 w 303063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0637" h="6858000" fill="norm" stroke="1" extrusionOk="0">
                  <a:moveTo>
                    <a:pt x="2770756" y="0"/>
                  </a:moveTo>
                  <a:lnTo>
                    <a:pt x="3030637" y="0"/>
                  </a:lnTo>
                  <a:lnTo>
                    <a:pt x="259881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39AC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18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思源黑体 CN Normal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32980445" name="组合 2"/>
          <p:cNvGrpSpPr/>
          <p:nvPr userDrawn="1"/>
        </p:nvGrpSpPr>
        <p:grpSpPr bwMode="auto">
          <a:xfrm>
            <a:off x="-61453" y="-11151"/>
            <a:ext cx="12314904" cy="6909263"/>
            <a:chOff x="-61453" y="-11151"/>
            <a:chExt cx="12314904" cy="6909263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 rotWithShape="1">
            <a:blip r:embed="rId2"/>
            <a:srcRect l="0" t="0" r="0" b="25926"/>
            <a:stretch/>
          </p:blipFill>
          <p:spPr bwMode="auto">
            <a:xfrm>
              <a:off x="-61452" y="-11151"/>
              <a:ext cx="12314903" cy="6909263"/>
            </a:xfrm>
            <a:prstGeom prst="rect">
              <a:avLst/>
            </a:prstGeom>
          </p:spPr>
        </p:pic>
        <p:sp>
          <p:nvSpPr>
            <p:cNvPr id="5" name="矩形 4"/>
            <p:cNvSpPr/>
            <p:nvPr userDrawn="1"/>
          </p:nvSpPr>
          <p:spPr bwMode="auto">
            <a:xfrm>
              <a:off x="-61453" y="0"/>
              <a:ext cx="12314903" cy="6898112"/>
            </a:xfrm>
            <a:prstGeom prst="rect">
              <a:avLst/>
            </a:prstGeom>
            <a:gradFill>
              <a:gsLst>
                <a:gs pos="0">
                  <a:srgbClr val="1A5E87"/>
                </a:gs>
                <a:gs pos="100000">
                  <a:srgbClr val="04033F">
                    <a:alpha val="80000"/>
                  </a:srgbClr>
                </a:gs>
              </a:gsLst>
              <a:lin ang="27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2_标题幻灯片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0156996" name="组合 3"/>
          <p:cNvGrpSpPr/>
          <p:nvPr userDrawn="1"/>
        </p:nvGrpSpPr>
        <p:grpSpPr bwMode="auto">
          <a:xfrm>
            <a:off x="394159" y="310888"/>
            <a:ext cx="682341" cy="539179"/>
            <a:chOff x="1801006" y="1526207"/>
            <a:chExt cx="1242672" cy="981947"/>
          </a:xfrm>
        </p:grpSpPr>
        <p:sp>
          <p:nvSpPr>
            <p:cNvPr id="5" name="矩形 4"/>
            <p:cNvSpPr/>
            <p:nvPr userDrawn="1"/>
          </p:nvSpPr>
          <p:spPr bwMode="auto">
            <a:xfrm>
              <a:off x="2224301" y="1732937"/>
              <a:ext cx="819377" cy="695740"/>
            </a:xfrm>
            <a:prstGeom prst="rect">
              <a:avLst/>
            </a:prstGeom>
            <a:solidFill>
              <a:srgbClr val="89DF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rial"/>
                <a:ea typeface="黑体"/>
                <a:cs typeface="+mn-cs"/>
              </a:endParaRPr>
            </a:p>
          </p:txBody>
        </p:sp>
        <p:sp>
          <p:nvSpPr>
            <p:cNvPr id="6" name="任意多边形 13"/>
            <p:cNvSpPr/>
            <p:nvPr userDrawn="1"/>
          </p:nvSpPr>
          <p:spPr bwMode="auto">
            <a:xfrm>
              <a:off x="1801006" y="1526207"/>
              <a:ext cx="1063935" cy="981947"/>
            </a:xfrm>
            <a:custGeom>
              <a:avLst/>
              <a:gdLst>
                <a:gd name="connsiteX0" fmla="*/ 0 w 2864941"/>
                <a:gd name="connsiteY0" fmla="*/ 0 h 981947"/>
                <a:gd name="connsiteX1" fmla="*/ 2864941 w 2864941"/>
                <a:gd name="connsiteY1" fmla="*/ 0 h 981947"/>
                <a:gd name="connsiteX2" fmla="*/ 2041802 w 2864941"/>
                <a:gd name="connsiteY2" fmla="*/ 981947 h 981947"/>
                <a:gd name="connsiteX3" fmla="*/ 0 w 2864941"/>
                <a:gd name="connsiteY3" fmla="*/ 981947 h 9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4941" h="981947" fill="norm" stroke="1" extrusionOk="0">
                  <a:moveTo>
                    <a:pt x="0" y="0"/>
                  </a:moveTo>
                  <a:lnTo>
                    <a:pt x="2864941" y="0"/>
                  </a:lnTo>
                  <a:lnTo>
                    <a:pt x="2041802" y="981947"/>
                  </a:lnTo>
                  <a:lnTo>
                    <a:pt x="0" y="981947"/>
                  </a:lnTo>
                  <a:close/>
                </a:path>
              </a:pathLst>
            </a:custGeom>
            <a:solidFill>
              <a:srgbClr val="005AA6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sz="30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rial"/>
                <a:ea typeface="黑体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023909" name="椭圆 2"/>
          <p:cNvSpPr/>
          <p:nvPr/>
        </p:nvSpPr>
        <p:spPr bwMode="auto">
          <a:xfrm>
            <a:off x="8540878" y="2060294"/>
            <a:ext cx="4899047" cy="4899047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1452750020" name="椭圆 3"/>
          <p:cNvSpPr/>
          <p:nvPr/>
        </p:nvSpPr>
        <p:spPr bwMode="auto">
          <a:xfrm>
            <a:off x="8075444" y="1174831"/>
            <a:ext cx="3453795" cy="3453795"/>
          </a:xfrm>
          <a:prstGeom prst="ellipse">
            <a:avLst/>
          </a:prstGeom>
          <a:solidFill>
            <a:srgbClr val="005E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308800163" name="椭圆 4"/>
          <p:cNvSpPr/>
          <p:nvPr/>
        </p:nvSpPr>
        <p:spPr bwMode="auto">
          <a:xfrm>
            <a:off x="10959987" y="4479403"/>
            <a:ext cx="2327538" cy="2327538"/>
          </a:xfrm>
          <a:prstGeom prst="ellipse">
            <a:avLst/>
          </a:prstGeom>
          <a:solidFill>
            <a:srgbClr val="039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1071462643" name="椭圆 6"/>
          <p:cNvSpPr/>
          <p:nvPr/>
        </p:nvSpPr>
        <p:spPr bwMode="auto">
          <a:xfrm>
            <a:off x="7992567" y="1639577"/>
            <a:ext cx="659180" cy="659180"/>
          </a:xfrm>
          <a:prstGeom prst="ellipse">
            <a:avLst/>
          </a:prstGeom>
          <a:noFill/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1258406408" name="椭圆 8"/>
          <p:cNvSpPr/>
          <p:nvPr/>
        </p:nvSpPr>
        <p:spPr bwMode="auto">
          <a:xfrm>
            <a:off x="10990234" y="549683"/>
            <a:ext cx="1133522" cy="1133522"/>
          </a:xfrm>
          <a:prstGeom prst="ellipse">
            <a:avLst/>
          </a:prstGeom>
          <a:solidFill>
            <a:srgbClr val="89DF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828329766" name="椭圆 10"/>
          <p:cNvSpPr/>
          <p:nvPr/>
        </p:nvSpPr>
        <p:spPr bwMode="auto">
          <a:xfrm>
            <a:off x="11436490" y="4001745"/>
            <a:ext cx="955315" cy="955315"/>
          </a:xfrm>
          <a:prstGeom prst="ellipse">
            <a:avLst/>
          </a:prstGeom>
          <a:noFill/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+mn-cs"/>
            </a:endParaRPr>
          </a:p>
        </p:txBody>
      </p:sp>
      <p:sp>
        <p:nvSpPr>
          <p:cNvPr id="955483258" name="certification_176902"/>
          <p:cNvSpPr>
            <a:spLocks noChangeAspect="1"/>
          </p:cNvSpPr>
          <p:nvPr/>
        </p:nvSpPr>
        <p:spPr bwMode="auto">
          <a:xfrm>
            <a:off x="9234239" y="2413012"/>
            <a:ext cx="1192187" cy="1064150"/>
          </a:xfrm>
          <a:custGeom>
            <a:avLst/>
            <a:gdLst>
              <a:gd name="connsiteX0" fmla="*/ 492538 w 606542"/>
              <a:gd name="connsiteY0" fmla="*/ 451854 h 541402"/>
              <a:gd name="connsiteX1" fmla="*/ 492538 w 606542"/>
              <a:gd name="connsiteY1" fmla="*/ 490671 h 541402"/>
              <a:gd name="connsiteX2" fmla="*/ 512579 w 606542"/>
              <a:gd name="connsiteY2" fmla="*/ 470656 h 541402"/>
              <a:gd name="connsiteX3" fmla="*/ 533532 w 606542"/>
              <a:gd name="connsiteY3" fmla="*/ 470656 h 541402"/>
              <a:gd name="connsiteX4" fmla="*/ 553725 w 606542"/>
              <a:gd name="connsiteY4" fmla="*/ 490671 h 541402"/>
              <a:gd name="connsiteX5" fmla="*/ 553725 w 606542"/>
              <a:gd name="connsiteY5" fmla="*/ 451854 h 541402"/>
              <a:gd name="connsiteX6" fmla="*/ 492538 w 606542"/>
              <a:gd name="connsiteY6" fmla="*/ 451854 h 541402"/>
              <a:gd name="connsiteX7" fmla="*/ 523056 w 606542"/>
              <a:gd name="connsiteY7" fmla="*/ 320846 h 541402"/>
              <a:gd name="connsiteX8" fmla="*/ 469460 w 606542"/>
              <a:gd name="connsiteY8" fmla="*/ 374371 h 541402"/>
              <a:gd name="connsiteX9" fmla="*/ 523056 w 606542"/>
              <a:gd name="connsiteY9" fmla="*/ 428048 h 541402"/>
              <a:gd name="connsiteX10" fmla="*/ 576804 w 606542"/>
              <a:gd name="connsiteY10" fmla="*/ 374371 h 541402"/>
              <a:gd name="connsiteX11" fmla="*/ 523056 w 606542"/>
              <a:gd name="connsiteY11" fmla="*/ 320846 h 541402"/>
              <a:gd name="connsiteX12" fmla="*/ 87139 w 606542"/>
              <a:gd name="connsiteY12" fmla="*/ 317968 h 541402"/>
              <a:gd name="connsiteX13" fmla="*/ 399762 w 606542"/>
              <a:gd name="connsiteY13" fmla="*/ 317968 h 541402"/>
              <a:gd name="connsiteX14" fmla="*/ 414642 w 606542"/>
              <a:gd name="connsiteY14" fmla="*/ 332822 h 541402"/>
              <a:gd name="connsiteX15" fmla="*/ 399762 w 606542"/>
              <a:gd name="connsiteY15" fmla="*/ 347676 h 541402"/>
              <a:gd name="connsiteX16" fmla="*/ 87139 w 606542"/>
              <a:gd name="connsiteY16" fmla="*/ 347676 h 541402"/>
              <a:gd name="connsiteX17" fmla="*/ 72259 w 606542"/>
              <a:gd name="connsiteY17" fmla="*/ 332822 h 541402"/>
              <a:gd name="connsiteX18" fmla="*/ 87139 w 606542"/>
              <a:gd name="connsiteY18" fmla="*/ 317968 h 541402"/>
              <a:gd name="connsiteX19" fmla="*/ 87138 w 606542"/>
              <a:gd name="connsiteY19" fmla="*/ 250366 h 541402"/>
              <a:gd name="connsiteX20" fmla="*/ 491922 w 606542"/>
              <a:gd name="connsiteY20" fmla="*/ 250366 h 541402"/>
              <a:gd name="connsiteX21" fmla="*/ 506801 w 606542"/>
              <a:gd name="connsiteY21" fmla="*/ 265220 h 541402"/>
              <a:gd name="connsiteX22" fmla="*/ 491922 w 606542"/>
              <a:gd name="connsiteY22" fmla="*/ 280074 h 541402"/>
              <a:gd name="connsiteX23" fmla="*/ 87138 w 606542"/>
              <a:gd name="connsiteY23" fmla="*/ 280074 h 541402"/>
              <a:gd name="connsiteX24" fmla="*/ 72259 w 606542"/>
              <a:gd name="connsiteY24" fmla="*/ 265220 h 541402"/>
              <a:gd name="connsiteX25" fmla="*/ 87138 w 606542"/>
              <a:gd name="connsiteY25" fmla="*/ 250366 h 541402"/>
              <a:gd name="connsiteX26" fmla="*/ 206946 w 606542"/>
              <a:gd name="connsiteY26" fmla="*/ 102245 h 541402"/>
              <a:gd name="connsiteX27" fmla="*/ 206946 w 606542"/>
              <a:gd name="connsiteY27" fmla="*/ 173171 h 541402"/>
              <a:gd name="connsiteX28" fmla="*/ 371973 w 606542"/>
              <a:gd name="connsiteY28" fmla="*/ 173171 h 541402"/>
              <a:gd name="connsiteX29" fmla="*/ 371973 w 606542"/>
              <a:gd name="connsiteY29" fmla="*/ 102245 h 541402"/>
              <a:gd name="connsiteX30" fmla="*/ 192068 w 606542"/>
              <a:gd name="connsiteY30" fmla="*/ 72541 h 541402"/>
              <a:gd name="connsiteX31" fmla="*/ 386851 w 606542"/>
              <a:gd name="connsiteY31" fmla="*/ 72541 h 541402"/>
              <a:gd name="connsiteX32" fmla="*/ 401729 w 606542"/>
              <a:gd name="connsiteY32" fmla="*/ 87393 h 541402"/>
              <a:gd name="connsiteX33" fmla="*/ 401729 w 606542"/>
              <a:gd name="connsiteY33" fmla="*/ 188023 h 541402"/>
              <a:gd name="connsiteX34" fmla="*/ 386851 w 606542"/>
              <a:gd name="connsiteY34" fmla="*/ 202875 h 541402"/>
              <a:gd name="connsiteX35" fmla="*/ 192068 w 606542"/>
              <a:gd name="connsiteY35" fmla="*/ 202875 h 541402"/>
              <a:gd name="connsiteX36" fmla="*/ 177190 w 606542"/>
              <a:gd name="connsiteY36" fmla="*/ 188023 h 541402"/>
              <a:gd name="connsiteX37" fmla="*/ 177190 w 606542"/>
              <a:gd name="connsiteY37" fmla="*/ 87393 h 541402"/>
              <a:gd name="connsiteX38" fmla="*/ 192068 w 606542"/>
              <a:gd name="connsiteY38" fmla="*/ 72541 h 541402"/>
              <a:gd name="connsiteX39" fmla="*/ 29759 w 606542"/>
              <a:gd name="connsiteY39" fmla="*/ 29719 h 541402"/>
              <a:gd name="connsiteX40" fmla="*/ 29759 w 606542"/>
              <a:gd name="connsiteY40" fmla="*/ 393931 h 541402"/>
              <a:gd name="connsiteX41" fmla="*/ 441978 w 606542"/>
              <a:gd name="connsiteY41" fmla="*/ 393931 h 541402"/>
              <a:gd name="connsiteX42" fmla="*/ 549170 w 606542"/>
              <a:gd name="connsiteY42" fmla="*/ 295221 h 541402"/>
              <a:gd name="connsiteX43" fmla="*/ 549170 w 606542"/>
              <a:gd name="connsiteY43" fmla="*/ 29719 h 541402"/>
              <a:gd name="connsiteX44" fmla="*/ 14879 w 606542"/>
              <a:gd name="connsiteY44" fmla="*/ 0 h 541402"/>
              <a:gd name="connsiteX45" fmla="*/ 564050 w 606542"/>
              <a:gd name="connsiteY45" fmla="*/ 0 h 541402"/>
              <a:gd name="connsiteX46" fmla="*/ 578929 w 606542"/>
              <a:gd name="connsiteY46" fmla="*/ 14860 h 541402"/>
              <a:gd name="connsiteX47" fmla="*/ 578929 w 606542"/>
              <a:gd name="connsiteY47" fmla="*/ 312658 h 541402"/>
              <a:gd name="connsiteX48" fmla="*/ 583484 w 606542"/>
              <a:gd name="connsiteY48" fmla="*/ 431839 h 541402"/>
              <a:gd name="connsiteX49" fmla="*/ 583484 w 606542"/>
              <a:gd name="connsiteY49" fmla="*/ 526606 h 541402"/>
              <a:gd name="connsiteX50" fmla="*/ 558128 w 606542"/>
              <a:gd name="connsiteY50" fmla="*/ 537069 h 541402"/>
              <a:gd name="connsiteX51" fmla="*/ 523056 w 606542"/>
              <a:gd name="connsiteY51" fmla="*/ 502194 h 541402"/>
              <a:gd name="connsiteX52" fmla="*/ 488135 w 606542"/>
              <a:gd name="connsiteY52" fmla="*/ 537069 h 541402"/>
              <a:gd name="connsiteX53" fmla="*/ 462779 w 606542"/>
              <a:gd name="connsiteY53" fmla="*/ 526606 h 541402"/>
              <a:gd name="connsiteX54" fmla="*/ 462779 w 606542"/>
              <a:gd name="connsiteY54" fmla="*/ 431839 h 541402"/>
              <a:gd name="connsiteX55" fmla="*/ 455795 w 606542"/>
              <a:gd name="connsiteY55" fmla="*/ 423651 h 541402"/>
              <a:gd name="connsiteX56" fmla="*/ 14879 w 606542"/>
              <a:gd name="connsiteY56" fmla="*/ 423651 h 541402"/>
              <a:gd name="connsiteX57" fmla="*/ 0 w 606542"/>
              <a:gd name="connsiteY57" fmla="*/ 408791 h 541402"/>
              <a:gd name="connsiteX58" fmla="*/ 0 w 606542"/>
              <a:gd name="connsiteY58" fmla="*/ 14860 h 541402"/>
              <a:gd name="connsiteX59" fmla="*/ 14879 w 606542"/>
              <a:gd name="connsiteY59" fmla="*/ 0 h 541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606542" h="541402" fill="norm" stroke="1" extrusionOk="0">
                <a:moveTo>
                  <a:pt x="492538" y="451854"/>
                </a:moveTo>
                <a:lnTo>
                  <a:pt x="492538" y="490671"/>
                </a:lnTo>
                <a:lnTo>
                  <a:pt x="512579" y="470656"/>
                </a:lnTo>
                <a:cubicBezTo>
                  <a:pt x="518349" y="464742"/>
                  <a:pt x="527762" y="464742"/>
                  <a:pt x="533532" y="470656"/>
                </a:cubicBezTo>
                <a:lnTo>
                  <a:pt x="553725" y="490671"/>
                </a:lnTo>
                <a:lnTo>
                  <a:pt x="553725" y="451854"/>
                </a:lnTo>
                <a:cubicBezTo>
                  <a:pt x="534139" y="459587"/>
                  <a:pt x="511972" y="459587"/>
                  <a:pt x="492538" y="451854"/>
                </a:cubicBezTo>
                <a:close/>
                <a:moveTo>
                  <a:pt x="523056" y="320846"/>
                </a:moveTo>
                <a:cubicBezTo>
                  <a:pt x="493449" y="320846"/>
                  <a:pt x="469460" y="344955"/>
                  <a:pt x="469460" y="374371"/>
                </a:cubicBezTo>
                <a:cubicBezTo>
                  <a:pt x="469460" y="403787"/>
                  <a:pt x="493297" y="428048"/>
                  <a:pt x="523056" y="428048"/>
                </a:cubicBezTo>
                <a:cubicBezTo>
                  <a:pt x="552663" y="428048"/>
                  <a:pt x="576804" y="404091"/>
                  <a:pt x="576804" y="374371"/>
                </a:cubicBezTo>
                <a:cubicBezTo>
                  <a:pt x="576804" y="344955"/>
                  <a:pt x="552663" y="320846"/>
                  <a:pt x="523056" y="320846"/>
                </a:cubicBezTo>
                <a:close/>
                <a:moveTo>
                  <a:pt x="87139" y="317968"/>
                </a:moveTo>
                <a:lnTo>
                  <a:pt x="399762" y="317968"/>
                </a:lnTo>
                <a:cubicBezTo>
                  <a:pt x="407961" y="317968"/>
                  <a:pt x="414642" y="324637"/>
                  <a:pt x="414642" y="332822"/>
                </a:cubicBezTo>
                <a:cubicBezTo>
                  <a:pt x="414642" y="341007"/>
                  <a:pt x="407961" y="347676"/>
                  <a:pt x="399762" y="347676"/>
                </a:cubicBezTo>
                <a:lnTo>
                  <a:pt x="87139" y="347676"/>
                </a:lnTo>
                <a:cubicBezTo>
                  <a:pt x="78788" y="347676"/>
                  <a:pt x="72259" y="341007"/>
                  <a:pt x="72259" y="332822"/>
                </a:cubicBezTo>
                <a:cubicBezTo>
                  <a:pt x="72259" y="324637"/>
                  <a:pt x="78788" y="317968"/>
                  <a:pt x="87139" y="317968"/>
                </a:cubicBezTo>
                <a:close/>
                <a:moveTo>
                  <a:pt x="87138" y="250366"/>
                </a:moveTo>
                <a:lnTo>
                  <a:pt x="491922" y="250366"/>
                </a:lnTo>
                <a:cubicBezTo>
                  <a:pt x="500120" y="250366"/>
                  <a:pt x="506801" y="257035"/>
                  <a:pt x="506801" y="265220"/>
                </a:cubicBezTo>
                <a:cubicBezTo>
                  <a:pt x="506801" y="273405"/>
                  <a:pt x="500120" y="280074"/>
                  <a:pt x="491922" y="280074"/>
                </a:cubicBezTo>
                <a:lnTo>
                  <a:pt x="87138" y="280074"/>
                </a:lnTo>
                <a:cubicBezTo>
                  <a:pt x="78788" y="280074"/>
                  <a:pt x="72259" y="273405"/>
                  <a:pt x="72259" y="265220"/>
                </a:cubicBezTo>
                <a:cubicBezTo>
                  <a:pt x="72259" y="257035"/>
                  <a:pt x="78788" y="250366"/>
                  <a:pt x="87138" y="250366"/>
                </a:cubicBezTo>
                <a:close/>
                <a:moveTo>
                  <a:pt x="206946" y="102245"/>
                </a:moveTo>
                <a:lnTo>
                  <a:pt x="206946" y="173171"/>
                </a:lnTo>
                <a:lnTo>
                  <a:pt x="371973" y="173171"/>
                </a:lnTo>
                <a:lnTo>
                  <a:pt x="371973" y="102245"/>
                </a:lnTo>
                <a:close/>
                <a:moveTo>
                  <a:pt x="192068" y="72541"/>
                </a:moveTo>
                <a:lnTo>
                  <a:pt x="386851" y="72541"/>
                </a:lnTo>
                <a:cubicBezTo>
                  <a:pt x="395049" y="72541"/>
                  <a:pt x="401729" y="79210"/>
                  <a:pt x="401729" y="87393"/>
                </a:cubicBezTo>
                <a:lnTo>
                  <a:pt x="401729" y="188023"/>
                </a:lnTo>
                <a:cubicBezTo>
                  <a:pt x="401729" y="196207"/>
                  <a:pt x="395049" y="202875"/>
                  <a:pt x="386851" y="202875"/>
                </a:cubicBezTo>
                <a:lnTo>
                  <a:pt x="192068" y="202875"/>
                </a:lnTo>
                <a:cubicBezTo>
                  <a:pt x="183870" y="202875"/>
                  <a:pt x="177190" y="196207"/>
                  <a:pt x="177190" y="188023"/>
                </a:cubicBezTo>
                <a:lnTo>
                  <a:pt x="177190" y="87393"/>
                </a:lnTo>
                <a:cubicBezTo>
                  <a:pt x="177190" y="79210"/>
                  <a:pt x="183870" y="72541"/>
                  <a:pt x="192068" y="72541"/>
                </a:cubicBezTo>
                <a:close/>
                <a:moveTo>
                  <a:pt x="29759" y="29719"/>
                </a:moveTo>
                <a:lnTo>
                  <a:pt x="29759" y="393931"/>
                </a:lnTo>
                <a:lnTo>
                  <a:pt x="441978" y="393931"/>
                </a:lnTo>
                <a:cubicBezTo>
                  <a:pt x="426643" y="330399"/>
                  <a:pt x="487527" y="274903"/>
                  <a:pt x="549170" y="295221"/>
                </a:cubicBezTo>
                <a:lnTo>
                  <a:pt x="549170" y="29719"/>
                </a:lnTo>
                <a:close/>
                <a:moveTo>
                  <a:pt x="14879" y="0"/>
                </a:moveTo>
                <a:lnTo>
                  <a:pt x="564050" y="0"/>
                </a:lnTo>
                <a:cubicBezTo>
                  <a:pt x="572249" y="0"/>
                  <a:pt x="578929" y="6672"/>
                  <a:pt x="578929" y="14860"/>
                </a:cubicBezTo>
                <a:lnTo>
                  <a:pt x="578929" y="312658"/>
                </a:lnTo>
                <a:cubicBezTo>
                  <a:pt x="614002" y="344197"/>
                  <a:pt x="615824" y="397874"/>
                  <a:pt x="583484" y="431839"/>
                </a:cubicBezTo>
                <a:lnTo>
                  <a:pt x="583484" y="526606"/>
                </a:lnTo>
                <a:cubicBezTo>
                  <a:pt x="583484" y="539798"/>
                  <a:pt x="567390" y="546318"/>
                  <a:pt x="558128" y="537069"/>
                </a:cubicBezTo>
                <a:lnTo>
                  <a:pt x="523056" y="502194"/>
                </a:lnTo>
                <a:lnTo>
                  <a:pt x="488135" y="537069"/>
                </a:lnTo>
                <a:cubicBezTo>
                  <a:pt x="478873" y="546318"/>
                  <a:pt x="462779" y="539798"/>
                  <a:pt x="462779" y="526606"/>
                </a:cubicBezTo>
                <a:lnTo>
                  <a:pt x="462779" y="431839"/>
                </a:lnTo>
                <a:cubicBezTo>
                  <a:pt x="460198" y="429261"/>
                  <a:pt x="457920" y="426532"/>
                  <a:pt x="455795" y="423651"/>
                </a:cubicBezTo>
                <a:lnTo>
                  <a:pt x="14879" y="423651"/>
                </a:lnTo>
                <a:cubicBezTo>
                  <a:pt x="6681" y="423651"/>
                  <a:pt x="0" y="416979"/>
                  <a:pt x="0" y="408791"/>
                </a:cubicBezTo>
                <a:lnTo>
                  <a:pt x="0" y="14860"/>
                </a:lnTo>
                <a:cubicBezTo>
                  <a:pt x="0" y="6672"/>
                  <a:pt x="6681" y="0"/>
                  <a:pt x="1487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1375188784" name="图片 12"/>
          <p:cNvPicPr>
            <a:picLocks noChangeAspect="1"/>
          </p:cNvPicPr>
          <p:nvPr/>
        </p:nvPicPr>
        <p:blipFill rotWithShape="1">
          <a:blip r:embed="rId3"/>
          <a:srcRect l="5748" t="32677" r="5111" b="3650"/>
          <a:stretch/>
        </p:blipFill>
        <p:spPr bwMode="auto">
          <a:xfrm>
            <a:off x="7785033" y="3640885"/>
            <a:ext cx="1740771" cy="1737864"/>
          </a:xfrm>
          <a:custGeom>
            <a:avLst/>
            <a:gdLst>
              <a:gd name="connsiteX0" fmla="*/ 1661106 w 3322212"/>
              <a:gd name="connsiteY0" fmla="*/ 0 h 3322212"/>
              <a:gd name="connsiteX1" fmla="*/ 3322212 w 3322212"/>
              <a:gd name="connsiteY1" fmla="*/ 1661106 h 3322212"/>
              <a:gd name="connsiteX2" fmla="*/ 1661106 w 3322212"/>
              <a:gd name="connsiteY2" fmla="*/ 3322212 h 3322212"/>
              <a:gd name="connsiteX3" fmla="*/ 0 w 3322212"/>
              <a:gd name="connsiteY3" fmla="*/ 1661106 h 3322212"/>
              <a:gd name="connsiteX4" fmla="*/ 1661106 w 3322212"/>
              <a:gd name="connsiteY4" fmla="*/ 0 h 3322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2212" h="3322212" fill="norm" stroke="1" extrusionOk="0">
                <a:moveTo>
                  <a:pt x="1661106" y="0"/>
                </a:moveTo>
                <a:cubicBezTo>
                  <a:pt x="2578510" y="0"/>
                  <a:pt x="3322212" y="743702"/>
                  <a:pt x="3322212" y="1661106"/>
                </a:cubicBezTo>
                <a:cubicBezTo>
                  <a:pt x="3322212" y="2578510"/>
                  <a:pt x="2578510" y="3322212"/>
                  <a:pt x="1661106" y="3322212"/>
                </a:cubicBezTo>
                <a:cubicBezTo>
                  <a:pt x="743702" y="3322212"/>
                  <a:pt x="0" y="2578510"/>
                  <a:pt x="0" y="1661106"/>
                </a:cubicBezTo>
                <a:cubicBezTo>
                  <a:pt x="0" y="743702"/>
                  <a:pt x="743702" y="0"/>
                  <a:pt x="1661106" y="0"/>
                </a:cubicBezTo>
                <a:close/>
              </a:path>
            </a:pathLst>
          </a:custGeom>
        </p:spPr>
      </p:pic>
      <p:sp>
        <p:nvSpPr>
          <p:cNvPr id="1750087870" name=""/>
          <p:cNvSpPr txBox="1"/>
          <p:nvPr/>
        </p:nvSpPr>
        <p:spPr bwMode="auto">
          <a:xfrm rot="0" flipH="0" flipV="0">
            <a:off x="554399" y="2580041"/>
            <a:ext cx="6725789" cy="64337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3600" b="1" i="0" u="none" strike="noStrike" cap="none" spc="0">
                <a:solidFill>
                  <a:srgbClr val="333333"/>
                </a:solidFill>
                <a:latin typeface="0xProto Nerd Font Propo"/>
                <a:ea typeface="0xProto Nerd Font Propo"/>
                <a:cs typeface="0xProto Nerd Font Propo"/>
              </a:rPr>
              <a:t>四元数 Riccati ODE方法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015587" name=""/>
          <p:cNvSpPr txBox="1"/>
          <p:nvPr/>
        </p:nvSpPr>
        <p:spPr bwMode="auto">
          <a:xfrm rot="0" flipH="0" flipV="0">
            <a:off x="383000" y="1002228"/>
            <a:ext cx="11386107" cy="471284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/>
              <a:t>从论文第二部分有效模型</a:t>
            </a:r>
            <a:r>
              <a:rPr lang="en-US" sz="2000"/>
              <a:t>出发: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/>
              <a:t>第三部分在真实纳米线紧束缚下改变各种物理量,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均匀、台阶势、光滑势、QD、无序</a:t>
            </a:r>
            <a:r>
              <a:rPr lang="en-US" sz="2000"/>
              <a:t>,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展示不同物理机制如何产生不同的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/>
              <a:t>, 以及和有效模型进行验证. 我们后续的方法重点在于对有效模型进行代数的分析.</a:t>
            </a: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sz="2000"/>
          </a:p>
        </p:txBody>
      </p:sp>
      <p:sp>
        <p:nvSpPr>
          <p:cNvPr id="298369196" name=""/>
          <p:cNvSpPr txBox="1"/>
          <p:nvPr/>
        </p:nvSpPr>
        <p:spPr bwMode="auto">
          <a:xfrm rot="0" flipH="0" flipV="0">
            <a:off x="1354498" y="323849"/>
            <a:ext cx="1928009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6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思路</a:t>
            </a:r>
            <a:endParaRPr sz="2600"/>
          </a:p>
        </p:txBody>
      </p:sp>
      <p:pic>
        <p:nvPicPr>
          <p:cNvPr id="43659568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3000" y="1443200"/>
            <a:ext cx="11183761" cy="31243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669167" name=""/>
          <p:cNvSpPr txBox="1"/>
          <p:nvPr/>
        </p:nvSpPr>
        <p:spPr bwMode="auto">
          <a:xfrm rot="0" flipH="0" flipV="0">
            <a:off x="442777" y="1093610"/>
            <a:ext cx="11923559" cy="36940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三段过程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每段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τ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时长，门控函数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±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1±</m:t>
                          </m:r>
                          <m:func>
                            <m:func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(πt/τ</m:t>
                              </m:r>
                            </m:e>
                          </m:func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Step 1 (0→τ):      G1 关            -&gt;   t₂ 打开,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m:rPr/>
                        <a:rPr sz="2000">
                          <a:latin typeface="Cambria Math"/>
                          <a:ea typeface="Cambria Math"/>
                          <a:cs typeface="Cambria Math"/>
                        </a:rPr>
                        <m:t>→ 0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  -&gt;     γ₂ 移入量子点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Step 2 (τ→2τ):    G2 关, G1 开  -&gt;  t₃ 打开, t₂ 关闭       -&gt;    γ₃ 接管, γ₂ 退出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Step 3 (2τ→3τ):  G2 开             -&gt;  t₃ 关闭,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恢复      -&gt;     γ₃ 退出, 回到初态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     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结果: γ₂↔γ₃ 交换</a:t>
            </a:r>
            <a:endParaRPr lang="en-US"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/>
              <a:t>尝试的简化思路是,分析每一段的生成元,也就是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/>
              <a:t>这个二次项的作用,通过分析每段的李代数闭包,判断这一段的演化是否对应了一个可以分解的代数结构,从而进行简化.如不能分解,就只能对整个闭包求解.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922193" name=""/>
          <p:cNvSpPr txBox="1"/>
          <p:nvPr/>
        </p:nvSpPr>
        <p:spPr bwMode="auto">
          <a:xfrm rot="0" flipH="0" flipV="0">
            <a:off x="1254166" y="388055"/>
            <a:ext cx="11328129" cy="46612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>
                <a:latin typeface="ZedMono NFP Extd ExtBd Obl"/>
                <a:ea typeface="ZedMono NFP Extd ExtBd Obl"/>
                <a:cs typeface="ZedMono NFP Extd ExtBd Obl"/>
              </a:rPr>
              <a:t>第一部分</a:t>
            </a:r>
            <a:r>
              <a:rPr lang="en-US" sz="2400" b="1">
                <a:latin typeface="ZedMono NFP Extd ExtBd Obl"/>
                <a:ea typeface="ZedMono NFP Extd ExtBd Obl"/>
                <a:cs typeface="ZedMono NFP Extd ExtBd Obl"/>
              </a:rPr>
              <a:t>: 每步演化的李代数闭包:</a:t>
            </a:r>
            <a:endParaRPr lang="en-US" sz="2400" b="1">
              <a:latin typeface="ZedMono NFP Extd ExtBd Obl"/>
              <a:ea typeface="ZedMono NFP Extd ExtBd Obl"/>
              <a:cs typeface="ZedMono NFP Extd ExtBd Obl"/>
            </a:endParaRPr>
          </a:p>
        </p:txBody>
      </p:sp>
      <p:sp>
        <p:nvSpPr>
          <p:cNvPr id="2145411824" name=""/>
          <p:cNvSpPr txBox="1"/>
          <p:nvPr/>
        </p:nvSpPr>
        <p:spPr bwMode="auto">
          <a:xfrm rot="0" flipH="0" flipV="0">
            <a:off x="530971" y="970138"/>
            <a:ext cx="11782096" cy="54393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从</a:t>
            </a:r>
            <a:r>
              <a:rPr lang="en-US"/>
              <a:t>5个majorana开始,也就是5个Clifford代数的生成元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Sup>
                        <m:sSubSupPr>
                          <m:alnScr m:val="off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i=1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p>
                      </m:sSubSup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 ,      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2δ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Lie代数生成元(双线性生成元) : 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iγ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/>
              <a:t>对易运算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,X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kl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=2i(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jk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il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ik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jl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jl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ik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il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jk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il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/>
              <a:t>5个majorana一共给出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=10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个,对应的全空间是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so(5)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结构.</a:t>
            </a:r>
            <a:endParaRPr lang="en-US"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/>
              <a:t>为了研究每一步的演化具体是什么,这里定义了Lie闭包: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g=Lie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所有X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反复对易运算后的闭合空间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这里引入闭包,是因为,演化算符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=T exp(</m:t>
                      </m:r>
                      <m:nary>
                        <m:naryPr>
                          <m:chr m:val="∫"/>
                          <m:grow m:val="off"/>
                          <m:subHide m:val="on"/>
                          <m:supHide m:val="on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由哈密顿量决定,而: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哈密顿量H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在李代数g中  → U(t)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被限制在李群G中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李代数闭包 g 的维数就是演化所需的最小参数个数。</a:t>
            </a: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168259" name=""/>
          <p:cNvSpPr txBox="1"/>
          <p:nvPr/>
        </p:nvSpPr>
        <p:spPr bwMode="auto">
          <a:xfrm rot="0" flipH="0" flipV="0">
            <a:off x="760277" y="1040694"/>
            <a:ext cx="110066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graphicFrame>
        <p:nvGraphicFramePr>
          <p:cNvPr id="102766445" name=""/>
          <p:cNvGraphicFramePr>
            <a:graphicFrameLocks xmlns:a="http://schemas.openxmlformats.org/drawingml/2006/main"/>
          </p:cNvGraphicFramePr>
          <p:nvPr/>
        </p:nvGraphicFramePr>
        <p:xfrm rot="0">
          <a:off x="195832" y="1477369"/>
          <a:ext cx="10900833" cy="207502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328333"/>
                <a:gridCol w="2328333"/>
                <a:gridCol w="2328333"/>
                <a:gridCol w="2328333"/>
                <a:gridCol w="2328333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步骤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闭包g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李群G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维数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解析含义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Step1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so(4)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SO(4)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SU(2)×SU(2)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 ,</a:t>
                      </a:r>
                      <a:r>
                        <a:rPr lang="zh-CN" sz="1800" b="0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两个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su(2)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zh-CN" sz="1800" b="0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 一般不对易 → 不可因子化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Step2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 so(5)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SO(5)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zh-CN" sz="1800" b="0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维数满，时变轴 → commutant 平凡 → 无法简化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Step3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 u(1)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⊕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su(2)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U(1)×SU(2)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u(1)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zh-CN" sz="1800" b="0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 与 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su(2)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zh-CN" sz="1800" b="0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 对易 → 可分解为 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p>
                                  <m:sSup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  <m:d>
                                      <m:dPr>
                                        <m:begChr m:val="("/>
                                        <m:endChr m:val=")"/>
                                        <m:ctrlPr>
                                          <a:rPr lang="zh-CN" sz="1800" u="none" strike="noStrike" cap="none" spc="0">
                                            <a:solidFill>
                                              <a:schemeClr val="dk1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zh-CN" sz="1800" u="none" strike="noStrike" cap="none" spc="0">
                                            <a:solidFill>
                                              <a:schemeClr val="dk1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/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/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/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su(2)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mc:Choice>
                        <mc:Fallback/>
                      </mc:AlternateContent>
                      <a:r>
                        <a:rPr lang="zh-CN" sz="1800" b="0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 → </a:t>
                      </a:r>
                      <a:r>
                        <a:rPr lang="zh-CN" sz="1800" b="1" i="0" u="none" strike="noStrike" cap="none" spc="0">
                          <a:solidFill>
                            <a:schemeClr val="dk1"/>
                          </a:solidFill>
                          <a:latin typeface="等线"/>
                          <a:ea typeface="等线"/>
                          <a:cs typeface="等线"/>
                        </a:rPr>
                        <a:t>可写闭式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1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45660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60224" y="0"/>
            <a:ext cx="1187155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7883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916" y="130839"/>
            <a:ext cx="12191999" cy="6104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089939" name=""/>
          <p:cNvSpPr txBox="1"/>
          <p:nvPr/>
        </p:nvSpPr>
        <p:spPr bwMode="auto">
          <a:xfrm rot="0" flipH="0" flipV="0">
            <a:off x="1448194" y="335137"/>
            <a:ext cx="9931056" cy="49116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第二部分</a:t>
            </a:r>
            <a:r>
              <a:rPr lang="en-US" sz="2400" b="1"/>
              <a:t>:通过全空间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so(5)</m:t>
                      </m:r>
                    </m:oMath>
                  </m:oMathPara>
                </a14:m>
              </mc:Choice>
              <mc:Fallback/>
            </mc:AlternateContent>
            <a:r>
              <a:rPr lang="en-US" sz="2400" b="1"/>
              <a:t>构建ODE</a:t>
            </a:r>
            <a:endParaRPr/>
          </a:p>
        </p:txBody>
      </p:sp>
      <p:sp>
        <p:nvSpPr>
          <p:cNvPr id="1984146434" name=""/>
          <p:cNvSpPr txBox="1"/>
          <p:nvPr/>
        </p:nvSpPr>
        <p:spPr bwMode="auto">
          <a:xfrm rot="0" flipH="0" flipV="0">
            <a:off x="548610" y="1111249"/>
            <a:ext cx="1116541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554109829" name=""/>
          <p:cNvSpPr txBox="1"/>
          <p:nvPr/>
        </p:nvSpPr>
        <p:spPr bwMode="auto">
          <a:xfrm rot="0" flipH="0" flipV="0">
            <a:off x="460415" y="1128888"/>
            <a:ext cx="11659330" cy="49100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直接写</a:t>
            </a:r>
            <a:r>
              <a:rPr lang="en-US" sz="2000"/>
              <a:t>10维so(5)不现实,所以这里通过一个同构关系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so(5)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≅sp(2)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, sp(2)是辛群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sp(2)=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baseJc m:val="center"/>
                                  <m:cGp/>
                                  <m:cGpRule/>
                                  <m:cSp/>
                                  <m:mcs>
                                    <m:mc>
                                      <m:mcPr>
                                        <m:mcJc m:val="center"/>
                                        <m:count m:val="2"/>
                                      </m:mcPr>
                                    </m:mc>
                                  </m:mcs>
                                  <m:plcHide m:val="off"/>
                                  <m:rSp/>
                                  <m:rSpRule/>
                                  <m:ctrlPr>
                                    <a:rPr lang="en-US" sz="2000" b="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q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-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2000" b="0" i="1" u="none" strike="noStrike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i"/>
                                          </m:rPr>
                                          <a:rPr lang="en-US" sz="2000" u="none" strike="noStrike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q</m:t>
                                        </m:r>
                                      </m:e>
                                    </m:acc>
                                  </m:e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 | u,v ∈Im H , q ∈ H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u,v为纯虚四元数,各有三个自由度,共计6个.q是一般四元数,4个自由度. 共计10个.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把so(5)的元素也用四元数矩阵表示出来: 5个2*2的矩阵,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这 5 个矩阵构成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Cl(5) 的不可约表示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-i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-j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-k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/>
              <a:t>满足对易关系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{"/>
                          <m:endChr m:val="}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Γ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2δ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/>
              <a:t>定义旋量生成元: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813659" name=""/>
          <p:cNvSpPr txBox="1"/>
          <p:nvPr/>
        </p:nvSpPr>
        <p:spPr bwMode="auto">
          <a:xfrm rot="0" flipH="0" flipV="0">
            <a:off x="530970" y="917221"/>
            <a:ext cx="11061757" cy="50201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从majorana哈密顿到旋量的演化</a:t>
            </a:r>
            <a:r>
              <a:rPr lang="en-US" sz="2000"/>
              <a:t>: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=-iHU(t)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lang="en-US" sz="2000"/>
              <a:t>把有效模型中的majoranna替换为上面定义的矩阵形式: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spinor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bHide m:val="on"/>
                          <m:supHide m:val="on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iγ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e>
                      </m:nary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bHide m:val="on"/>
                          <m:supHide m:val="on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(i⋅2</m:t>
                          </m:r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/>
              <a:t>记: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K=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bHide m:val="on"/>
                          <m:supHide m:val="on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/>
              <a:t>有</a:t>
            </a:r>
            <a:endParaRPr lang="en-US" sz="2000"/>
          </a:p>
          <a:p>
            <a:pPr>
              <a:defRPr/>
            </a:pP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=-i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spinor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=-i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2iK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U=2KU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其中因子 2 可被吸收进生成元的归一化约定中。下面约定，取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=K(t)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U(t),  K∈sp(2)</m:t>
                      </m:r>
                    </m:oMath>
                  </m:oMathPara>
                </a14:m>
              </mc:Choice>
              <mc:Fallback/>
            </mc:AlternateContent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215484" name=""/>
          <p:cNvSpPr txBox="1"/>
          <p:nvPr/>
        </p:nvSpPr>
        <p:spPr bwMode="auto">
          <a:xfrm rot="0" flipH="0" flipV="0">
            <a:off x="478055" y="1023055"/>
            <a:ext cx="11564638" cy="21480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分块表示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  ,     U=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   A,B,C,D,X,Y,Z,W ∈ H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A,D 为纯虚四元数，对应于 sp(2)的对角块；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B,C 为一般四元数，对应于非对角块。</a:t>
            </a:r>
            <a:endParaRPr lang="en-US" sz="2000"/>
          </a:p>
          <a:p>
            <a:pPr>
              <a:defRPr/>
            </a:pPr>
            <a:r>
              <a:rPr lang="en-US" sz="2000"/>
              <a:t>以上参数都显示含时</a:t>
            </a:r>
            <a:endParaRPr sz="2000"/>
          </a:p>
          <a:p>
            <a:pPr>
              <a:defRPr/>
            </a:pPr>
            <a:endParaRPr sz="2000"/>
          </a:p>
        </p:txBody>
      </p:sp>
      <p:pic>
        <p:nvPicPr>
          <p:cNvPr id="20660045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659" y="2804576"/>
            <a:ext cx="12191999" cy="37133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7282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16598" y="4218339"/>
            <a:ext cx="6486525" cy="2105024"/>
          </a:xfrm>
          <a:prstGeom prst="rect">
            <a:avLst/>
          </a:prstGeom>
        </p:spPr>
      </p:pic>
      <p:pic>
        <p:nvPicPr>
          <p:cNvPr id="10816107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17499" y="1052512"/>
            <a:ext cx="11766944" cy="2766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517292" name=""/>
          <p:cNvSpPr txBox="1"/>
          <p:nvPr/>
        </p:nvSpPr>
        <p:spPr bwMode="auto">
          <a:xfrm rot="0" flipH="0" flipV="0">
            <a:off x="442776" y="1128888"/>
            <a:ext cx="11681274" cy="454273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由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=K(t)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U(t)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,展开第一列: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̇"/>
                                  <m:ctrlPr>
                                    <a:rPr lang="en-US" sz="200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acc>
                            </m:num>
                            <m:den>
                              <m:acc>
                                <m:accPr>
                                  <m:chr m:val="̇"/>
                                  <m:ctrlPr>
                                    <a:rPr lang="en-US" sz="200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</m:acc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num>
                            <m:den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</m:t>
                      </m:r>
                      <m:r>
                        <m:rPr/>
                        <a:rPr sz="2000">
                          <a:latin typeface="Cambria Math"/>
                          <a:ea typeface="Cambria Math"/>
                          <a:cs typeface="Cambria Math"/>
                        </a:rPr>
                        <m:t>→  </m:t>
                      </m:r>
                      <m:acc>
                        <m:accPr>
                          <m:chr m:val="̇"/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acc>
                      <m:r>
                        <m:rPr/>
                        <a:rPr sz="2000">
                          <a:latin typeface="Cambria Math"/>
                          <a:ea typeface="Cambria Math"/>
                          <a:cs typeface="Cambria Math"/>
                        </a:rPr>
                        <m:t>=AX+BZ  , </m:t>
                      </m:r>
                      <m:acc>
                        <m:accPr>
                          <m:chr m:val="̇"/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</m:acc>
                      <m:r>
                        <m:rPr/>
                        <a:rPr sz="2000">
                          <a:latin typeface="Cambria Math"/>
                          <a:ea typeface="Cambria Math"/>
                          <a:cs typeface="Cambria Math"/>
                        </a:rPr>
                        <m:t>=CX+DZ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lang="en-US" sz="2000"/>
              <a:t>定义Riccati变量: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q=</m:t>
                      </m:r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ZX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1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引入Riccati的原因:因为 U</a:t>
            </a:r>
            <a:r>
              <a:rPr lang="en-US" sz="2000" b="0" i="1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是 </a:t>
            </a:r>
            <a:r>
              <a:rPr lang="en-US" sz="2000" b="0" i="1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2×2 四元数矩阵（16 个实分量），而 </a:t>
            </a:r>
            <a:r>
              <a:rPr lang="en-US" sz="2000" b="0" i="1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q</a:t>
            </a:r>
            <a:r>
              <a:rPr lang="en-US" sz="2000" b="0" i="1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只是一个四元数（4 个实分量）。Riccati方法在这里是用比值替代绝对值，压缩掉冗余的自由度。</a:t>
            </a:r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/>
              <a:t>求导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</m:acc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ZX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acc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lang="en-US" sz="2000"/>
              <a:t>代入: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CX+DZ</m:t>
                          </m:r>
                        </m:e>
                      </m:d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ZX</m:t>
                              </m:r>
                            </m:e>
                            <m:sup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-1</m:t>
                              </m:r>
                            </m:sup>
                          </m:sSup>
                        </m:e>
                      </m:d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AX+BZ</m:t>
                          </m:r>
                        </m:e>
                      </m:d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=C+D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ZX</m:t>
                              </m:r>
                            </m:e>
                            <m:sup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-1</m:t>
                              </m:r>
                            </m:sup>
                          </m:sSup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ZX</m:t>
                              </m:r>
                            </m:e>
                            <m:sup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-1</m:t>
                              </m:r>
                            </m:sup>
                          </m:sSup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A-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ZX</m:t>
                              </m:r>
                            </m:e>
                            <m:sup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-1</m:t>
                              </m:r>
                            </m:sup>
                          </m:sSup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ZX</m:t>
                              </m:r>
                            </m:e>
                            <m:sup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=C+Dq-qA-qBq</m:t>
                      </m:r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966431" name=""/>
          <p:cNvSpPr txBox="1"/>
          <p:nvPr/>
        </p:nvSpPr>
        <p:spPr bwMode="auto">
          <a:xfrm rot="0" flipH="0" flipV="0">
            <a:off x="548609" y="1023054"/>
            <a:ext cx="11002357" cy="418839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/>
              <a:t>Riccati ODE: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=C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+D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-q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-q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 q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三段演化步骤的差异仅体现在 A(t) B(t) C(t) D(t) 的时变系数中（由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和门控函数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±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决定），ODE 形式不变。</a:t>
            </a:r>
            <a:endParaRPr sz="2000"/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cs typeface="等线"/>
              </a:rPr>
              <a:t>补充一点:</a:t>
            </a: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X(t)的可逆性：Sp(2) 矩阵满足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UU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†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=I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，展开左上角得</a:t>
            </a: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0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</m:t>
                          </m:r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0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</m:t>
                          </m:r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Z|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=1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初始 X(0)=1 (|X|=1)。若 X(t)-&gt;0，则需 Z-&gt;1，</a:t>
            </a: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此时q发散——这是 Riccati 坐标图的边界奇点，而非物理奇点。类比球面投影,类似北极点</a:t>
            </a:r>
            <a:endParaRPr sz="2000"/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208337" name=""/>
          <p:cNvSpPr txBox="1"/>
          <p:nvPr/>
        </p:nvSpPr>
        <p:spPr bwMode="auto">
          <a:xfrm rot="0" flipH="0" flipV="0">
            <a:off x="583888" y="1005416"/>
            <a:ext cx="11113946" cy="448448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2000" b="1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总流程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: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1. Riccati ODE (4 分量)        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q̇ = C + Dq − qA − qBq,   q(0) = 0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→ 数值积分得到 q(t)          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2. X(t) 重建 (4 分量)          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Ẋ = (A + Bq)X,   X(0) = 1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→ 与 q(t) 联立积分得到 X(t)  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3. 构建 Sp(2) 矩阵             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Z(t) = q(t)·X(t)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,  Y,W 同理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.  最后组合出来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U(t) ∈ Sp(2)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4. Sp(2) → SO(5) 旋量覆盖映射      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 = 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Tr(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U 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sSup>
                        <m:sSup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†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  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→ 得到 Majorana 演化矩阵 R(t) ∈ SO(5)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5. 提取 MZM 子空间 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→ 得到 γ₁,γ₂,γ₃ 的 braiding 结果                    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382476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8749" y="2142295"/>
            <a:ext cx="11140746" cy="3643259"/>
          </a:xfrm>
          <a:prstGeom prst="rect">
            <a:avLst/>
          </a:prstGeom>
        </p:spPr>
      </p:pic>
      <p:sp>
        <p:nvSpPr>
          <p:cNvPr id="1510970534" name=""/>
          <p:cNvSpPr txBox="1"/>
          <p:nvPr/>
        </p:nvSpPr>
        <p:spPr bwMode="auto">
          <a:xfrm rot="0" flipH="0" flipV="0">
            <a:off x="213471" y="952498"/>
            <a:ext cx="12253276" cy="123423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Riccati的误差</a:t>
            </a:r>
            <a:r>
              <a:rPr lang="en-US"/>
              <a:t>:</a:t>
            </a:r>
            <a:endParaRPr lang="en-US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A:（直接传播）：数值求解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=K(t)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U(t)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得到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U(t) 的 16 个实分量，从中提取</a:t>
            </a:r>
            <a:r>
              <a:rPr lang="en-US"/>
              <a:t>q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B:（Riccati ODE）：数值求解q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, 然后逐时间点比较两种方法得到的q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/>
          </a:p>
        </p:txBody>
      </p:sp>
      <p:sp>
        <p:nvSpPr>
          <p:cNvPr id="1643246014" name=""/>
          <p:cNvSpPr txBox="1"/>
          <p:nvPr/>
        </p:nvSpPr>
        <p:spPr bwMode="auto">
          <a:xfrm rot="0" flipH="0" flipV="0">
            <a:off x="1324721" y="352777"/>
            <a:ext cx="6455834" cy="46796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第三部分</a:t>
            </a:r>
            <a:r>
              <a:rPr lang="en-US" sz="2400" b="1"/>
              <a:t>:验证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589060" name=""/>
          <p:cNvSpPr txBox="1"/>
          <p:nvPr/>
        </p:nvSpPr>
        <p:spPr bwMode="auto">
          <a:xfrm rot="0" flipH="0" flipV="0">
            <a:off x="1174590" y="388055"/>
            <a:ext cx="10346109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1"/>
              <a:t>E</a:t>
            </a:r>
            <a:r>
              <a:rPr lang="en-US" sz="2200" b="1"/>
              <a:t>1=0和t1=0的极限情况: MZM</a:t>
            </a:r>
            <a:endParaRPr/>
          </a:p>
        </p:txBody>
      </p:sp>
      <p:pic>
        <p:nvPicPr>
          <p:cNvPr id="13373951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58812" y="1349374"/>
            <a:ext cx="10829925" cy="4476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843207" name=""/>
          <p:cNvSpPr txBox="1"/>
          <p:nvPr/>
        </p:nvSpPr>
        <p:spPr bwMode="auto">
          <a:xfrm rot="0" flipH="0" flipV="0">
            <a:off x="1412916" y="405694"/>
            <a:ext cx="11535836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/>
              <a:t>E1=0 t1=0的MZM情况,对应论文fig.1(b): </a:t>
            </a:r>
            <a:endParaRPr lang="en-US"/>
          </a:p>
        </p:txBody>
      </p:sp>
      <p:pic>
        <p:nvPicPr>
          <p:cNvPr id="19325035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87916" y="946679"/>
            <a:ext cx="7273312" cy="4040728"/>
          </a:xfrm>
          <a:prstGeom prst="rect">
            <a:avLst/>
          </a:prstGeom>
        </p:spPr>
      </p:pic>
      <p:pic>
        <p:nvPicPr>
          <p:cNvPr id="134577807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1953" y="1130299"/>
            <a:ext cx="4495962" cy="30062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339420" name=""/>
          <p:cNvSpPr txBox="1"/>
          <p:nvPr/>
        </p:nvSpPr>
        <p:spPr bwMode="auto">
          <a:xfrm rot="0" flipH="0" flipV="0">
            <a:off x="707360" y="952499"/>
            <a:ext cx="10905173" cy="545220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ABS braid -&gt; 任意bloch旋转的验证: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E1=0 </m:t>
                      </m:r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sSub>
                        <m:sSubPr>
                          <m:ctrlPr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sub>
                      </m:sSub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=0 </m:t>
                      </m:r>
                      <m:r>
                        <m:rPr/>
                        <a:rPr>
                          <a:latin typeface="Cambria Math"/>
                          <a:ea typeface="Cambria Math"/>
                          <a:cs typeface="Cambria Math"/>
                        </a:rPr>
                        <m:t>→ A=D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=C+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A,q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-qBq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线性部分退化为纯四元数对易子（纯旋转）</a:t>
            </a:r>
            <a:r>
              <a:rPr lang="en-US"/>
              <a:t>,由于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Z是表示了MZM → ancilla即多少振幅泄漏到了 ancilla</a:t>
            </a:r>
            <a:r>
              <a:rPr lang="en-US"/>
              <a:t>,这里退化也就是说明了ancilla可以在现在的这种的情况下吸收到q里面.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代入X(t)得到: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̇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=AX+BZ=AX+B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qZ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=(A+Bq)X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/>
              <a:t>因此可以得到: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=T exp(</m:t>
                      </m:r>
                      <m:nary>
                        <m:naryPr>
                          <m:chr m:val="∫"/>
                          <m:grow m:val="off"/>
                          <m:limLoc m:val="subSup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eff</m:t>
                              </m:r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</m:d>
                            </m:sub>
                          </m:s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ds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   ,      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=1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/>
              <a:t>其中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=A+Bq ∈ su(2)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,可以具体表示成: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369649938" name=""/>
          <p:cNvSpPr txBox="1"/>
          <p:nvPr/>
        </p:nvSpPr>
        <p:spPr bwMode="auto">
          <a:xfrm rot="0" flipH="0" flipV="0">
            <a:off x="1377638" y="423333"/>
            <a:ext cx="5750638" cy="4366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1"/>
              <a:t>E1=0, t1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≠</a:t>
            </a:r>
            <a:r>
              <a:rPr lang="en-US" sz="2200" b="1"/>
              <a:t>0极限验证:</a:t>
            </a:r>
            <a:endParaRPr/>
          </a:p>
        </p:txBody>
      </p:sp>
      <p:pic>
        <p:nvPicPr>
          <p:cNvPr id="31286553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33912" y="4963583"/>
            <a:ext cx="4572000" cy="8381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984809" name=""/>
          <p:cNvSpPr txBox="1"/>
          <p:nvPr/>
        </p:nvSpPr>
        <p:spPr bwMode="auto">
          <a:xfrm rot="0" flipH="0" flipV="0">
            <a:off x="407498" y="282222"/>
            <a:ext cx="12064683" cy="637656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	得到有效哈密顿: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iK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=i(A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+B(t)q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/>
              <a:t>对应的: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二次项生成封闭 su(2) -&gt; SO(3) 旋转。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具体闭包: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{"/>
                          <m:endChr m:val="}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/>
              <a:t>构成su(2)三元组,所有对易操作全在su(2)内.因此演化算符在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{"/>
                          <m:endChr m:val="}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,γ</m:t>
                              </m:r>
                            </m:e>
                            <m:sub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这三个majorana的空间上满足SO(3)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在E1=0时,哈密顿中没有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/>
              <a:t>,也就是没有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/>
              <a:t>方向（从A=D得到ancilla对称）.即在x-y平面内.t1和之前t2,t3不同，t2,t3对应的是A的分量，是移入/出QD，而t1是B的分量，表示majorana的间接耦合。</a:t>
            </a:r>
            <a:r>
              <a:rPr lang="en-US"/>
              <a:t>通过B给出了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演化的解:</a:t>
            </a:r>
            <a:endParaRPr sz="1800"/>
          </a:p>
          <a:p>
            <a:pPr>
              <a:defRPr/>
            </a:pPr>
            <a:endParaRPr sz="18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123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=exp(-iϕ</m:t>
                      </m:r>
                      <m:acc>
                        <m:accPr>
                          <m:chr m:val="̂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acc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acc>
                        <m:accPr>
                          <m:chr m:val="⃑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</m:acc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endParaRPr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ϕ=</m:t>
                      </m:r>
                      <m:rad>
                        <m:radPr>
                          <m:degHide m:val="on"/>
                          <m:ctrlPr>
                            <a:rPr lang="zh-CN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>
                          <m:r>
                            <m:rPr/>
                            <a:rPr sz="1800">
                              <a:latin typeface="Cambria Math"/>
                              <a:ea typeface="Cambria Math"/>
                              <a:cs typeface="Cambria Math"/>
                            </a:rPr>
                            <m:t/>
                          </m:r>
                        </m:deg>
                        <m:e>
                          <m:sSup>
                            <m:sSup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zh-CN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zh-CN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i"/>
                                        </m:rPr>
                                        <a:rPr lang="zh-CN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zh-CN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/>
                                        <a:rPr lang="zh-CN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m:rPr/>
                                        <a:rPr lang="zh-CN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  </m:t>
                      </m:r>
                      <m:acc>
                        <m:accPr>
                          <m:chr m:val="̂"/>
                          <m:ctrlPr>
                            <a:rPr lang="zh-CN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zh-CN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,0,Φ</m:t>
                              </m:r>
                            </m:e>
                            <m:sub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sub>
                          </m:s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=(cos 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,sin 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α,0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  ,  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zh-CN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,  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grow m:val="off"/>
                          <m:limLoc m:val="subSup"/>
                          <m:ctrlPr>
                            <a:rPr lang="zh-CN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D(s)ds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endParaRPr sz="1800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其中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α=</m:t>
                          </m:r>
                          <m:f>
                            <m:fPr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G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</mc:Choice>
              <mc:Fallback/>
            </mc:AlternateContent>
            <a:endParaRPr sz="18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是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t1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和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τ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的连续函数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-&gt;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ϕ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扫描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f>
                        <m:f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>
                          <m:sty m:val="i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∞]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，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α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扫描 [0,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/2]。由此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123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覆盖 Bloch 球上以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trlPr>
                            <a:rPr lang="zh-CN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方向为起点的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所有旋转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,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即任意 Bloch 旋转</a:t>
            </a:r>
            <a:endParaRPr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076725" name=""/>
          <p:cNvSpPr txBox="1"/>
          <p:nvPr/>
        </p:nvSpPr>
        <p:spPr bwMode="auto">
          <a:xfrm rot="0" flipH="0" flipV="0">
            <a:off x="654444" y="970138"/>
            <a:ext cx="110066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475348408" name=""/>
          <p:cNvSpPr txBox="1"/>
          <p:nvPr/>
        </p:nvSpPr>
        <p:spPr bwMode="auto">
          <a:xfrm rot="0" flipH="0" flipV="0">
            <a:off x="566249" y="1023055"/>
            <a:ext cx="3384509" cy="373303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一般情况下</a:t>
            </a:r>
            <a:r>
              <a:rPr lang="en-US"/>
              <a:t>:</a:t>
            </a:r>
            <a:endParaRPr lang="en-US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按论文 Fig 1 的 参数设置:E1=0.01meV，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=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=0.3 meV。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横轴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τ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=0.2∼12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（单位 100/meV，与论文一致），纵轴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lg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/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=-1∼1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，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即 t1/E1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从0.1到10。双次 swap（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6τ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）。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11043370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29305" y="905785"/>
            <a:ext cx="8099987" cy="56699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03128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7699" y="1494895"/>
            <a:ext cx="10896599" cy="3762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董洋</dc:creator>
  <cp:lastModifiedBy/>
  <cp:revision>425</cp:revision>
  <dcterms:created xsi:type="dcterms:W3CDTF">2020-08-21T00:34:25Z</dcterms:created>
  <dcterms:modified xsi:type="dcterms:W3CDTF">2026-06-02T21:02:53Z</dcterms:modified>
</cp:coreProperties>
</file>