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2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21.xml" ContentType="application/vnd.openxmlformats-officedocument.presentationml.notesSlide+xml"/>
  <Override PartName="/ppt/notesSlides/notesSlide14.xml" ContentType="application/vnd.openxmlformats-officedocument.presentationml.notes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Slides/notesSlide22.xml" ContentType="application/vnd.openxmlformats-officedocument.presentationml.notesSlide+xml"/>
  <Override PartName="/ppt/slideLayouts/slideLayout4.xml" ContentType="application/vnd.openxmlformats-officedocument.presentationml.slideLayout+xml"/>
  <Override PartName="/ppt/notesSlides/notesSlide20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3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slides/slide20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22.xml" ContentType="application/vnd.openxmlformats-officedocument.presentationml.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23.xml" ContentType="application/vnd.openxmlformats-officedocument.presentationml.slide+xml"/>
  <Override PartName="/ppt/slides/slide26.xml" ContentType="application/vnd.openxmlformats-officedocument.presentationml.slide+xml"/>
  <Override PartName="/ppt/tableStyles.xml" ContentType="application/vnd.openxmlformats-officedocument.presentationml.tableStyles+xml"/>
  <Override PartName="/ppt/notesSlides/notesSlide4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30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</p:sldIdLst>
  <p:sldSz cx="12192000" cy="6858000"/>
  <p:notesSz cx="6858000" cy="9144000"/>
  <p:defaultTextStyle>
    <a:defPPr>
      <a:defRPr lang="zh-CN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50" d="100"/>
          <a:sy n="50" d="100"/>
        </p:scale>
        <p:origin x="1176" y="504"/>
      </p:cViewPr>
      <p:guideLst>
        <p:guide pos="415"/>
        <p:guide pos="7256"/>
        <p:guide pos="663" orient="horz"/>
        <p:guide pos="712" orient="horz"/>
        <p:guide pos="3928" orient="horz"/>
        <p:guide pos="3861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 /><Relationship Id="rId32" Type="http://schemas.openxmlformats.org/officeDocument/2006/relationships/tableStyles" Target="tableStyles.xml" /><Relationship Id="rId3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2083833" name="页眉占位符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467905464" name="日期占位符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C1BB5295-0690-45DE-9E01-B4636744B25F}" type="datetimeFigureOut">
              <a:rPr lang="zh-CN"/>
              <a:t>2021/9/7</a:t>
            </a:fld>
            <a:endParaRPr lang="zh-CN"/>
          </a:p>
        </p:txBody>
      </p:sp>
      <p:sp>
        <p:nvSpPr>
          <p:cNvPr id="611262000" name="幻灯片图像占位符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zh-CN"/>
          </a:p>
        </p:txBody>
      </p:sp>
      <p:sp>
        <p:nvSpPr>
          <p:cNvPr id="1680491352" name="备注占位符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zh-CN"/>
              <a:t>编辑母版文本样式</a:t>
            </a:r>
            <a:endParaRPr/>
          </a:p>
          <a:p>
            <a:pPr lvl="1">
              <a:defRPr/>
            </a:pPr>
            <a:r>
              <a:rPr lang="zh-CN"/>
              <a:t>第二级</a:t>
            </a:r>
            <a:endParaRPr/>
          </a:p>
          <a:p>
            <a:pPr lvl="2">
              <a:defRPr/>
            </a:pPr>
            <a:r>
              <a:rPr lang="zh-CN"/>
              <a:t>第三级</a:t>
            </a:r>
            <a:endParaRPr/>
          </a:p>
          <a:p>
            <a:pPr lvl="3">
              <a:defRPr/>
            </a:pPr>
            <a:r>
              <a:rPr lang="zh-CN"/>
              <a:t>第四级</a:t>
            </a:r>
            <a:endParaRPr/>
          </a:p>
          <a:p>
            <a:pPr lvl="4">
              <a:defRPr/>
            </a:pPr>
            <a:r>
              <a:rPr lang="zh-CN"/>
              <a:t>第五级</a:t>
            </a:r>
            <a:endParaRPr/>
          </a:p>
        </p:txBody>
      </p:sp>
      <p:sp>
        <p:nvSpPr>
          <p:cNvPr id="1525076077" name="页脚占位符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616482874" name="灯片编号占位符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93413C37-BE2C-4CB8-940D-F8BE2EE62933}" type="slidenum">
              <a:rPr lang="zh-CN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 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 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66925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065874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6624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A4AF97-2A97-DEA3-B3DF-60D3FBF37E7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147D071-C67A-966B-27DA-0E5DDB58E83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22179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88032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79440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0076BA-8528-08C5-AC35-E374D891707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148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197142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50590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211C-18F4-B277-78C1-2D533ED4FD7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34888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739363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36528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AFC68C2-2105-EEF9-6D86-E1997AF83A6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05265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55621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36183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12C3BF-CE57-134F-CD6F-D50E865DCD7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46292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532034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80372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510EAFD-7939-D5EE-FA38-A05AE94C007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11820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27993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56039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A5B110-22EB-3199-F8D9-90DCC00937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24193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60012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96220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E8F0C4A-F747-7201-B03E-681D4418D90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05504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852184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65696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42DFE22-2563-CE1F-C2E4-2D4ED028E37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62971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227812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5932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CD4752-6C11-9A6A-3519-EA3FB8C23D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904460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83026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32855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01F27C-8447-064B-C769-9AB0FC81F61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3857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76817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00905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A7D0E2-E51D-D32B-3F29-B4760579376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41318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637758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52500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36B9F23-7434-91EA-284F-DA81AF320FD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14060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142663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6970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76614C4-DB72-84EF-DF6A-CA863BF54C2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77362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970688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07189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AC5DFB-726E-D5D6-5F26-979AD1EBF1B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29020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152831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21852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333775-1423-CC68-2036-1CC6B97AF65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F09895-8846-678F-5CF0-FBA746D02C0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59278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593315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68514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2B3441-9060-FF8B-E399-DEEA457C895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44479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239111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22487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2970EDB-5D7F-56E8-A82E-257C81E968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20990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9972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92319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B040F15-ECB6-63FC-142B-F04BA101555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0DE1F5F-72C3-D895-E7A8-3B8EF41C326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F26AE9-49F0-9AFB-8A73-63FEB19ED0E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38246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108929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74705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9652E2-86EA-7241-9A65-6213F31C74F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49019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615378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80620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798162C-63EF-8F67-1D25-6DB2BADB18A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EB58967-6F53-C420-A7D3-C0C7002C1AE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标题幻灯片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仅标题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04072782" name="图片 1"/>
          <p:cNvPicPr>
            <a:picLocks noChangeAspect="1"/>
          </p:cNvPicPr>
          <p:nvPr userDrawn="1"/>
        </p:nvPicPr>
        <p:blipFill rotWithShape="1">
          <a:blip r:embed="rId2"/>
          <a:srcRect l="1" t="0" r="33919" b="0"/>
          <a:stretch/>
        </p:blipFill>
        <p:spPr bwMode="auto">
          <a:xfrm>
            <a:off x="2737536" y="-23325"/>
            <a:ext cx="9450900" cy="6862666"/>
          </a:xfrm>
          <a:prstGeom prst="rect">
            <a:avLst/>
          </a:prstGeom>
        </p:spPr>
      </p:pic>
      <p:sp>
        <p:nvSpPr>
          <p:cNvPr id="1975041223" name="矩形 11"/>
          <p:cNvSpPr/>
          <p:nvPr/>
        </p:nvSpPr>
        <p:spPr bwMode="auto">
          <a:xfrm flipH="1">
            <a:off x="0" y="-9328"/>
            <a:ext cx="9172142" cy="6858000"/>
          </a:xfrm>
          <a:custGeom>
            <a:avLst/>
            <a:gdLst/>
            <a:ahLst/>
            <a:cxnLst/>
            <a:rect l="l" t="t" r="r" b="b"/>
            <a:pathLst>
              <a:path w="6444208" h="5143500" fill="norm" stroke="1" extrusionOk="0">
                <a:moveTo>
                  <a:pt x="2078067" y="0"/>
                </a:moveTo>
                <a:lnTo>
                  <a:pt x="6444208" y="0"/>
                </a:lnTo>
                <a:lnTo>
                  <a:pt x="6444208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sz="1800" b="0" i="0" u="none" strike="noStrike" cap="none" spc="0">
              <a:ln>
                <a:noFill/>
              </a:ln>
              <a:solidFill>
                <a:srgbClr val="FFFFFF"/>
              </a:solidFill>
              <a:latin typeface="思源黑体 CN Normal"/>
              <a:cs typeface="+mn-cs"/>
            </a:endParaRPr>
          </a:p>
        </p:txBody>
      </p:sp>
      <p:grpSp>
        <p:nvGrpSpPr>
          <p:cNvPr id="1459406915" name="组合 4"/>
          <p:cNvGrpSpPr/>
          <p:nvPr/>
        </p:nvGrpSpPr>
        <p:grpSpPr bwMode="auto">
          <a:xfrm flipH="1">
            <a:off x="6096000" y="-18659"/>
            <a:ext cx="3603649" cy="6858000"/>
            <a:chOff x="1531613" y="0"/>
            <a:chExt cx="3375826" cy="6858000"/>
          </a:xfrm>
        </p:grpSpPr>
        <p:sp>
          <p:nvSpPr>
            <p:cNvPr id="6" name="任意多边形: 形状 5"/>
            <p:cNvSpPr/>
            <p:nvPr/>
          </p:nvSpPr>
          <p:spPr bwMode="auto">
            <a:xfrm>
              <a:off x="1761297" y="0"/>
              <a:ext cx="3146142" cy="6858000"/>
            </a:xfrm>
            <a:custGeom>
              <a:avLst/>
              <a:gdLst>
                <a:gd name="connsiteX0" fmla="*/ 2770756 w 3146142"/>
                <a:gd name="connsiteY0" fmla="*/ 0 h 6858000"/>
                <a:gd name="connsiteX1" fmla="*/ 3146142 w 3146142"/>
                <a:gd name="connsiteY1" fmla="*/ 0 h 6858000"/>
                <a:gd name="connsiteX2" fmla="*/ 375386 w 3146142"/>
                <a:gd name="connsiteY2" fmla="*/ 6858000 h 6858000"/>
                <a:gd name="connsiteX3" fmla="*/ 0 w 3146142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46142" h="6858000" fill="norm" stroke="1" extrusionOk="0">
                  <a:moveTo>
                    <a:pt x="2770756" y="0"/>
                  </a:moveTo>
                  <a:lnTo>
                    <a:pt x="3146142" y="0"/>
                  </a:lnTo>
                  <a:lnTo>
                    <a:pt x="375386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005EA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zh-CN" sz="18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思源黑体 CN Normal"/>
                <a:cs typeface="+mn-cs"/>
              </a:endParaRPr>
            </a:p>
          </p:txBody>
        </p:sp>
        <p:sp>
          <p:nvSpPr>
            <p:cNvPr id="7" name="任意多边形: 形状 6"/>
            <p:cNvSpPr/>
            <p:nvPr/>
          </p:nvSpPr>
          <p:spPr bwMode="auto">
            <a:xfrm>
              <a:off x="1531613" y="0"/>
              <a:ext cx="3030637" cy="6858000"/>
            </a:xfrm>
            <a:custGeom>
              <a:avLst/>
              <a:gdLst>
                <a:gd name="connsiteX0" fmla="*/ 2770756 w 3030637"/>
                <a:gd name="connsiteY0" fmla="*/ 0 h 6858000"/>
                <a:gd name="connsiteX1" fmla="*/ 3030637 w 3030637"/>
                <a:gd name="connsiteY1" fmla="*/ 0 h 6858000"/>
                <a:gd name="connsiteX2" fmla="*/ 259881 w 3030637"/>
                <a:gd name="connsiteY2" fmla="*/ 6858000 h 6858000"/>
                <a:gd name="connsiteX3" fmla="*/ 0 w 3030637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0637" h="6858000" fill="norm" stroke="1" extrusionOk="0">
                  <a:moveTo>
                    <a:pt x="2770756" y="0"/>
                  </a:moveTo>
                  <a:lnTo>
                    <a:pt x="3030637" y="0"/>
                  </a:lnTo>
                  <a:lnTo>
                    <a:pt x="259881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039AC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zh-CN" sz="18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思源黑体 CN Normal"/>
                <a:cs typeface="+mn-cs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仅标题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21530885" name="组合 2"/>
          <p:cNvGrpSpPr/>
          <p:nvPr userDrawn="1"/>
        </p:nvGrpSpPr>
        <p:grpSpPr bwMode="auto">
          <a:xfrm>
            <a:off x="-61453" y="-11151"/>
            <a:ext cx="12314904" cy="6909263"/>
            <a:chOff x="-61453" y="-11151"/>
            <a:chExt cx="12314904" cy="6909263"/>
          </a:xfrm>
        </p:grpSpPr>
        <p:pic>
          <p:nvPicPr>
            <p:cNvPr id="4" name="图片 3"/>
            <p:cNvPicPr>
              <a:picLocks noChangeAspect="1"/>
            </p:cNvPicPr>
            <p:nvPr userDrawn="1"/>
          </p:nvPicPr>
          <p:blipFill rotWithShape="1">
            <a:blip r:embed="rId2"/>
            <a:srcRect l="0" t="0" r="0" b="25926"/>
            <a:stretch/>
          </p:blipFill>
          <p:spPr bwMode="auto">
            <a:xfrm>
              <a:off x="-61452" y="-11151"/>
              <a:ext cx="12314903" cy="6909263"/>
            </a:xfrm>
            <a:prstGeom prst="rect">
              <a:avLst/>
            </a:prstGeom>
          </p:spPr>
        </p:pic>
        <p:sp>
          <p:nvSpPr>
            <p:cNvPr id="5" name="矩形 4"/>
            <p:cNvSpPr/>
            <p:nvPr userDrawn="1"/>
          </p:nvSpPr>
          <p:spPr bwMode="auto">
            <a:xfrm>
              <a:off x="-61453" y="0"/>
              <a:ext cx="12314903" cy="6898112"/>
            </a:xfrm>
            <a:prstGeom prst="rect">
              <a:avLst/>
            </a:prstGeom>
            <a:gradFill>
              <a:gsLst>
                <a:gs pos="0">
                  <a:srgbClr val="1A5E87"/>
                </a:gs>
                <a:gs pos="100000">
                  <a:srgbClr val="04033F">
                    <a:alpha val="80000"/>
                  </a:srgbClr>
                </a:gs>
              </a:gsLst>
              <a:lin ang="27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userDrawn="1">
  <p:cSld name="2_标题幻灯片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76111535" name="组合 3"/>
          <p:cNvGrpSpPr/>
          <p:nvPr userDrawn="1"/>
        </p:nvGrpSpPr>
        <p:grpSpPr bwMode="auto">
          <a:xfrm>
            <a:off x="394159" y="310888"/>
            <a:ext cx="682341" cy="539179"/>
            <a:chOff x="1801006" y="1526207"/>
            <a:chExt cx="1242672" cy="981947"/>
          </a:xfrm>
        </p:grpSpPr>
        <p:sp>
          <p:nvSpPr>
            <p:cNvPr id="5" name="矩形 4"/>
            <p:cNvSpPr/>
            <p:nvPr userDrawn="1"/>
          </p:nvSpPr>
          <p:spPr bwMode="auto">
            <a:xfrm>
              <a:off x="2224301" y="1732937"/>
              <a:ext cx="819377" cy="695740"/>
            </a:xfrm>
            <a:prstGeom prst="rect">
              <a:avLst/>
            </a:prstGeom>
            <a:solidFill>
              <a:srgbClr val="89DFF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zh-CN" sz="1800" b="0" i="0" u="none" strike="noStrike" cap="none" spc="0">
                <a:ln>
                  <a:noFill/>
                </a:ln>
                <a:solidFill>
                  <a:prstClr val="white"/>
                </a:solidFill>
                <a:latin typeface="Arial"/>
                <a:ea typeface="黑体"/>
                <a:cs typeface="+mn-cs"/>
              </a:endParaRPr>
            </a:p>
          </p:txBody>
        </p:sp>
        <p:sp>
          <p:nvSpPr>
            <p:cNvPr id="6" name="任意多边形 13"/>
            <p:cNvSpPr/>
            <p:nvPr userDrawn="1"/>
          </p:nvSpPr>
          <p:spPr bwMode="auto">
            <a:xfrm>
              <a:off x="1801006" y="1526207"/>
              <a:ext cx="1063935" cy="981947"/>
            </a:xfrm>
            <a:custGeom>
              <a:avLst/>
              <a:gdLst>
                <a:gd name="connsiteX0" fmla="*/ 0 w 2864941"/>
                <a:gd name="connsiteY0" fmla="*/ 0 h 981947"/>
                <a:gd name="connsiteX1" fmla="*/ 2864941 w 2864941"/>
                <a:gd name="connsiteY1" fmla="*/ 0 h 981947"/>
                <a:gd name="connsiteX2" fmla="*/ 2041802 w 2864941"/>
                <a:gd name="connsiteY2" fmla="*/ 981947 h 981947"/>
                <a:gd name="connsiteX3" fmla="*/ 0 w 2864941"/>
                <a:gd name="connsiteY3" fmla="*/ 981947 h 98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64941" h="981947" fill="norm" stroke="1" extrusionOk="0">
                  <a:moveTo>
                    <a:pt x="0" y="0"/>
                  </a:moveTo>
                  <a:lnTo>
                    <a:pt x="2864941" y="0"/>
                  </a:lnTo>
                  <a:lnTo>
                    <a:pt x="2041802" y="981947"/>
                  </a:lnTo>
                  <a:lnTo>
                    <a:pt x="0" y="981947"/>
                  </a:lnTo>
                  <a:close/>
                </a:path>
              </a:pathLst>
            </a:custGeom>
            <a:solidFill>
              <a:srgbClr val="005AA6"/>
            </a:solidFill>
            <a:ln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zh-CN" sz="3000" b="1" i="0" u="none" strike="noStrike" cap="none" spc="0">
                <a:ln>
                  <a:noFill/>
                </a:ln>
                <a:solidFill>
                  <a:prstClr val="white"/>
                </a:solidFill>
                <a:latin typeface="Arial"/>
                <a:ea typeface="黑体"/>
                <a:cs typeface="+mn-cs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8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9.pn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0.pn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1.pn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2.png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2147922" name="椭圆 2"/>
          <p:cNvSpPr/>
          <p:nvPr/>
        </p:nvSpPr>
        <p:spPr bwMode="auto">
          <a:xfrm>
            <a:off x="8540878" y="2060294"/>
            <a:ext cx="4899047" cy="4899047"/>
          </a:xfrm>
          <a:prstGeom prst="ellipse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sz="1800" b="0" i="0" u="none" strike="noStrike" cap="none" spc="0">
              <a:ln>
                <a:noFill/>
              </a:ln>
              <a:solidFill>
                <a:prstClr val="white"/>
              </a:solidFill>
              <a:latin typeface="等线"/>
              <a:ea typeface="等线"/>
              <a:cs typeface="+mn-cs"/>
            </a:endParaRPr>
          </a:p>
        </p:txBody>
      </p:sp>
      <p:sp>
        <p:nvSpPr>
          <p:cNvPr id="1863845757" name="椭圆 3"/>
          <p:cNvSpPr/>
          <p:nvPr/>
        </p:nvSpPr>
        <p:spPr bwMode="auto">
          <a:xfrm>
            <a:off x="8075444" y="1174831"/>
            <a:ext cx="3453795" cy="3453795"/>
          </a:xfrm>
          <a:prstGeom prst="ellipse">
            <a:avLst/>
          </a:prstGeom>
          <a:solidFill>
            <a:srgbClr val="005E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sz="1800" b="0" i="0" u="none" strike="noStrike" cap="none" spc="0">
              <a:ln>
                <a:noFill/>
              </a:ln>
              <a:solidFill>
                <a:prstClr val="white"/>
              </a:solidFill>
              <a:latin typeface="等线"/>
              <a:ea typeface="等线"/>
              <a:cs typeface="+mn-cs"/>
            </a:endParaRPr>
          </a:p>
        </p:txBody>
      </p:sp>
      <p:sp>
        <p:nvSpPr>
          <p:cNvPr id="685729226" name="椭圆 4"/>
          <p:cNvSpPr/>
          <p:nvPr/>
        </p:nvSpPr>
        <p:spPr bwMode="auto">
          <a:xfrm>
            <a:off x="10959987" y="4479403"/>
            <a:ext cx="2327538" cy="2327538"/>
          </a:xfrm>
          <a:prstGeom prst="ellipse">
            <a:avLst/>
          </a:prstGeom>
          <a:solidFill>
            <a:srgbClr val="039A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sz="1800" b="0" i="0" u="none" strike="noStrike" cap="none" spc="0">
              <a:ln>
                <a:noFill/>
              </a:ln>
              <a:solidFill>
                <a:prstClr val="white"/>
              </a:solidFill>
              <a:latin typeface="等线"/>
              <a:ea typeface="等线"/>
              <a:cs typeface="+mn-cs"/>
            </a:endParaRPr>
          </a:p>
        </p:txBody>
      </p:sp>
      <p:sp>
        <p:nvSpPr>
          <p:cNvPr id="1925827243" name="椭圆 6"/>
          <p:cNvSpPr/>
          <p:nvPr/>
        </p:nvSpPr>
        <p:spPr bwMode="auto">
          <a:xfrm>
            <a:off x="7992567" y="1639577"/>
            <a:ext cx="659180" cy="659180"/>
          </a:xfrm>
          <a:prstGeom prst="ellipse">
            <a:avLst/>
          </a:prstGeom>
          <a:noFill/>
          <a:ln w="254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sz="1800" b="0" i="0" u="none" strike="noStrike" cap="none" spc="0">
              <a:ln>
                <a:noFill/>
              </a:ln>
              <a:solidFill>
                <a:prstClr val="white"/>
              </a:solidFill>
              <a:latin typeface="等线"/>
              <a:ea typeface="等线"/>
              <a:cs typeface="+mn-cs"/>
            </a:endParaRPr>
          </a:p>
        </p:txBody>
      </p:sp>
      <p:sp>
        <p:nvSpPr>
          <p:cNvPr id="289279670" name="椭圆 8"/>
          <p:cNvSpPr/>
          <p:nvPr/>
        </p:nvSpPr>
        <p:spPr bwMode="auto">
          <a:xfrm>
            <a:off x="10990234" y="549683"/>
            <a:ext cx="1133522" cy="1133522"/>
          </a:xfrm>
          <a:prstGeom prst="ellipse">
            <a:avLst/>
          </a:prstGeom>
          <a:solidFill>
            <a:srgbClr val="89DF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sz="1800" b="0" i="0" u="none" strike="noStrike" cap="none" spc="0">
              <a:ln>
                <a:noFill/>
              </a:ln>
              <a:solidFill>
                <a:prstClr val="white"/>
              </a:solidFill>
              <a:latin typeface="等线"/>
              <a:ea typeface="等线"/>
              <a:cs typeface="+mn-cs"/>
            </a:endParaRPr>
          </a:p>
        </p:txBody>
      </p:sp>
      <p:sp>
        <p:nvSpPr>
          <p:cNvPr id="392430626" name="椭圆 10"/>
          <p:cNvSpPr/>
          <p:nvPr/>
        </p:nvSpPr>
        <p:spPr bwMode="auto">
          <a:xfrm>
            <a:off x="11436490" y="4001745"/>
            <a:ext cx="955315" cy="955315"/>
          </a:xfrm>
          <a:prstGeom prst="ellipse">
            <a:avLst/>
          </a:prstGeom>
          <a:noFill/>
          <a:ln w="254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sz="1800" b="0" i="0" u="none" strike="noStrike" cap="none" spc="0">
              <a:ln>
                <a:noFill/>
              </a:ln>
              <a:solidFill>
                <a:prstClr val="white"/>
              </a:solidFill>
              <a:latin typeface="等线"/>
              <a:ea typeface="等线"/>
              <a:cs typeface="+mn-cs"/>
            </a:endParaRPr>
          </a:p>
        </p:txBody>
      </p:sp>
      <p:sp>
        <p:nvSpPr>
          <p:cNvPr id="2009132303" name="certification_176902"/>
          <p:cNvSpPr>
            <a:spLocks noChangeAspect="1"/>
          </p:cNvSpPr>
          <p:nvPr/>
        </p:nvSpPr>
        <p:spPr bwMode="auto">
          <a:xfrm>
            <a:off x="9234239" y="2413012"/>
            <a:ext cx="1192187" cy="1064150"/>
          </a:xfrm>
          <a:custGeom>
            <a:avLst/>
            <a:gdLst>
              <a:gd name="connsiteX0" fmla="*/ 492538 w 606542"/>
              <a:gd name="connsiteY0" fmla="*/ 451854 h 541402"/>
              <a:gd name="connsiteX1" fmla="*/ 492538 w 606542"/>
              <a:gd name="connsiteY1" fmla="*/ 490671 h 541402"/>
              <a:gd name="connsiteX2" fmla="*/ 512579 w 606542"/>
              <a:gd name="connsiteY2" fmla="*/ 470656 h 541402"/>
              <a:gd name="connsiteX3" fmla="*/ 533532 w 606542"/>
              <a:gd name="connsiteY3" fmla="*/ 470656 h 541402"/>
              <a:gd name="connsiteX4" fmla="*/ 553725 w 606542"/>
              <a:gd name="connsiteY4" fmla="*/ 490671 h 541402"/>
              <a:gd name="connsiteX5" fmla="*/ 553725 w 606542"/>
              <a:gd name="connsiteY5" fmla="*/ 451854 h 541402"/>
              <a:gd name="connsiteX6" fmla="*/ 492538 w 606542"/>
              <a:gd name="connsiteY6" fmla="*/ 451854 h 541402"/>
              <a:gd name="connsiteX7" fmla="*/ 523056 w 606542"/>
              <a:gd name="connsiteY7" fmla="*/ 320846 h 541402"/>
              <a:gd name="connsiteX8" fmla="*/ 469460 w 606542"/>
              <a:gd name="connsiteY8" fmla="*/ 374371 h 541402"/>
              <a:gd name="connsiteX9" fmla="*/ 523056 w 606542"/>
              <a:gd name="connsiteY9" fmla="*/ 428048 h 541402"/>
              <a:gd name="connsiteX10" fmla="*/ 576804 w 606542"/>
              <a:gd name="connsiteY10" fmla="*/ 374371 h 541402"/>
              <a:gd name="connsiteX11" fmla="*/ 523056 w 606542"/>
              <a:gd name="connsiteY11" fmla="*/ 320846 h 541402"/>
              <a:gd name="connsiteX12" fmla="*/ 87139 w 606542"/>
              <a:gd name="connsiteY12" fmla="*/ 317968 h 541402"/>
              <a:gd name="connsiteX13" fmla="*/ 399762 w 606542"/>
              <a:gd name="connsiteY13" fmla="*/ 317968 h 541402"/>
              <a:gd name="connsiteX14" fmla="*/ 414642 w 606542"/>
              <a:gd name="connsiteY14" fmla="*/ 332822 h 541402"/>
              <a:gd name="connsiteX15" fmla="*/ 399762 w 606542"/>
              <a:gd name="connsiteY15" fmla="*/ 347676 h 541402"/>
              <a:gd name="connsiteX16" fmla="*/ 87139 w 606542"/>
              <a:gd name="connsiteY16" fmla="*/ 347676 h 541402"/>
              <a:gd name="connsiteX17" fmla="*/ 72259 w 606542"/>
              <a:gd name="connsiteY17" fmla="*/ 332822 h 541402"/>
              <a:gd name="connsiteX18" fmla="*/ 87139 w 606542"/>
              <a:gd name="connsiteY18" fmla="*/ 317968 h 541402"/>
              <a:gd name="connsiteX19" fmla="*/ 87138 w 606542"/>
              <a:gd name="connsiteY19" fmla="*/ 250366 h 541402"/>
              <a:gd name="connsiteX20" fmla="*/ 491922 w 606542"/>
              <a:gd name="connsiteY20" fmla="*/ 250366 h 541402"/>
              <a:gd name="connsiteX21" fmla="*/ 506801 w 606542"/>
              <a:gd name="connsiteY21" fmla="*/ 265220 h 541402"/>
              <a:gd name="connsiteX22" fmla="*/ 491922 w 606542"/>
              <a:gd name="connsiteY22" fmla="*/ 280074 h 541402"/>
              <a:gd name="connsiteX23" fmla="*/ 87138 w 606542"/>
              <a:gd name="connsiteY23" fmla="*/ 280074 h 541402"/>
              <a:gd name="connsiteX24" fmla="*/ 72259 w 606542"/>
              <a:gd name="connsiteY24" fmla="*/ 265220 h 541402"/>
              <a:gd name="connsiteX25" fmla="*/ 87138 w 606542"/>
              <a:gd name="connsiteY25" fmla="*/ 250366 h 541402"/>
              <a:gd name="connsiteX26" fmla="*/ 206946 w 606542"/>
              <a:gd name="connsiteY26" fmla="*/ 102245 h 541402"/>
              <a:gd name="connsiteX27" fmla="*/ 206946 w 606542"/>
              <a:gd name="connsiteY27" fmla="*/ 173171 h 541402"/>
              <a:gd name="connsiteX28" fmla="*/ 371973 w 606542"/>
              <a:gd name="connsiteY28" fmla="*/ 173171 h 541402"/>
              <a:gd name="connsiteX29" fmla="*/ 371973 w 606542"/>
              <a:gd name="connsiteY29" fmla="*/ 102245 h 541402"/>
              <a:gd name="connsiteX30" fmla="*/ 192068 w 606542"/>
              <a:gd name="connsiteY30" fmla="*/ 72541 h 541402"/>
              <a:gd name="connsiteX31" fmla="*/ 386851 w 606542"/>
              <a:gd name="connsiteY31" fmla="*/ 72541 h 541402"/>
              <a:gd name="connsiteX32" fmla="*/ 401729 w 606542"/>
              <a:gd name="connsiteY32" fmla="*/ 87393 h 541402"/>
              <a:gd name="connsiteX33" fmla="*/ 401729 w 606542"/>
              <a:gd name="connsiteY33" fmla="*/ 188023 h 541402"/>
              <a:gd name="connsiteX34" fmla="*/ 386851 w 606542"/>
              <a:gd name="connsiteY34" fmla="*/ 202875 h 541402"/>
              <a:gd name="connsiteX35" fmla="*/ 192068 w 606542"/>
              <a:gd name="connsiteY35" fmla="*/ 202875 h 541402"/>
              <a:gd name="connsiteX36" fmla="*/ 177190 w 606542"/>
              <a:gd name="connsiteY36" fmla="*/ 188023 h 541402"/>
              <a:gd name="connsiteX37" fmla="*/ 177190 w 606542"/>
              <a:gd name="connsiteY37" fmla="*/ 87393 h 541402"/>
              <a:gd name="connsiteX38" fmla="*/ 192068 w 606542"/>
              <a:gd name="connsiteY38" fmla="*/ 72541 h 541402"/>
              <a:gd name="connsiteX39" fmla="*/ 29759 w 606542"/>
              <a:gd name="connsiteY39" fmla="*/ 29719 h 541402"/>
              <a:gd name="connsiteX40" fmla="*/ 29759 w 606542"/>
              <a:gd name="connsiteY40" fmla="*/ 393931 h 541402"/>
              <a:gd name="connsiteX41" fmla="*/ 441978 w 606542"/>
              <a:gd name="connsiteY41" fmla="*/ 393931 h 541402"/>
              <a:gd name="connsiteX42" fmla="*/ 549170 w 606542"/>
              <a:gd name="connsiteY42" fmla="*/ 295221 h 541402"/>
              <a:gd name="connsiteX43" fmla="*/ 549170 w 606542"/>
              <a:gd name="connsiteY43" fmla="*/ 29719 h 541402"/>
              <a:gd name="connsiteX44" fmla="*/ 14879 w 606542"/>
              <a:gd name="connsiteY44" fmla="*/ 0 h 541402"/>
              <a:gd name="connsiteX45" fmla="*/ 564050 w 606542"/>
              <a:gd name="connsiteY45" fmla="*/ 0 h 541402"/>
              <a:gd name="connsiteX46" fmla="*/ 578929 w 606542"/>
              <a:gd name="connsiteY46" fmla="*/ 14860 h 541402"/>
              <a:gd name="connsiteX47" fmla="*/ 578929 w 606542"/>
              <a:gd name="connsiteY47" fmla="*/ 312658 h 541402"/>
              <a:gd name="connsiteX48" fmla="*/ 583484 w 606542"/>
              <a:gd name="connsiteY48" fmla="*/ 431839 h 541402"/>
              <a:gd name="connsiteX49" fmla="*/ 583484 w 606542"/>
              <a:gd name="connsiteY49" fmla="*/ 526606 h 541402"/>
              <a:gd name="connsiteX50" fmla="*/ 558128 w 606542"/>
              <a:gd name="connsiteY50" fmla="*/ 537069 h 541402"/>
              <a:gd name="connsiteX51" fmla="*/ 523056 w 606542"/>
              <a:gd name="connsiteY51" fmla="*/ 502194 h 541402"/>
              <a:gd name="connsiteX52" fmla="*/ 488135 w 606542"/>
              <a:gd name="connsiteY52" fmla="*/ 537069 h 541402"/>
              <a:gd name="connsiteX53" fmla="*/ 462779 w 606542"/>
              <a:gd name="connsiteY53" fmla="*/ 526606 h 541402"/>
              <a:gd name="connsiteX54" fmla="*/ 462779 w 606542"/>
              <a:gd name="connsiteY54" fmla="*/ 431839 h 541402"/>
              <a:gd name="connsiteX55" fmla="*/ 455795 w 606542"/>
              <a:gd name="connsiteY55" fmla="*/ 423651 h 541402"/>
              <a:gd name="connsiteX56" fmla="*/ 14879 w 606542"/>
              <a:gd name="connsiteY56" fmla="*/ 423651 h 541402"/>
              <a:gd name="connsiteX57" fmla="*/ 0 w 606542"/>
              <a:gd name="connsiteY57" fmla="*/ 408791 h 541402"/>
              <a:gd name="connsiteX58" fmla="*/ 0 w 606542"/>
              <a:gd name="connsiteY58" fmla="*/ 14860 h 541402"/>
              <a:gd name="connsiteX59" fmla="*/ 14879 w 606542"/>
              <a:gd name="connsiteY59" fmla="*/ 0 h 541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606542" h="541402" fill="norm" stroke="1" extrusionOk="0">
                <a:moveTo>
                  <a:pt x="492538" y="451854"/>
                </a:moveTo>
                <a:lnTo>
                  <a:pt x="492538" y="490671"/>
                </a:lnTo>
                <a:lnTo>
                  <a:pt x="512579" y="470656"/>
                </a:lnTo>
                <a:cubicBezTo>
                  <a:pt x="518349" y="464742"/>
                  <a:pt x="527762" y="464742"/>
                  <a:pt x="533532" y="470656"/>
                </a:cubicBezTo>
                <a:lnTo>
                  <a:pt x="553725" y="490671"/>
                </a:lnTo>
                <a:lnTo>
                  <a:pt x="553725" y="451854"/>
                </a:lnTo>
                <a:cubicBezTo>
                  <a:pt x="534139" y="459587"/>
                  <a:pt x="511972" y="459587"/>
                  <a:pt x="492538" y="451854"/>
                </a:cubicBezTo>
                <a:close/>
                <a:moveTo>
                  <a:pt x="523056" y="320846"/>
                </a:moveTo>
                <a:cubicBezTo>
                  <a:pt x="493449" y="320846"/>
                  <a:pt x="469460" y="344955"/>
                  <a:pt x="469460" y="374371"/>
                </a:cubicBezTo>
                <a:cubicBezTo>
                  <a:pt x="469460" y="403787"/>
                  <a:pt x="493297" y="428048"/>
                  <a:pt x="523056" y="428048"/>
                </a:cubicBezTo>
                <a:cubicBezTo>
                  <a:pt x="552663" y="428048"/>
                  <a:pt x="576804" y="404091"/>
                  <a:pt x="576804" y="374371"/>
                </a:cubicBezTo>
                <a:cubicBezTo>
                  <a:pt x="576804" y="344955"/>
                  <a:pt x="552663" y="320846"/>
                  <a:pt x="523056" y="320846"/>
                </a:cubicBezTo>
                <a:close/>
                <a:moveTo>
                  <a:pt x="87139" y="317968"/>
                </a:moveTo>
                <a:lnTo>
                  <a:pt x="399762" y="317968"/>
                </a:lnTo>
                <a:cubicBezTo>
                  <a:pt x="407961" y="317968"/>
                  <a:pt x="414642" y="324637"/>
                  <a:pt x="414642" y="332822"/>
                </a:cubicBezTo>
                <a:cubicBezTo>
                  <a:pt x="414642" y="341007"/>
                  <a:pt x="407961" y="347676"/>
                  <a:pt x="399762" y="347676"/>
                </a:cubicBezTo>
                <a:lnTo>
                  <a:pt x="87139" y="347676"/>
                </a:lnTo>
                <a:cubicBezTo>
                  <a:pt x="78788" y="347676"/>
                  <a:pt x="72259" y="341007"/>
                  <a:pt x="72259" y="332822"/>
                </a:cubicBezTo>
                <a:cubicBezTo>
                  <a:pt x="72259" y="324637"/>
                  <a:pt x="78788" y="317968"/>
                  <a:pt x="87139" y="317968"/>
                </a:cubicBezTo>
                <a:close/>
                <a:moveTo>
                  <a:pt x="87138" y="250366"/>
                </a:moveTo>
                <a:lnTo>
                  <a:pt x="491922" y="250366"/>
                </a:lnTo>
                <a:cubicBezTo>
                  <a:pt x="500120" y="250366"/>
                  <a:pt x="506801" y="257035"/>
                  <a:pt x="506801" y="265220"/>
                </a:cubicBezTo>
                <a:cubicBezTo>
                  <a:pt x="506801" y="273405"/>
                  <a:pt x="500120" y="280074"/>
                  <a:pt x="491922" y="280074"/>
                </a:cubicBezTo>
                <a:lnTo>
                  <a:pt x="87138" y="280074"/>
                </a:lnTo>
                <a:cubicBezTo>
                  <a:pt x="78788" y="280074"/>
                  <a:pt x="72259" y="273405"/>
                  <a:pt x="72259" y="265220"/>
                </a:cubicBezTo>
                <a:cubicBezTo>
                  <a:pt x="72259" y="257035"/>
                  <a:pt x="78788" y="250366"/>
                  <a:pt x="87138" y="250366"/>
                </a:cubicBezTo>
                <a:close/>
                <a:moveTo>
                  <a:pt x="206946" y="102245"/>
                </a:moveTo>
                <a:lnTo>
                  <a:pt x="206946" y="173171"/>
                </a:lnTo>
                <a:lnTo>
                  <a:pt x="371973" y="173171"/>
                </a:lnTo>
                <a:lnTo>
                  <a:pt x="371973" y="102245"/>
                </a:lnTo>
                <a:close/>
                <a:moveTo>
                  <a:pt x="192068" y="72541"/>
                </a:moveTo>
                <a:lnTo>
                  <a:pt x="386851" y="72541"/>
                </a:lnTo>
                <a:cubicBezTo>
                  <a:pt x="395049" y="72541"/>
                  <a:pt x="401729" y="79210"/>
                  <a:pt x="401729" y="87393"/>
                </a:cubicBezTo>
                <a:lnTo>
                  <a:pt x="401729" y="188023"/>
                </a:lnTo>
                <a:cubicBezTo>
                  <a:pt x="401729" y="196207"/>
                  <a:pt x="395049" y="202875"/>
                  <a:pt x="386851" y="202875"/>
                </a:cubicBezTo>
                <a:lnTo>
                  <a:pt x="192068" y="202875"/>
                </a:lnTo>
                <a:cubicBezTo>
                  <a:pt x="183870" y="202875"/>
                  <a:pt x="177190" y="196207"/>
                  <a:pt x="177190" y="188023"/>
                </a:cubicBezTo>
                <a:lnTo>
                  <a:pt x="177190" y="87393"/>
                </a:lnTo>
                <a:cubicBezTo>
                  <a:pt x="177190" y="79210"/>
                  <a:pt x="183870" y="72541"/>
                  <a:pt x="192068" y="72541"/>
                </a:cubicBezTo>
                <a:close/>
                <a:moveTo>
                  <a:pt x="29759" y="29719"/>
                </a:moveTo>
                <a:lnTo>
                  <a:pt x="29759" y="393931"/>
                </a:lnTo>
                <a:lnTo>
                  <a:pt x="441978" y="393931"/>
                </a:lnTo>
                <a:cubicBezTo>
                  <a:pt x="426643" y="330399"/>
                  <a:pt x="487527" y="274903"/>
                  <a:pt x="549170" y="295221"/>
                </a:cubicBezTo>
                <a:lnTo>
                  <a:pt x="549170" y="29719"/>
                </a:lnTo>
                <a:close/>
                <a:moveTo>
                  <a:pt x="14879" y="0"/>
                </a:moveTo>
                <a:lnTo>
                  <a:pt x="564050" y="0"/>
                </a:lnTo>
                <a:cubicBezTo>
                  <a:pt x="572249" y="0"/>
                  <a:pt x="578929" y="6672"/>
                  <a:pt x="578929" y="14860"/>
                </a:cubicBezTo>
                <a:lnTo>
                  <a:pt x="578929" y="312658"/>
                </a:lnTo>
                <a:cubicBezTo>
                  <a:pt x="614002" y="344197"/>
                  <a:pt x="615824" y="397874"/>
                  <a:pt x="583484" y="431839"/>
                </a:cubicBezTo>
                <a:lnTo>
                  <a:pt x="583484" y="526606"/>
                </a:lnTo>
                <a:cubicBezTo>
                  <a:pt x="583484" y="539798"/>
                  <a:pt x="567390" y="546318"/>
                  <a:pt x="558128" y="537069"/>
                </a:cubicBezTo>
                <a:lnTo>
                  <a:pt x="523056" y="502194"/>
                </a:lnTo>
                <a:lnTo>
                  <a:pt x="488135" y="537069"/>
                </a:lnTo>
                <a:cubicBezTo>
                  <a:pt x="478873" y="546318"/>
                  <a:pt x="462779" y="539798"/>
                  <a:pt x="462779" y="526606"/>
                </a:cubicBezTo>
                <a:lnTo>
                  <a:pt x="462779" y="431839"/>
                </a:lnTo>
                <a:cubicBezTo>
                  <a:pt x="460198" y="429261"/>
                  <a:pt x="457920" y="426532"/>
                  <a:pt x="455795" y="423651"/>
                </a:cubicBezTo>
                <a:lnTo>
                  <a:pt x="14879" y="423651"/>
                </a:lnTo>
                <a:cubicBezTo>
                  <a:pt x="6681" y="423651"/>
                  <a:pt x="0" y="416979"/>
                  <a:pt x="0" y="408791"/>
                </a:cubicBezTo>
                <a:lnTo>
                  <a:pt x="0" y="14860"/>
                </a:lnTo>
                <a:cubicBezTo>
                  <a:pt x="0" y="6672"/>
                  <a:pt x="6681" y="0"/>
                  <a:pt x="1487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pic>
        <p:nvPicPr>
          <p:cNvPr id="265932841" name="图片 12"/>
          <p:cNvPicPr>
            <a:picLocks noChangeAspect="1"/>
          </p:cNvPicPr>
          <p:nvPr/>
        </p:nvPicPr>
        <p:blipFill rotWithShape="1">
          <a:blip r:embed="rId3"/>
          <a:srcRect l="5748" t="32677" r="5111" b="3650"/>
          <a:stretch/>
        </p:blipFill>
        <p:spPr bwMode="auto">
          <a:xfrm>
            <a:off x="7785033" y="3640885"/>
            <a:ext cx="1740771" cy="1737864"/>
          </a:xfrm>
          <a:custGeom>
            <a:avLst/>
            <a:gdLst>
              <a:gd name="connsiteX0" fmla="*/ 1661106 w 3322212"/>
              <a:gd name="connsiteY0" fmla="*/ 0 h 3322212"/>
              <a:gd name="connsiteX1" fmla="*/ 3322212 w 3322212"/>
              <a:gd name="connsiteY1" fmla="*/ 1661106 h 3322212"/>
              <a:gd name="connsiteX2" fmla="*/ 1661106 w 3322212"/>
              <a:gd name="connsiteY2" fmla="*/ 3322212 h 3322212"/>
              <a:gd name="connsiteX3" fmla="*/ 0 w 3322212"/>
              <a:gd name="connsiteY3" fmla="*/ 1661106 h 3322212"/>
              <a:gd name="connsiteX4" fmla="*/ 1661106 w 3322212"/>
              <a:gd name="connsiteY4" fmla="*/ 0 h 3322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22212" h="3322212" fill="norm" stroke="1" extrusionOk="0">
                <a:moveTo>
                  <a:pt x="1661106" y="0"/>
                </a:moveTo>
                <a:cubicBezTo>
                  <a:pt x="2578510" y="0"/>
                  <a:pt x="3322212" y="743702"/>
                  <a:pt x="3322212" y="1661106"/>
                </a:cubicBezTo>
                <a:cubicBezTo>
                  <a:pt x="3322212" y="2578510"/>
                  <a:pt x="2578510" y="3322212"/>
                  <a:pt x="1661106" y="3322212"/>
                </a:cubicBezTo>
                <a:cubicBezTo>
                  <a:pt x="743702" y="3322212"/>
                  <a:pt x="0" y="2578510"/>
                  <a:pt x="0" y="1661106"/>
                </a:cubicBezTo>
                <a:cubicBezTo>
                  <a:pt x="0" y="743702"/>
                  <a:pt x="743702" y="0"/>
                  <a:pt x="1661106" y="0"/>
                </a:cubicBezTo>
                <a:close/>
              </a:path>
            </a:pathLst>
          </a:custGeom>
        </p:spPr>
      </p:pic>
      <p:sp>
        <p:nvSpPr>
          <p:cNvPr id="261021284" name=""/>
          <p:cNvSpPr txBox="1"/>
          <p:nvPr/>
        </p:nvSpPr>
        <p:spPr bwMode="auto">
          <a:xfrm rot="0" flipH="0" flipV="0">
            <a:off x="554398" y="2580040"/>
            <a:ext cx="6759628" cy="1200694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zh-CN" sz="3600" b="1" i="0" u="none" strike="noStrike" cap="none" spc="0">
                <a:solidFill>
                  <a:srgbClr val="333333"/>
                </a:solidFill>
                <a:latin typeface="0xProto Nerd Font Propo"/>
                <a:ea typeface="0xProto Nerd Font Propo"/>
                <a:cs typeface="0xProto Nerd Font Propo"/>
              </a:rPr>
              <a:t>四元数</a:t>
            </a:r>
            <a:r>
              <a:rPr lang="en-US" sz="3600" b="1" i="0" u="none" strike="noStrike" cap="none" spc="0">
                <a:solidFill>
                  <a:srgbClr val="333333"/>
                </a:solidFill>
                <a:latin typeface="0xProto Nerd Font Propo"/>
                <a:ea typeface="0xProto Nerd Font Propo"/>
                <a:cs typeface="0xProto Nerd Font Propo"/>
              </a:rPr>
              <a:t>-</a:t>
            </a:r>
            <a:r>
              <a:rPr lang="zh-CN" sz="3600" b="1" i="0" u="none" strike="noStrike" cap="none" spc="0">
                <a:solidFill>
                  <a:srgbClr val="333333"/>
                </a:solidFill>
                <a:latin typeface="0xProto Nerd Font Propo"/>
                <a:ea typeface="0xProto Nerd Font Propo"/>
                <a:cs typeface="0xProto Nerd Font Propo"/>
              </a:rPr>
              <a:t>Riccati</a:t>
            </a:r>
            <a:r>
              <a:rPr lang="en-US" sz="3600" b="1" i="0" u="none" strike="noStrike" cap="none" spc="0">
                <a:solidFill>
                  <a:srgbClr val="333333"/>
                </a:solidFill>
                <a:latin typeface="0xProto Nerd Font Propo"/>
                <a:ea typeface="0xProto Nerd Font Propo"/>
                <a:cs typeface="0xProto Nerd Font Propo"/>
              </a:rPr>
              <a:t>-</a:t>
            </a:r>
            <a:r>
              <a:rPr lang="zh-CN" sz="3600" b="1" i="0" u="none" strike="noStrike" cap="none" spc="0">
                <a:solidFill>
                  <a:srgbClr val="333333"/>
                </a:solidFill>
                <a:latin typeface="0xProto Nerd Font Propo"/>
                <a:ea typeface="0xProto Nerd Font Propo"/>
                <a:cs typeface="0xProto Nerd Font Propo"/>
              </a:rPr>
              <a:t>ODE方法</a:t>
            </a:r>
            <a:endParaRPr lang="zh-CN" sz="3600" b="1" i="0" u="none" strike="noStrike" cap="none" spc="0">
              <a:solidFill>
                <a:srgbClr val="333333"/>
              </a:solidFill>
              <a:latin typeface="0xProto Nerd Font Propo"/>
              <a:ea typeface="0xProto Nerd Font Propo"/>
              <a:cs typeface="0xProto Nerd Font Propo"/>
            </a:endParaRPr>
          </a:p>
          <a:p>
            <a:pPr>
              <a:defRPr/>
            </a:pPr>
            <a:r>
              <a:rPr lang="zh-CN" sz="3600" b="1" i="0" u="none" strike="noStrike" cap="none" spc="0">
                <a:solidFill>
                  <a:srgbClr val="333333"/>
                </a:solidFill>
                <a:latin typeface="0xProto Nerd Font Propo"/>
                <a:ea typeface="0xProto Nerd Font Propo"/>
                <a:cs typeface="0xProto Nerd Font Propo"/>
              </a:rPr>
              <a:t>表示SO</a:t>
            </a:r>
            <a:r>
              <a:rPr lang="en-US" sz="3600" b="1" i="0" u="none" strike="noStrike" cap="none" spc="0">
                <a:solidFill>
                  <a:srgbClr val="333333"/>
                </a:solidFill>
                <a:latin typeface="0xProto Nerd Font Propo"/>
                <a:ea typeface="0xProto Nerd Font Propo"/>
                <a:cs typeface="0xProto Nerd Font Propo"/>
              </a:rPr>
              <a:t>（5）</a:t>
            </a:r>
            <a:r>
              <a:rPr lang="zh-CN" sz="3600" b="1" i="0" u="none" strike="noStrike" cap="none" spc="0">
                <a:solidFill>
                  <a:srgbClr val="333333"/>
                </a:solidFill>
                <a:latin typeface="0xProto Nerd Font Propo"/>
                <a:ea typeface="0xProto Nerd Font Propo"/>
                <a:cs typeface="0xProto Nerd Font Propo"/>
              </a:rPr>
              <a:t>编织过程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1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0175133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525772" y="1245151"/>
            <a:ext cx="8567696" cy="4657750"/>
          </a:xfrm>
          <a:prstGeom prst="rect">
            <a:avLst/>
          </a:prstGeom>
        </p:spPr>
      </p:pic>
      <p:sp>
        <p:nvSpPr>
          <p:cNvPr id="1577216507" name=""/>
          <p:cNvSpPr txBox="1"/>
          <p:nvPr/>
        </p:nvSpPr>
        <p:spPr bwMode="auto">
          <a:xfrm rot="0" flipH="0" flipV="0">
            <a:off x="1543090" y="477469"/>
            <a:ext cx="9075087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zh-CN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DOI: 10.1103/PhysRevB.111.205411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5472831" name=""/>
          <p:cNvSpPr txBox="1"/>
          <p:nvPr/>
        </p:nvSpPr>
        <p:spPr bwMode="auto">
          <a:xfrm rot="0" flipH="0" flipV="0">
            <a:off x="383000" y="1002228"/>
            <a:ext cx="11386107" cy="471284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000"/>
              <a:t>从论文第二部分有效模型</a:t>
            </a:r>
            <a:r>
              <a:rPr lang="en-US" sz="2000"/>
              <a:t>出发:</a:t>
            </a:r>
            <a:endParaRPr sz="2000"/>
          </a:p>
          <a:p>
            <a:pPr>
              <a:defRPr/>
            </a:pPr>
            <a:endParaRPr sz="2000"/>
          </a:p>
          <a:p>
            <a:pPr>
              <a:defRPr/>
            </a:pPr>
            <a:endParaRPr sz="2000"/>
          </a:p>
          <a:p>
            <a:pPr>
              <a:defRPr/>
            </a:pPr>
            <a:endParaRPr sz="2000"/>
          </a:p>
          <a:p>
            <a:pPr>
              <a:defRPr/>
            </a:pPr>
            <a:endParaRPr sz="2000"/>
          </a:p>
          <a:p>
            <a:pPr>
              <a:defRPr/>
            </a:pPr>
            <a:endParaRPr sz="2000"/>
          </a:p>
          <a:p>
            <a:pPr>
              <a:defRPr/>
            </a:pPr>
            <a:endParaRPr sz="2000"/>
          </a:p>
          <a:p>
            <a:pPr>
              <a:defRPr/>
            </a:pPr>
            <a:endParaRPr sz="2000"/>
          </a:p>
          <a:p>
            <a:pPr>
              <a:defRPr/>
            </a:pPr>
            <a:endParaRPr sz="2000"/>
          </a:p>
          <a:p>
            <a:pPr>
              <a:defRPr/>
            </a:pPr>
            <a:endParaRPr sz="2000"/>
          </a:p>
          <a:p>
            <a:pPr>
              <a:defRPr/>
            </a:pPr>
            <a:endParaRPr sz="2000"/>
          </a:p>
          <a:p>
            <a:pPr>
              <a:defRPr/>
            </a:pPr>
            <a:endParaRPr sz="2000"/>
          </a:p>
          <a:p>
            <a:pPr>
              <a:defRPr/>
            </a:pPr>
            <a:r>
              <a:rPr lang="en-US" sz="2000"/>
              <a:t>第三部分在真实纳米线紧束缚下改变各种物理量,</a:t>
            </a:r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均匀、台阶势、光滑势、QD、无序</a:t>
            </a:r>
            <a:r>
              <a:rPr lang="en-US" sz="2000"/>
              <a:t>,</a:t>
            </a:r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展示不同物理机制如何产生不同的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 </m:t>
                      </m:r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  <m:sub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en-US" sz="2000"/>
              <a:t>, 以及和有效模型进行验证. 我们后续的方法重点在于对有效模型进行代数的分析.</a:t>
            </a:r>
            <a:endParaRPr sz="20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a:endParaRPr sz="2000"/>
          </a:p>
        </p:txBody>
      </p:sp>
      <p:sp>
        <p:nvSpPr>
          <p:cNvPr id="1253436013" name=""/>
          <p:cNvSpPr txBox="1"/>
          <p:nvPr/>
        </p:nvSpPr>
        <p:spPr bwMode="auto">
          <a:xfrm rot="0" flipH="0" flipV="0">
            <a:off x="1354498" y="323849"/>
            <a:ext cx="1928009" cy="4880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600" b="1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思路</a:t>
            </a:r>
            <a:endParaRPr sz="2600"/>
          </a:p>
        </p:txBody>
      </p:sp>
      <p:pic>
        <p:nvPicPr>
          <p:cNvPr id="26370428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382999" y="1650245"/>
            <a:ext cx="10442636" cy="2917331"/>
          </a:xfrm>
          <a:prstGeom prst="rect">
            <a:avLst/>
          </a:prstGeom>
        </p:spPr>
      </p:pic>
      <p:pic>
        <p:nvPicPr>
          <p:cNvPr id="921808898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8362517" y="213000"/>
            <a:ext cx="3554533" cy="15784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1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3524585" name=""/>
          <p:cNvSpPr txBox="1"/>
          <p:nvPr/>
        </p:nvSpPr>
        <p:spPr bwMode="auto">
          <a:xfrm rot="0" flipH="0" flipV="0">
            <a:off x="61776" y="1194954"/>
            <a:ext cx="8809784" cy="371690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800"/>
              <a:t>三段过程</a:t>
            </a:r>
            <a:r>
              <a:rPr lang="en-US" sz="1800"/>
              <a:t>:</a:t>
            </a:r>
            <a:endParaRPr lang="en-US" sz="1800"/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每段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τ</m:t>
                      </m:r>
                    </m:oMath>
                  </m:oMathPara>
                </a14:m>
              </mc:Choice>
              <mc:Fallback/>
            </mc:AlternateContent>
            <a:r>
              <a:rPr lang="en-US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 时长，门控函数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±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  <m:r>
                        <m:rPr/>
                        <a:rPr lang="en-US" sz="16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18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sty m:val="i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1±</m:t>
                          </m:r>
                          <m:func>
                            <m:funcPr>
                              <m:ctrlPr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cos</m:t>
                              </m:r>
                            </m:fName>
                            <m:e>
                              <m:r>
                                <m:rPr/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(πt/τ</m:t>
                              </m:r>
                            </m:e>
                          </m:func>
                          <m:r>
                            <m:rPr>
                              <m:sty m:val="i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i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</mc:Choice>
              <mc:Fallback/>
            </mc:AlternateContent>
            <a:endParaRPr lang="en-US" sz="1800"/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Step 1 (0→τ):      G1 关            -&gt;   t₂ 打开,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m:rPr/>
                        <a:rPr sz="1800">
                          <a:latin typeface="Cambria Math"/>
                          <a:ea typeface="Cambria Math"/>
                          <a:cs typeface="Cambria Math"/>
                        </a:rPr>
                        <m:t>→ 0</m:t>
                      </m:r>
                    </m:oMath>
                  </m:oMathPara>
                </a14:m>
              </mc:Choice>
              <mc:Fallback/>
            </mc:AlternateContent>
            <a:r>
              <a:rPr lang="en-US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     -&gt;    γ₂ 移入量子点</a:t>
            </a:r>
            <a:endParaRPr lang="en-US" sz="18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Step 2 (τ→2τ):    G2 关, G1 开  -&gt;  t₃ 打开, t₂ 关闭       -&gt;   γ₃ 接管, γ₂ 退出</a:t>
            </a:r>
            <a:endParaRPr lang="en-US" sz="18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Step 3 (2τ→3τ):  G2 开             -&gt;  t₃ 关闭,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en-US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恢复      -&gt;    γ₃ 退出,回到初态</a:t>
            </a:r>
            <a:endParaRPr lang="en-US" sz="18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        </a:t>
            </a:r>
            <a:endParaRPr lang="en-US" sz="18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结果: γ₂↔γ₃ 交换</a:t>
            </a:r>
            <a:endParaRPr lang="en-US" sz="1800"/>
          </a:p>
          <a:p>
            <a:pPr>
              <a:defRPr/>
            </a:pPr>
            <a:endParaRPr sz="1800"/>
          </a:p>
          <a:p>
            <a:pPr>
              <a:defRPr/>
            </a:pPr>
            <a:endParaRPr sz="1800"/>
          </a:p>
          <a:p>
            <a:pPr>
              <a:defRPr/>
            </a:pPr>
            <a:r>
              <a:rPr lang="en-US" sz="2000"/>
              <a:t>尝试的简化思路是,分析每一段的生成元,也就是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γ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γ</m:t>
                          </m:r>
                        </m:e>
                        <m:sub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en-US" sz="2000"/>
              <a:t>这个二次项的作用,通过分析每段的李代数闭包,判断这一段的演化是否对应了一个可以分解的代数结构,从而进行简化.如不能分解,就只能对整个闭包求解.</a:t>
            </a:r>
            <a:endParaRPr/>
          </a:p>
        </p:txBody>
      </p:sp>
      <p:pic>
        <p:nvPicPr>
          <p:cNvPr id="54219567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7686675" y="69272"/>
            <a:ext cx="4223552" cy="36714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1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7786930" name=""/>
          <p:cNvSpPr txBox="1"/>
          <p:nvPr/>
        </p:nvSpPr>
        <p:spPr bwMode="auto">
          <a:xfrm rot="0" flipH="0" flipV="0">
            <a:off x="1254166" y="388055"/>
            <a:ext cx="11328129" cy="466124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400" b="1">
                <a:latin typeface="ZedMono NFP Extd ExtBd Obl"/>
                <a:ea typeface="ZedMono NFP Extd ExtBd Obl"/>
                <a:cs typeface="ZedMono NFP Extd ExtBd Obl"/>
              </a:rPr>
              <a:t>第一部分</a:t>
            </a:r>
            <a:r>
              <a:rPr lang="en-US" sz="2400" b="1">
                <a:latin typeface="ZedMono NFP Extd ExtBd Obl"/>
                <a:ea typeface="ZedMono NFP Extd ExtBd Obl"/>
                <a:cs typeface="ZedMono NFP Extd ExtBd Obl"/>
              </a:rPr>
              <a:t>: 每步演化的李代数闭包:</a:t>
            </a:r>
            <a:endParaRPr lang="en-US" sz="2400" b="1">
              <a:latin typeface="ZedMono NFP Extd ExtBd Obl"/>
              <a:ea typeface="ZedMono NFP Extd ExtBd Obl"/>
              <a:cs typeface="ZedMono NFP Extd ExtBd Obl"/>
            </a:endParaRPr>
          </a:p>
        </p:txBody>
      </p:sp>
      <p:sp>
        <p:nvSpPr>
          <p:cNvPr id="1620401383" name=""/>
          <p:cNvSpPr txBox="1"/>
          <p:nvPr/>
        </p:nvSpPr>
        <p:spPr bwMode="auto">
          <a:xfrm rot="0" flipH="0" flipV="0">
            <a:off x="530970" y="970137"/>
            <a:ext cx="11782815" cy="543934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从</a:t>
            </a:r>
            <a:r>
              <a:rPr lang="en-US"/>
              <a:t>5个majorana开始,也就是5个Clifford代数的生成元</a:t>
            </a:r>
            <a:endParaRPr lang="en-US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Sup>
                        <m:sSubSupPr>
                          <m:alnScr m:val="off"/>
                          <m:ctrlPr>
                            <a:rPr lang="en-US" sz="18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1800" i="1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8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8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Γ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8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m:rPr>
                              <m:sty m:val="i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i=1</m:t>
                          </m:r>
                        </m:sub>
                        <m:sup>
                          <m:r>
                            <m:rPr>
                              <m:sty m:val="i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5</m:t>
                          </m:r>
                        </m:sup>
                      </m:sSubSup>
                      <m:r>
                        <m:rPr/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     ,      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8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sz="18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i"/>
                                    </m:rPr>
                                    <a:rPr lang="en-US" sz="18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Γ</m:t>
                                  </m:r>
                                </m:e>
                                <m:sub>
                                  <m:r>
                                    <m:rPr>
                                      <m:sty m:val="i"/>
                                    </m:rPr>
                                    <a:rPr lang="en-US" sz="18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  <m:r>
                                <m:rPr>
                                  <m:sty m:val="i"/>
                                </m:rPr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,Γ</m:t>
                              </m:r>
                            </m:e>
                            <m:sub>
                              <m:r>
                                <m:rPr>
                                  <m:sty m:val="i"/>
                                </m:rPr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b>
                          </m:sSub>
                        </m:e>
                      </m:d>
                      <m:r>
                        <m:rPr/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2δ</m:t>
                          </m:r>
                        </m:e>
                        <m:sub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ij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Lie代数生成元(双线性生成元) : </a:t>
            </a:r>
            <a:endParaRPr lang="en-US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b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ij</m:t>
                          </m:r>
                        </m:sub>
                      </m:sSub>
                      <m:r>
                        <m:rPr/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iγ</m:t>
                          </m:r>
                        </m:e>
                        <m:sub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  <m:sSub>
                        <m:sSubPr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γ</m:t>
                          </m:r>
                        </m:e>
                        <m:sub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endParaRPr lang="en-US"/>
          </a:p>
          <a:p>
            <a:pPr>
              <a:defRPr/>
            </a:pPr>
            <a:r>
              <a:rPr lang="en-US"/>
              <a:t>对易运算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d>
                        <m:dPr>
                          <m:begChr m:val="["/>
                          <m:endChr m:val="]"/>
                          <m:ctrlPr>
                            <a:rPr lang="en-US" sz="18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i"/>
                                </m:rPr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m:rPr>
                                  <m:sty m:val="i"/>
                                </m:rPr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ij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,X</m:t>
                              </m:r>
                            </m:e>
                            <m:sub>
                              <m:r>
                                <m:rPr/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kl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=2i(</m:t>
                      </m:r>
                      <m:sSub>
                        <m:sSubPr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δ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jk</m:t>
                          </m:r>
                        </m:sub>
                      </m:sSub>
                      <m:sSub>
                        <m:sSubPr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b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il</m:t>
                          </m:r>
                        </m:sub>
                      </m:sSub>
                      <m:r>
                        <m:rPr/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-</m:t>
                      </m:r>
                      <m:sSub>
                        <m:sSubPr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δ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ik</m:t>
                          </m:r>
                        </m:sub>
                      </m:sSub>
                      <m:sSub>
                        <m:sSubPr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b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jl</m:t>
                          </m:r>
                        </m:sub>
                      </m:sSub>
                      <m:r>
                        <m:rPr/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-</m:t>
                      </m:r>
                      <m:sSub>
                        <m:sSubPr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δ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jl</m:t>
                          </m:r>
                        </m:sub>
                      </m:sSub>
                      <m:sSub>
                        <m:sSubPr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b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ik</m:t>
                          </m:r>
                        </m:sub>
                      </m:sSub>
                      <m:r>
                        <m:rPr/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δ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il</m:t>
                          </m:r>
                        </m:sub>
                      </m:sSub>
                      <m:sSub>
                        <m:sSubPr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b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jk</m:t>
                          </m:r>
                        </m:sub>
                      </m:sSub>
                      <m:r>
                        <m:rPr/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</mc:Choice>
              <mc:Fallback/>
            </mc:AlternateContent>
            <a:endParaRPr lang="en-US"/>
          </a:p>
          <a:p>
            <a:pPr>
              <a:defRPr/>
            </a:pPr>
            <a:r>
              <a:rPr lang="en-US"/>
              <a:t>5个majorana一共给出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d>
                        <m:dPr>
                          <m:ctrlPr>
                            <a:rPr lang="en-US" sz="18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1800" b="0" i="1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i"/>
                                </m:rPr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5</m:t>
                              </m:r>
                            </m:num>
                            <m:den>
                              <m:r>
                                <m:rPr>
                                  <m:sty m:val="i"/>
                                </m:rPr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m:rPr>
                          <m:sty m:val="p"/>
                        </m:rPr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=10</m:t>
                      </m:r>
                    </m:oMath>
                  </m:oMathPara>
                </a14:m>
              </mc:Choice>
              <mc:Fallback/>
            </mc:AlternateContent>
            <a:r>
              <a:rPr lang="en-US"/>
              <a:t>个,对应的全空间是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so(5)</m:t>
                      </m:r>
                    </m:oMath>
                  </m:oMathPara>
                </a14:m>
              </mc:Choice>
              <mc:Fallback/>
            </mc:AlternateContent>
            <a:r>
              <a:rPr lang="en-US"/>
              <a:t>结构.</a:t>
            </a:r>
            <a:endParaRPr lang="en-US"/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/>
              <a:t>为了研究每一步的演化具体是什么,这里定义了Lie闭包:</a:t>
            </a: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g=Lie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ij</m:t>
                              </m:r>
                            </m:sub>
                          </m:sSub>
                        </m:e>
                      </m:d>
                      <m:r>
                        <m:rPr/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所有X</m:t>
                          </m:r>
                        </m:e>
                        <m:sub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ij</m:t>
                          </m:r>
                        </m:sub>
                      </m:sSub>
                      <m:r>
                        <m:rPr/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反复对易运算后的闭合空间</m:t>
                      </m:r>
                    </m:oMath>
                  </m:oMathPara>
                </a14:m>
              </mc:Choice>
              <mc:Fallback/>
            </mc:AlternateContent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这里引入闭包,是因为,演化算符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U</m:t>
                      </m:r>
                      <m:d>
                        <m:dPr>
                          <m:begChr m:val="("/>
                          <m:endChr m:val=")"/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=T exp(</m:t>
                      </m:r>
                      <m:nary>
                        <m:naryPr>
                          <m:chr m:val="∫"/>
                          <m:grow m:val="off"/>
                          <m:subHide m:val="on"/>
                          <m:supHide m:val="on"/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/>
                        <m:sup/>
                        <m:e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  <m:d>
                            <m:dPr>
                              <m:begChr m:val="("/>
                              <m:endChr m:val=")"/>
                              <m:ctrlPr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/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e>
                          </m:d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dt</m:t>
                          </m:r>
                        </m:e>
                      </m:nary>
                      <m:r>
                        <m:rPr>
                          <m:sty m:val="p"/>
                        </m:rPr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</mc:Choice>
              <mc:Fallback/>
            </mc:AlternateContent>
            <a:r>
              <a:rPr lang="en-US"/>
              <a:t>由哈密顿量决定,而:</a:t>
            </a: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哈密顿量H</m:t>
                      </m:r>
                      <m:d>
                        <m:dPr>
                          <m:begChr m:val="("/>
                          <m:endChr m:val=")"/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在李代数g中  → U(t)</m:t>
                      </m:r>
                      <m:r>
                        <m:rPr>
                          <m:sty m:val="p"/>
                        </m:rPr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 被限制在李群G中</m:t>
                      </m:r>
                    </m:oMath>
                  </m:oMathPara>
                </a14:m>
              </mc:Choice>
              <mc:Fallback/>
            </mc:AlternateContent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李代数闭包 g 的维数就是演化所需的最小参数个数。</a:t>
            </a:r>
            <a:endParaRPr lang="en-US"/>
          </a:p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1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9537497" name=""/>
          <p:cNvSpPr txBox="1"/>
          <p:nvPr/>
        </p:nvSpPr>
        <p:spPr bwMode="auto">
          <a:xfrm rot="0" flipH="0" flipV="0">
            <a:off x="760277" y="1040694"/>
            <a:ext cx="11006666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graphicFrame>
        <p:nvGraphicFramePr>
          <p:cNvPr id="1809814342" name=""/>
          <p:cNvGraphicFramePr>
            <a:graphicFrameLocks xmlns:a="http://schemas.openxmlformats.org/drawingml/2006/main"/>
          </p:cNvGraphicFramePr>
          <p:nvPr/>
        </p:nvGraphicFramePr>
        <p:xfrm rot="0">
          <a:off x="195832" y="1477369"/>
          <a:ext cx="10900833" cy="2075024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2328333"/>
                <a:gridCol w="2328333"/>
                <a:gridCol w="2328333"/>
                <a:gridCol w="2328333"/>
                <a:gridCol w="2328333"/>
              </a:tblGrid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步骤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闭包g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李群G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维数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解析含义</a:t>
                      </a:r>
                      <a:endParaRPr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Step1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r>
                                  <m:rPr>
                                    <m:sty m:val="p"/>
                                  </m:rPr>
                                  <a:rPr lang="en-US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so(4)</m:t>
                                </m:r>
                              </m:oMath>
                            </m:oMathPara>
                          </a14:m>
                        </mc:Choice>
                        <mc:Fallback/>
                      </mc:AlternateContent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r>
                                  <m:rPr>
                                    <m:sty m:val="p"/>
                                  </m:rPr>
                                  <a:rPr lang="zh-CN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SO(4)</m:t>
                                </m:r>
                              </m:oMath>
                            </m:oMathPara>
                          </a14:m>
                        </mc:Choice>
                        <mc:Fallback/>
                      </mc:AlternateContent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/>
                        <a:t>6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r>
                                  <m:rPr>
                                    <m:sty m:val="p"/>
                                  </m:rPr>
                                  <a:rPr lang="zh-CN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so(4)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≅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su(2)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⊕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su(2)</m:t>
                                </m:r>
                              </m:oMath>
                            </m:oMathPara>
                          </a14:m>
                        </mc:Choice>
                        <mc:Fallback/>
                      </mc:AlternateContent>
                      <a:r>
                        <a:rPr lang="en-US" sz="1800" b="0" i="0" u="none" strike="noStrike" cap="none" spc="0">
                          <a:solidFill>
                            <a:schemeClr val="dk1"/>
                          </a:solidFill>
                          <a:latin typeface="等线"/>
                          <a:ea typeface="等线"/>
                          <a:cs typeface="等线"/>
                        </a:rPr>
                        <a:t> </a:t>
                      </a:r>
                      <a:endParaRPr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Step2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r>
                                  <m:rPr>
                                    <m:sty m:val="p"/>
                                  </m:rPr>
                                  <a:rPr lang="en-US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 so(5)</m:t>
                                </m:r>
                              </m:oMath>
                            </m:oMathPara>
                          </a14:m>
                        </mc:Choice>
                        <mc:Fallback/>
                      </mc:AlternateContent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r>
                                  <m:rPr>
                                    <m:sty m:val="p"/>
                                  </m:rPr>
                                  <a:rPr lang="zh-CN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SO(5)</m:t>
                                </m:r>
                              </m:oMath>
                            </m:oMathPara>
                          </a14:m>
                        </mc:Choice>
                        <mc:Fallback/>
                      </mc:AlternateContent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/>
                        <a:t>10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zh-CN" sz="1800" b="0" i="0" u="none" strike="noStrike" cap="none" spc="0">
                          <a:solidFill>
                            <a:schemeClr val="dk1"/>
                          </a:solidFill>
                          <a:latin typeface="等线"/>
                          <a:ea typeface="等线"/>
                          <a:cs typeface="等线"/>
                        </a:rPr>
                        <a:t>维数满 → commutant 平凡 → 无法简化</a:t>
                      </a:r>
                      <a:endParaRPr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Step3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r>
                                  <m:rPr>
                                    <m:sty m:val="p"/>
                                  </m:rPr>
                                  <a:rPr lang="en-US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 u(1)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⊕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su(2)</m:t>
                                </m:r>
                              </m:oMath>
                            </m:oMathPara>
                          </a14:m>
                        </mc:Choice>
                        <mc:Fallback/>
                      </mc:AlternateContent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r>
                                  <m:rPr>
                                    <m:sty m:val="p"/>
                                  </m:rPr>
                                  <a:rPr lang="zh-CN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U(1)×SU(2)</m:t>
                                </m:r>
                              </m:oMath>
                            </m:oMathPara>
                          </a14:m>
                        </mc:Choice>
                        <mc:Fallback/>
                      </mc:AlternateContent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/>
                        <a:t>4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r>
                                  <m:rPr>
                                    <m:sty m:val="p"/>
                                  </m:rPr>
                                  <a:rPr lang="zh-CN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u(1)</m:t>
                                </m:r>
                              </m:oMath>
                            </m:oMathPara>
                          </a14:m>
                        </mc:Choice>
                        <mc:Fallback/>
                      </mc:AlternateContent>
                      <a:r>
                        <a:rPr lang="zh-CN" sz="1800" b="0" i="0" u="none" strike="noStrike" cap="none" spc="0">
                          <a:solidFill>
                            <a:schemeClr val="dk1"/>
                          </a:solidFill>
                          <a:latin typeface="等线"/>
                          <a:ea typeface="等线"/>
                          <a:cs typeface="等线"/>
                        </a:rPr>
                        <a:t> 与 </a:t>
                      </a: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r>
                                  <m:rPr>
                                    <m:sty m:val="p"/>
                                  </m:rPr>
                                  <a:rPr lang="zh-CN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su(2)</m:t>
                                </m:r>
                              </m:oMath>
                            </m:oMathPara>
                          </a14:m>
                        </mc:Choice>
                        <mc:Fallback/>
                      </mc:AlternateContent>
                      <a:r>
                        <a:rPr lang="zh-CN" sz="1800" b="0" i="0" u="none" strike="noStrike" cap="none" spc="0">
                          <a:solidFill>
                            <a:schemeClr val="dk1"/>
                          </a:solidFill>
                          <a:latin typeface="等线"/>
                          <a:ea typeface="等线"/>
                          <a:cs typeface="等线"/>
                        </a:rPr>
                        <a:t> 对易 → 可分解为 </a:t>
                      </a: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sSup>
                                  <m:sSupPr>
                                    <m:ctrlPr>
                                      <a:rPr lang="zh-CN" sz="1800" u="none" strike="noStrike" cap="none" spc="0">
                                        <a:solidFill>
                                          <a:schemeClr val="dk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sz="1800" u="none" strike="noStrike" cap="none" spc="0">
                                        <a:solidFill>
                                          <a:schemeClr val="dk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e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zh-CN" sz="1800" u="none" strike="noStrike" cap="none" spc="0">
                                        <a:solidFill>
                                          <a:schemeClr val="dk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u</m:t>
                                    </m:r>
                                    <m:d>
                                      <m:dPr>
                                        <m:begChr m:val="("/>
                                        <m:endChr m:val=")"/>
                                        <m:ctrlPr>
                                          <a:rPr lang="zh-CN" sz="1800" u="none" strike="noStrike" cap="none" spc="0">
                                            <a:solidFill>
                                              <a:schemeClr val="dk1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zh-CN" sz="1800" u="none" strike="noStrike" cap="none" spc="0">
                                            <a:solidFill>
                                              <a:schemeClr val="dk1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sup>
                                </m:sSup>
                                <m:r>
                                  <m:rPr/>
                                  <a:rPr lang="zh-CN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⋅</m:t>
                                </m:r>
                                <m:sSup>
                                  <m:sSupPr>
                                    <m:ctrlPr>
                                      <a:rPr lang="zh-CN" sz="1800" u="none" strike="noStrike" cap="none" spc="0">
                                        <a:solidFill>
                                          <a:schemeClr val="dk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m:rPr/>
                                      <a:rPr lang="zh-CN" sz="1800" u="none" strike="noStrike" cap="none" spc="0">
                                        <a:solidFill>
                                          <a:schemeClr val="dk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e</m:t>
                                    </m:r>
                                  </m:e>
                                  <m:sup>
                                    <m:r>
                                      <m:rPr/>
                                      <a:rPr lang="zh-CN" sz="1800" u="none" strike="noStrike" cap="none" spc="0">
                                        <a:solidFill>
                                          <a:schemeClr val="dk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su(2)</m:t>
                                    </m:r>
                                  </m:sup>
                                </m:sSup>
                              </m:oMath>
                            </m:oMathPara>
                          </a14:m>
                        </mc:Choice>
                        <mc:Fallback/>
                      </mc:AlternateContent>
                      <a:r>
                        <a:rPr lang="zh-CN" sz="1800" b="0" i="0" u="none" strike="noStrike" cap="none" spc="0">
                          <a:solidFill>
                            <a:schemeClr val="dk1"/>
                          </a:solidFill>
                          <a:latin typeface="等线"/>
                          <a:ea typeface="等线"/>
                          <a:cs typeface="等线"/>
                        </a:rPr>
                        <a:t> → </a:t>
                      </a:r>
                      <a:r>
                        <a:rPr lang="zh-CN" sz="1800" b="1" i="0" u="none" strike="noStrike" cap="none" spc="0">
                          <a:solidFill>
                            <a:schemeClr val="dk1"/>
                          </a:solidFill>
                          <a:latin typeface="等线"/>
                          <a:ea typeface="等线"/>
                          <a:cs typeface="等线"/>
                        </a:rPr>
                        <a:t>可写闭式</a:t>
                      </a:r>
                      <a:endParaRPr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92378998" name=""/>
          <p:cNvSpPr txBox="1"/>
          <p:nvPr/>
        </p:nvSpPr>
        <p:spPr bwMode="auto">
          <a:xfrm rot="0" flipH="0" flipV="0">
            <a:off x="1606944" y="5185833"/>
            <a:ext cx="8524985" cy="785752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p>
                        <m:sSupPr>
                          <m:ctrl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  <m:sup>
                          <m:r>
                            <m:rPr/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sup>
                      </m:sSup>
                      <m:sSup>
                        <m:sSupPr>
                          <m:ctrl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m:rPr/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  <m:sup>
                          <m:r>
                            <m:rPr/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sup>
                      </m:sSup>
                      <m:r>
                        <m:rPr/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p>
                        <m:sSupPr>
                          <m:ctrl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m:rPr/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  <m:sup>
                          <m:r>
                            <m:rPr/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A+B</m:t>
                          </m:r>
                        </m:sup>
                      </m:sSup>
                      <m:r>
                        <m:rPr/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  </m:t>
                      </m:r>
                      <m:r>
                        <m:rPr>
                          <m:sty m:val="i"/>
                        </m:rPr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↔ </m:t>
                      </m:r>
                      <m:d>
                        <m:dPr>
                          <m:begChr m:val="["/>
                          <m:endChr m:val="]"/>
                          <m:ctrl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i"/>
                            </m:r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A,B</m:t>
                          </m:r>
                        </m:e>
                      </m:d>
                      <m:r>
                        <m:rPr>
                          <m:sty m:val="i"/>
                        </m:rPr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=0</m:t>
                      </m:r>
                    </m:oMath>
                  </m:oMathPara>
                </a14:m>
              </mc:Choice>
              <mc:Fallback/>
            </mc:AlternateContent>
            <a:endParaRPr/>
          </a:p>
          <a:p>
            <a:pPr>
              <a:defRPr/>
            </a:pPr>
            <a:r>
              <a:rPr/>
              <a:t>			反之</a:t>
            </a:r>
            <a:r>
              <a:rPr lang="en-US"/>
              <a:t>：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p>
                        <m:sSupPr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  <m:sup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A+B</m:t>
                          </m:r>
                        </m:sup>
                      </m:sSup>
                      <m:r>
                        <m:rPr/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  <m:sup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sup>
                      </m:sSup>
                      <m:sSup>
                        <m:sSupPr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  <m:sup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sup>
                      </m:sSup>
                      <m:sSup>
                        <m:sSupPr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  <m:sup>
                          <m:f>
                            <m:fPr>
                              <m:ctrlPr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m:rPr/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m:rPr/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den>
                          </m:f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[A,B]</m:t>
                          </m:r>
                        </m:sup>
                      </m:sSup>
                      <m:r>
                        <m:rPr/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...</m:t>
                      </m:r>
                    </m:oMath>
                  </m:oMathPara>
                </a14:m>
              </mc:Choice>
              <mc:Fallback/>
            </mc:AlternateContent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1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3986265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60224" y="0"/>
            <a:ext cx="1187155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6867799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2916" y="130839"/>
            <a:ext cx="12191999" cy="61048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599689" name=""/>
          <p:cNvSpPr txBox="1"/>
          <p:nvPr/>
        </p:nvSpPr>
        <p:spPr bwMode="auto">
          <a:xfrm rot="0" flipH="0" flipV="0">
            <a:off x="1448194" y="335137"/>
            <a:ext cx="9931056" cy="491167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400" b="1"/>
              <a:t>第二部分</a:t>
            </a:r>
            <a:r>
              <a:rPr lang="en-US" sz="2400" b="1"/>
              <a:t>:通过全空间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b"/>
                        </m:rPr>
                        <a:rPr lang="en-US" sz="24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so(5)</m:t>
                      </m:r>
                    </m:oMath>
                  </m:oMathPara>
                </a14:m>
              </mc:Choice>
              <mc:Fallback/>
            </mc:AlternateContent>
            <a:r>
              <a:rPr lang="en-US" sz="2400" b="1"/>
              <a:t>构建ODE</a:t>
            </a:r>
            <a:endParaRPr/>
          </a:p>
        </p:txBody>
      </p:sp>
      <p:sp>
        <p:nvSpPr>
          <p:cNvPr id="2070783522" name=""/>
          <p:cNvSpPr txBox="1"/>
          <p:nvPr/>
        </p:nvSpPr>
        <p:spPr bwMode="auto">
          <a:xfrm rot="0" flipH="0" flipV="0">
            <a:off x="548610" y="1111249"/>
            <a:ext cx="11165415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932006466" name=""/>
          <p:cNvSpPr txBox="1"/>
          <p:nvPr/>
        </p:nvSpPr>
        <p:spPr bwMode="auto">
          <a:xfrm rot="0" flipH="0" flipV="0">
            <a:off x="460415" y="1128888"/>
            <a:ext cx="11659330" cy="49100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000"/>
              <a:t>直接写</a:t>
            </a:r>
            <a:r>
              <a:rPr lang="en-US" sz="2000"/>
              <a:t>10维so(5)不现实,所以这里通过一个同构关系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so(5)</m:t>
                      </m:r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≅sp(2)</m:t>
                      </m:r>
                    </m:oMath>
                  </m:oMathPara>
                </a14:m>
              </mc:Choice>
              <mc:Fallback/>
            </mc:AlternateContent>
            <a:r>
              <a:rPr lang="en-US" sz="2000"/>
              <a:t> , sp(2)是辛群</a:t>
            </a:r>
            <a:endParaRPr lang="en-US" sz="2000"/>
          </a:p>
          <a:p>
            <a:pPr>
              <a:defRPr/>
            </a:pPr>
            <a:endParaRPr lang="en-US" sz="2000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sp(2)=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2000" b="0" i="1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m>
                                <m:mPr>
                                  <m:baseJc m:val="center"/>
                                  <m:cGp/>
                                  <m:cGpRule/>
                                  <m:cSp/>
                                  <m:mcs>
                                    <m:mc>
                                      <m:mcPr>
                                        <m:mcJc m:val="center"/>
                                        <m:count m:val="2"/>
                                      </m:mcPr>
                                    </m:mc>
                                  </m:mcs>
                                  <m:plcHide m:val="off"/>
                                  <m:rSp/>
                                  <m:rSpRule/>
                                  <m:ctrlPr>
                                    <a:rPr lang="en-US" sz="2000" b="0" i="1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sty m:val="i"/>
                                      </m:rPr>
                                      <a:rPr lang="en-US" sz="2000" u="none" strike="noStrike" cap="none" spc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u</m:t>
                                    </m:r>
                                  </m:e>
                                  <m:e>
                                    <m:r>
                                      <m:rPr>
                                        <m:sty m:val="i"/>
                                      </m:rPr>
                                      <a:rPr lang="en-US" sz="2000" u="none" strike="noStrike" cap="none" spc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q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m:rPr>
                                        <m:sty m:val="i"/>
                                      </m:rPr>
                                      <a:rPr lang="en-US" sz="2000" u="none" strike="noStrike" cap="none" spc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-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US" sz="2000" b="0" i="1" u="none" strike="noStrike" cap="none" spc="0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m:rPr>
                                            <m:sty m:val="i"/>
                                          </m:rPr>
                                          <a:rPr lang="en-US" sz="2000" u="none" strike="noStrike" cap="none" spc="0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q</m:t>
                                        </m:r>
                                      </m:e>
                                    </m:acc>
                                  </m:e>
                                  <m:e>
                                    <m:r>
                                      <m:rPr>
                                        <m:sty m:val="i"/>
                                      </m:rPr>
                                      <a:rPr lang="en-US" sz="2000" u="none" strike="noStrike" cap="none" spc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v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m:rPr>
                              <m:sty m:val="i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 | u,v ∈Im H , q ∈ H</m:t>
                          </m:r>
                        </m:e>
                      </m:d>
                    </m:oMath>
                  </m:oMathPara>
                </a14:m>
              </mc:Choice>
              <mc:Fallback/>
            </mc:AlternateContent>
            <a:endParaRPr/>
          </a:p>
          <a:p>
            <a:pPr>
              <a:defRPr/>
            </a:pPr>
            <a:endParaRPr lang="en-US" sz="2000"/>
          </a:p>
          <a:p>
            <a:pPr>
              <a:defRPr/>
            </a:pPr>
            <a:r>
              <a:rPr lang="en-US" sz="2000"/>
              <a:t>u,v为纯虚四元数,各有三个自由度,共计6个.q是一般四元数,4个自由度. 共计10个.</a:t>
            </a:r>
            <a:endParaRPr lang="en-US" sz="2000"/>
          </a:p>
          <a:p>
            <a:pPr>
              <a:defRPr/>
            </a:pPr>
            <a:endParaRPr lang="en-US" sz="2000"/>
          </a:p>
          <a:p>
            <a:pPr>
              <a:defRPr/>
            </a:pPr>
            <a:r>
              <a:rPr lang="en-US" sz="2000"/>
              <a:t>把so(5)的元素也用四元数矩阵表示出来: 5个2*2的矩阵,</a:t>
            </a:r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这 5 个矩阵构成 </a:t>
            </a:r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Cl(5) 的不可约表示</a:t>
            </a:r>
            <a:endParaRPr lang="en-US" sz="20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Γ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ctrlPr>
                            <a:rPr lang="en-US" sz="20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cGp/>
                              <m:cGpRule/>
                              <m:cSp/>
                              <m:mcs>
                                <m:mc>
                                  <m:mcPr>
                                    <m:mcJc m:val="center"/>
                                    <m:count m:val="2"/>
                                  </m:mcPr>
                                </m:mc>
                              </m:mcs>
                              <m:plcHide m:val="off"/>
                              <m:rSp/>
                              <m:rSpRule/>
                              <m:ctrlPr>
                                <a:rPr lang="en-US" sz="2000" b="0" i="1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i"/>
                                  </m:rPr>
                                  <a:rPr lang="en-US" sz="2000" u="none" strike="noStrike" cap="none" spc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sty m:val="i"/>
                                  </m:rPr>
                                  <a:rPr lang="en-US" sz="2000" u="none" strike="noStrike" cap="none" spc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i"/>
                                  </m:rPr>
                                  <a:rPr lang="en-US" sz="2000" u="none" strike="noStrike" cap="none" spc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sty m:val="i"/>
                                  </m:rPr>
                                  <a:rPr lang="en-US" sz="2000" u="none" strike="noStrike" cap="none" spc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Γ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ctrlPr>
                            <a:rPr lang="en-US" sz="20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cGp/>
                              <m:cGpRule/>
                              <m:cSp/>
                              <m:mcs>
                                <m:mc>
                                  <m:mcPr>
                                    <m:mcJc m:val="center"/>
                                    <m:count m:val="2"/>
                                  </m:mcPr>
                                </m:mc>
                              </m:mcs>
                              <m:plcHide m:val="off"/>
                              <m:rSp/>
                              <m:rSpRule/>
                              <m:ctrlPr>
                                <a:rPr lang="en-US" sz="2000" b="0" i="1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i"/>
                                  </m:rPr>
                                  <a:rPr lang="en-US" sz="2000" u="none" strike="noStrike" cap="none" spc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sty m:val="i"/>
                                  </m:rPr>
                                  <a:rPr lang="en-US" sz="2000" u="none" strike="noStrike" cap="none" spc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-i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i"/>
                                  </m:rPr>
                                  <a:rPr lang="en-US" sz="2000" u="none" strike="noStrike" cap="none" spc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e>
                              <m:e>
                                <m:r>
                                  <m:rPr>
                                    <m:sty m:val="i"/>
                                  </m:rPr>
                                  <a:rPr lang="en-US" sz="2000" u="none" strike="noStrike" cap="none" spc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Γ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</m:t>
                          </m:r>
                        </m:sub>
                      </m:sSub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ctrlPr>
                            <a:rPr lang="en-US" sz="20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cGp/>
                              <m:cGpRule/>
                              <m:cSp/>
                              <m:mcs>
                                <m:mc>
                                  <m:mcPr>
                                    <m:mcJc m:val="center"/>
                                    <m:count m:val="2"/>
                                  </m:mcPr>
                                </m:mc>
                              </m:mcs>
                              <m:plcHide m:val="off"/>
                              <m:rSp/>
                              <m:rSpRule/>
                              <m:ctrlPr>
                                <a:rPr lang="en-US" sz="2000" b="0" i="1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i"/>
                                  </m:rPr>
                                  <a:rPr lang="en-US" sz="2000" u="none" strike="noStrike" cap="none" spc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sty m:val="i"/>
                                  </m:rPr>
                                  <a:rPr lang="en-US" sz="2000" u="none" strike="noStrike" cap="none" spc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-j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i"/>
                                  </m:rPr>
                                  <a:rPr lang="en-US" sz="2000" u="none" strike="noStrike" cap="none" spc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</m:e>
                              <m:e>
                                <m:r>
                                  <m:rPr>
                                    <m:sty m:val="i"/>
                                  </m:rPr>
                                  <a:rPr lang="en-US" sz="2000" u="none" strike="noStrike" cap="none" spc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Γ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</m:t>
                          </m:r>
                        </m:sub>
                      </m:sSub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ctrlPr>
                            <a:rPr lang="en-US" sz="20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cGp/>
                              <m:cGpRule/>
                              <m:cSp/>
                              <m:mcs>
                                <m:mc>
                                  <m:mcPr>
                                    <m:mcJc m:val="center"/>
                                    <m:count m:val="2"/>
                                  </m:mcPr>
                                </m:mc>
                              </m:mcs>
                              <m:plcHide m:val="off"/>
                              <m:rSp/>
                              <m:rSpRule/>
                              <m:ctrlPr>
                                <a:rPr lang="en-US" sz="2000" b="0" i="1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i"/>
                                  </m:rPr>
                                  <a:rPr lang="en-US" sz="2000" u="none" strike="noStrike" cap="none" spc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sty m:val="i"/>
                                  </m:rPr>
                                  <a:rPr lang="en-US" sz="2000" u="none" strike="noStrike" cap="none" spc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-k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i"/>
                                  </m:rPr>
                                  <a:rPr lang="en-US" sz="2000" u="none" strike="noStrike" cap="none" spc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e>
                              <m:e>
                                <m:r>
                                  <m:rPr>
                                    <m:sty m:val="i"/>
                                  </m:rPr>
                                  <a:rPr lang="en-US" sz="2000" u="none" strike="noStrike" cap="none" spc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Γ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5</m:t>
                          </m:r>
                        </m:sub>
                      </m:sSub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ctrlPr>
                            <a:rPr lang="en-US" sz="20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cGp/>
                              <m:cGpRule/>
                              <m:cSp/>
                              <m:mcs>
                                <m:mc>
                                  <m:mcPr>
                                    <m:mcJc m:val="center"/>
                                    <m:count m:val="2"/>
                                  </m:mcPr>
                                </m:mc>
                              </m:mcs>
                              <m:plcHide m:val="off"/>
                              <m:rSp/>
                              <m:rSpRule/>
                              <m:ctrlPr>
                                <a:rPr lang="en-US" sz="2000" b="0" i="1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i"/>
                                  </m:rPr>
                                  <a:rPr lang="en-US" sz="2000" u="none" strike="noStrike" cap="none" spc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sty m:val="i"/>
                                  </m:rPr>
                                  <a:rPr lang="en-US" sz="2000" u="none" strike="noStrike" cap="none" spc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i"/>
                                  </m:rPr>
                                  <a:rPr lang="en-US" sz="2000" u="none" strike="noStrike" cap="none" spc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sty m:val="i"/>
                                  </m:rPr>
                                  <a:rPr lang="en-US" sz="2000" u="none" strike="noStrike" cap="none" spc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-1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</mc:Choice>
              <mc:Fallback/>
            </mc:AlternateContent>
            <a:endParaRPr lang="en-US" sz="2000"/>
          </a:p>
          <a:p>
            <a:pPr>
              <a:defRPr/>
            </a:pPr>
            <a:r>
              <a:rPr lang="en-US" sz="2000"/>
              <a:t>满足对易关系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d>
                        <m:dPr>
                          <m:begChr m:val="{"/>
                          <m:endChr m:val="}"/>
                          <m:ctrlPr>
                            <a:rPr lang="en-US" sz="20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sz="20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i"/>
                                    </m:rPr>
                                    <a:rPr lang="en-US" sz="20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Γ</m:t>
                                  </m:r>
                                </m:e>
                                <m:sub>
                                  <m:r>
                                    <m:rPr>
                                      <m:sty m:val="i"/>
                                    </m:rPr>
                                    <a:rPr lang="en-US" sz="20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  <m:r>
                                <m:rPr>
                                  <m:sty m:val="i"/>
                                </m:r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,Γ</m:t>
                              </m:r>
                            </m:e>
                            <m:sub>
                              <m:r>
                                <m:rPr>
                                  <m:sty m:val="i"/>
                                </m:r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b>
                          </m:sSub>
                        </m:e>
                      </m:d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2δ</m:t>
                          </m:r>
                        </m:e>
                        <m:sub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ij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endParaRPr lang="en-US" sz="2000"/>
          </a:p>
          <a:p>
            <a:pPr>
              <a:defRPr/>
            </a:pPr>
            <a:endParaRPr sz="2000"/>
          </a:p>
          <a:p>
            <a:pPr>
              <a:defRPr/>
            </a:pPr>
            <a:r>
              <a:rPr lang="en-US" sz="2000"/>
              <a:t>定义旋量生成元:</a:t>
            </a:r>
            <a:endParaRPr lang="en-US" sz="2000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ij</m:t>
                          </m:r>
                        </m:sub>
                      </m:sSub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0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sty m:val="i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i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sz="20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i"/>
                                </m:r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Γ</m:t>
                              </m:r>
                            </m:e>
                            <m:sub>
                              <m:r>
                                <m:rPr>
                                  <m:sty m:val="i"/>
                                </m:r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,Γ</m:t>
                              </m:r>
                            </m:e>
                            <m:sub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</mc:Choice>
              <mc:Fallback/>
            </mc:AlternateContent>
            <a:endParaRPr lang="en-US" sz="2000"/>
          </a:p>
          <a:p>
            <a:pPr>
              <a:defRPr/>
            </a:pPr>
            <a:endParaRPr lang="en-US" sz="2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1838738" name=""/>
          <p:cNvSpPr txBox="1"/>
          <p:nvPr/>
        </p:nvSpPr>
        <p:spPr bwMode="auto">
          <a:xfrm rot="0" flipH="0" flipV="0">
            <a:off x="530970" y="917221"/>
            <a:ext cx="11061757" cy="502018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000"/>
              <a:t>从majorana哈密顿到旋量的演化</a:t>
            </a:r>
            <a:r>
              <a:rPr lang="en-US" sz="2000"/>
              <a:t>:</a:t>
            </a:r>
            <a:endParaRPr sz="2000"/>
          </a:p>
          <a:p>
            <a:pPr>
              <a:defRPr/>
            </a:pPr>
            <a:endParaRPr sz="2000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acc>
                        <m:accPr>
                          <m:chr m:val="̇"/>
                          <m:ctrlPr>
                            <a:rPr lang="en-US" sz="20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m:rPr>
                              <m:sty m:val="i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</m:acc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(t)</m:t>
                      </m:r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=-iHU(t)</m:t>
                      </m:r>
                    </m:oMath>
                  </m:oMathPara>
                </a14:m>
              </mc:Choice>
              <mc:Fallback/>
            </mc:AlternateContent>
            <a:endParaRPr sz="2000"/>
          </a:p>
          <a:p>
            <a:pPr>
              <a:defRPr/>
            </a:pPr>
            <a:r>
              <a:rPr lang="en-US" sz="2000"/>
              <a:t>把有效模型中的majoranna替换为上面定义的矩阵形式:</a:t>
            </a:r>
            <a:endParaRPr lang="en-US" sz="2000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Γ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Γ</m:t>
                          </m:r>
                        </m:e>
                        <m:sub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</m:sub>
                      </m:sSub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0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sty m:val="i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i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Γ</m:t>
                              </m:r>
                            </m:e>
                            <m:sub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,Γ</m:t>
                              </m:r>
                            </m:e>
                            <m:sub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b>
                          </m:sSub>
                        </m:e>
                      </m:d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2Σ</m:t>
                          </m:r>
                        </m:e>
                        <m:sub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ij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endParaRPr lang="en-US" sz="2000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spinor</m:t>
                          </m:r>
                        </m:sub>
                      </m:sSub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∑"/>
                          <m:grow m:val="off"/>
                          <m:limLoc m:val="undOvr"/>
                          <m:subHide m:val="on"/>
                          <m:supHide m:val="on"/>
                          <m:ctrlPr>
                            <a:rPr lang="en-US" sz="20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i"/>
                                </m:r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h</m:t>
                              </m:r>
                            </m:e>
                            <m:sub>
                              <m:r>
                                <m:rPr>
                                  <m:sty m:val="i"/>
                                </m:r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ij</m:t>
                              </m:r>
                            </m:sub>
                          </m:sSub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iγ</m:t>
                              </m:r>
                            </m:e>
                            <m:sub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γ</m:t>
                              </m:r>
                            </m:e>
                            <m:sub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b>
                          </m:sSub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)</m:t>
                          </m:r>
                        </m:e>
                      </m:nary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∑"/>
                          <m:grow m:val="off"/>
                          <m:limLoc m:val="undOvr"/>
                          <m:subHide m:val="on"/>
                          <m:supHide m:val="on"/>
                          <m:ctrlPr>
                            <a:rPr lang="en-US" sz="20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i"/>
                                </m:r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h</m:t>
                              </m:r>
                            </m:e>
                            <m:sub>
                              <m:r>
                                <m:rPr>
                                  <m:sty m:val="i"/>
                                </m:r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ij</m:t>
                              </m:r>
                            </m:sub>
                          </m:sSub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(i⋅2</m:t>
                          </m:r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Σ</m:t>
                              </m:r>
                            </m:e>
                            <m:sub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ij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</mc:Choice>
              <mc:Fallback/>
            </mc:AlternateContent>
            <a:endParaRPr lang="en-US" sz="2000"/>
          </a:p>
          <a:p>
            <a:pPr>
              <a:defRPr/>
            </a:pPr>
            <a:r>
              <a:rPr lang="en-US" sz="2000"/>
              <a:t>记:</a:t>
            </a:r>
            <a:endParaRPr lang="en-US" sz="2000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K=</m:t>
                      </m:r>
                      <m:nary>
                        <m:naryPr>
                          <m:chr m:val="∑"/>
                          <m:grow m:val="off"/>
                          <m:limLoc m:val="undOvr"/>
                          <m:subHide m:val="on"/>
                          <m:supHide m:val="on"/>
                          <m:ctrlPr>
                            <a:rPr lang="en-US" sz="20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i"/>
                                </m:r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h</m:t>
                              </m:r>
                            </m:e>
                            <m:sub>
                              <m:r>
                                <m:rPr>
                                  <m:sty m:val="i"/>
                                </m:r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ij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Σ</m:t>
                              </m:r>
                            </m:e>
                            <m:sub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ij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</mc:Choice>
              <mc:Fallback/>
            </mc:AlternateContent>
            <a:endParaRPr lang="en-US" sz="2000"/>
          </a:p>
          <a:p>
            <a:pPr>
              <a:defRPr/>
            </a:pPr>
            <a:r>
              <a:rPr lang="en-US" sz="2000"/>
              <a:t>有</a:t>
            </a:r>
            <a:endParaRPr lang="en-US" sz="2000"/>
          </a:p>
          <a:p>
            <a:pPr>
              <a:defRPr/>
            </a:pPr>
            <a:endParaRPr sz="2000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acc>
                        <m:accPr>
                          <m:chr m:val="̇"/>
                          <m:ctrlPr>
                            <a:rPr lang="en-US" sz="20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m:rPr>
                              <m:sty m:val="i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</m:acc>
                      <m:d>
                        <m:dPr>
                          <m:begChr m:val="("/>
                          <m:endChr m:val=")"/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=-i</m:t>
                      </m:r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spinor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U</m:t>
                      </m:r>
                      <m:d>
                        <m:dPr>
                          <m:begChr m:val="("/>
                          <m:endChr m:val=")"/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=-i</m:t>
                      </m:r>
                      <m:d>
                        <m:dPr>
                          <m:begChr m:val="("/>
                          <m:endChr m:val=")"/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2iK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U=2KU</m:t>
                      </m:r>
                    </m:oMath>
                  </m:oMathPara>
                </a14:m>
              </mc:Choice>
              <mc:Fallback/>
            </mc:AlternateContent>
            <a:endParaRPr lang="en-US" sz="2000"/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其中因子 2 可被吸收进生成元的归一化约定中。下面约定，取</a:t>
            </a:r>
            <a:endParaRPr lang="en-US" sz="2000" b="0" i="0" u="none" strike="noStrike" cap="none" spc="0">
              <a:solidFill>
                <a:schemeClr val="tx1"/>
              </a:solidFill>
              <a:latin typeface="等线"/>
              <a:ea typeface="等线"/>
              <a:cs typeface="等线"/>
            </a:endParaRPr>
          </a:p>
          <a:p>
            <a:pPr>
              <a:defRPr/>
            </a:pPr>
            <a:endParaRPr lang="en-US" sz="2000" b="0" i="0" u="none" strike="noStrike" cap="none" spc="0">
              <a:solidFill>
                <a:schemeClr val="tx1"/>
              </a:solidFill>
              <a:latin typeface="等线"/>
              <a:ea typeface="等线"/>
              <a:cs typeface="等线"/>
            </a:endParaRPr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acc>
                        <m:accPr>
                          <m:chr m:val="̇"/>
                          <m:ctrlPr>
                            <a:rPr lang="en-US" sz="20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m:rPr>
                              <m:sty m:val="i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</m:acc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(t)</m:t>
                      </m:r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=K(t)</m:t>
                      </m:r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U(t),  K∈sp(2)</m:t>
                      </m:r>
                    </m:oMath>
                  </m:oMathPara>
                </a14:m>
              </mc:Choice>
              <mc:Fallback/>
            </mc:AlternateContent>
            <a:endParaRPr sz="2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8269281" name=""/>
          <p:cNvSpPr txBox="1"/>
          <p:nvPr/>
        </p:nvSpPr>
        <p:spPr bwMode="auto">
          <a:xfrm rot="0" flipH="0" flipV="0">
            <a:off x="478055" y="1023055"/>
            <a:ext cx="11564638" cy="21480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000"/>
              <a:t>分块表示</a:t>
            </a:r>
            <a:r>
              <a:rPr lang="en-US" sz="2000"/>
              <a:t>:</a:t>
            </a:r>
            <a:endParaRPr lang="en-US" sz="2000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K=</m:t>
                      </m:r>
                      <m:d>
                        <m:dPr>
                          <m:ctrlPr>
                            <a:rPr lang="en-US" sz="20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cGp/>
                              <m:cGpRule/>
                              <m:cSp/>
                              <m:mcs>
                                <m:mc>
                                  <m:mcPr>
                                    <m:mcJc m:val="center"/>
                                    <m:count m:val="2"/>
                                  </m:mcPr>
                                </m:mc>
                              </m:mcs>
                              <m:plcHide m:val="off"/>
                              <m:rSp/>
                              <m:rSpRule/>
                              <m:ctrlPr>
                                <a:rPr lang="en-US" sz="2000" b="0" i="1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i"/>
                                  </m:rPr>
                                  <a:rPr lang="en-US" sz="2000" u="none" strike="noStrike" cap="none" spc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  <m:e>
                                <m:r>
                                  <m:rPr>
                                    <m:sty m:val="i"/>
                                  </m:rPr>
                                  <a:rPr lang="en-US" sz="2000" u="none" strike="noStrike" cap="none" spc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B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i"/>
                                  </m:rPr>
                                  <a:rPr lang="en-US" sz="2000" u="none" strike="noStrike" cap="none" spc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C</m:t>
                                </m:r>
                              </m:e>
                              <m:e>
                                <m:r>
                                  <m:rPr>
                                    <m:sty m:val="i"/>
                                  </m:rPr>
                                  <a:rPr lang="en-US" sz="2000" u="none" strike="noStrike" cap="none" spc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D</m:t>
                                </m:r>
                              </m:e>
                            </m:mr>
                          </m:m>
                        </m:e>
                      </m:d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      ,     U=</m:t>
                      </m:r>
                      <m:d>
                        <m:dPr>
                          <m:ctrlPr>
                            <a:rPr lang="en-US" sz="20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cGp/>
                              <m:cGpRule/>
                              <m:cSp/>
                              <m:mcs>
                                <m:mc>
                                  <m:mcPr>
                                    <m:mcJc m:val="center"/>
                                    <m:count m:val="2"/>
                                  </m:mcPr>
                                </m:mc>
                              </m:mcs>
                              <m:plcHide m:val="off"/>
                              <m:rSp/>
                              <m:rSpRule/>
                              <m:ctrlPr>
                                <a:rPr lang="en-US" sz="2000" b="0" i="1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i"/>
                                  </m:rPr>
                                  <a:rPr lang="en-US" sz="2000" u="none" strike="noStrike" cap="none" spc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e>
                                <m:r>
                                  <m:rPr>
                                    <m:sty m:val="i"/>
                                  </m:rPr>
                                  <a:rPr lang="en-US" sz="2000" u="none" strike="noStrike" cap="none" spc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i"/>
                                  </m:rPr>
                                  <a:rPr lang="en-US" sz="2000" u="none" strike="noStrike" cap="none" spc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Z</m:t>
                                </m:r>
                              </m:e>
                              <m:e>
                                <m:r>
                                  <m:rPr>
                                    <m:sty m:val="i"/>
                                  </m:rPr>
                                  <a:rPr lang="en-US" sz="2000" u="none" strike="noStrike" cap="none" spc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W</m:t>
                                </m:r>
                              </m:e>
                            </m:mr>
                          </m:m>
                        </m:e>
                      </m:d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       A,B,C,D,X,Y,Z,W ∈ H</m:t>
                      </m:r>
                    </m:oMath>
                  </m:oMathPara>
                </a14:m>
              </mc:Choice>
              <mc:Fallback/>
            </mc:AlternateContent>
            <a:endParaRPr lang="en-US" sz="2000"/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A,D 为纯虚四元数，对应于 sp(2)的对角块；</a:t>
            </a:r>
            <a:endParaRPr lang="en-US" sz="20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B,C 为一般四元数，对应于非对角块。</a:t>
            </a:r>
            <a:endParaRPr lang="en-US" sz="2000"/>
          </a:p>
          <a:p>
            <a:pPr>
              <a:defRPr/>
            </a:pPr>
            <a:r>
              <a:rPr lang="en-US" sz="2000"/>
              <a:t>以上参数都显示含时</a:t>
            </a:r>
            <a:endParaRPr sz="2000"/>
          </a:p>
          <a:p>
            <a:pPr>
              <a:defRPr/>
            </a:pPr>
            <a:endParaRPr sz="2000"/>
          </a:p>
        </p:txBody>
      </p:sp>
      <p:pic>
        <p:nvPicPr>
          <p:cNvPr id="45578191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4659" y="2804576"/>
            <a:ext cx="12191999" cy="371334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7832622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816598" y="4218339"/>
            <a:ext cx="6486525" cy="2105024"/>
          </a:xfrm>
          <a:prstGeom prst="rect">
            <a:avLst/>
          </a:prstGeom>
        </p:spPr>
      </p:pic>
      <p:pic>
        <p:nvPicPr>
          <p:cNvPr id="1876127529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317499" y="1052512"/>
            <a:ext cx="11766944" cy="276665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2217623" name=""/>
          <p:cNvSpPr txBox="1"/>
          <p:nvPr/>
        </p:nvSpPr>
        <p:spPr bwMode="auto">
          <a:xfrm rot="0" flipH="0" flipV="0">
            <a:off x="442776" y="1128888"/>
            <a:ext cx="11681274" cy="4542734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000"/>
              <a:t>由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acc>
                        <m:accPr>
                          <m:chr m:val="̇"/>
                          <m:ctrlPr>
                            <a:rPr lang="en-US" sz="20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m:rPr>
                              <m:sty m:val="i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</m:acc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(t)</m:t>
                      </m:r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=K(t)</m:t>
                      </m:r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U(t)</m:t>
                      </m:r>
                    </m:oMath>
                  </m:oMathPara>
                </a14:m>
              </mc:Choice>
              <mc:Fallback/>
            </mc:AlternateContent>
            <a:r>
              <a:rPr lang="en-US" sz="2000"/>
              <a:t>,展开第一列:</a:t>
            </a:r>
            <a:endParaRPr sz="2000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d>
                        <m:dPr>
                          <m:ctrlPr>
                            <a:rPr lang="en-US" sz="20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000" b="0" i="1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acc>
                                <m:accPr>
                                  <m:chr m:val="̇"/>
                                  <m:ctrlPr>
                                    <a:rPr lang="en-US" sz="2000" i="1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i"/>
                                    </m:rPr>
                                    <a:rPr lang="en-US" sz="20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</m:acc>
                            </m:num>
                            <m:den>
                              <m:acc>
                                <m:accPr>
                                  <m:chr m:val="̇"/>
                                  <m:ctrlPr>
                                    <a:rPr lang="en-US" sz="2000" i="1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i"/>
                                    </m:rPr>
                                    <a:rPr lang="en-US" sz="20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Z</m:t>
                                  </m:r>
                                </m:e>
                              </m:acc>
                            </m:den>
                          </m:f>
                        </m:e>
                      </m:d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ctrlPr>
                            <a:rPr lang="en-US" sz="20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cGp/>
                              <m:cGpRule/>
                              <m:cSp/>
                              <m:mcs>
                                <m:mc>
                                  <m:mcPr>
                                    <m:mcJc m:val="center"/>
                                    <m:count m:val="2"/>
                                  </m:mcPr>
                                </m:mc>
                              </m:mcs>
                              <m:plcHide m:val="off"/>
                              <m:rSp/>
                              <m:rSpRule/>
                              <m:ctrlPr>
                                <a:rPr lang="en-US" sz="2000" b="0" i="1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i"/>
                                  </m:rPr>
                                  <a:rPr lang="en-US" sz="2000" u="none" strike="noStrike" cap="none" spc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  <m:e>
                                <m:r>
                                  <m:rPr>
                                    <m:sty m:val="i"/>
                                  </m:rPr>
                                  <a:rPr lang="en-US" sz="2000" u="none" strike="noStrike" cap="none" spc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B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i"/>
                                  </m:rPr>
                                  <a:rPr lang="en-US" sz="2000" u="none" strike="noStrike" cap="none" spc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C</m:t>
                                </m:r>
                              </m:e>
                              <m:e>
                                <m:r>
                                  <m:rPr>
                                    <m:sty m:val="i"/>
                                  </m:rPr>
                                  <a:rPr lang="en-US" sz="2000" u="none" strike="noStrike" cap="none" spc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D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US" sz="20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000" b="0" i="1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i"/>
                                </m:r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num>
                            <m:den>
                              <m:r>
                                <m:rPr>
                                  <m:sty m:val="i"/>
                                </m:r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Z</m:t>
                              </m:r>
                            </m:den>
                          </m:f>
                        </m:e>
                      </m:d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    </m:t>
                      </m:r>
                      <m:r>
                        <m:rPr/>
                        <a:rPr sz="2000">
                          <a:latin typeface="Cambria Math"/>
                          <a:ea typeface="Cambria Math"/>
                          <a:cs typeface="Cambria Math"/>
                        </a:rPr>
                        <m:t>→  </m:t>
                      </m:r>
                      <m:acc>
                        <m:accPr>
                          <m:chr m:val="̇"/>
                          <m:ctrlPr>
                            <a:rPr lang="zh-CN" sz="20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m:rPr>
                              <m:sty m:val="i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acc>
                      <m:r>
                        <m:rPr/>
                        <a:rPr sz="2000">
                          <a:latin typeface="Cambria Math"/>
                          <a:ea typeface="Cambria Math"/>
                          <a:cs typeface="Cambria Math"/>
                        </a:rPr>
                        <m:t>=AX+BZ  , </m:t>
                      </m:r>
                      <m:acc>
                        <m:accPr>
                          <m:chr m:val="̇"/>
                          <m:ctrlPr>
                            <a:rPr lang="zh-CN" sz="20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m:rPr>
                              <m:sty m:val="i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Z</m:t>
                          </m:r>
                        </m:e>
                      </m:acc>
                      <m:r>
                        <m:rPr/>
                        <a:rPr sz="2000">
                          <a:latin typeface="Cambria Math"/>
                          <a:ea typeface="Cambria Math"/>
                          <a:cs typeface="Cambria Math"/>
                        </a:rPr>
                        <m:t>=CX+DZ</m:t>
                      </m:r>
                    </m:oMath>
                  </m:oMathPara>
                </a14:m>
              </mc:Choice>
              <mc:Fallback/>
            </mc:AlternateContent>
            <a:endParaRPr sz="2000"/>
          </a:p>
          <a:p>
            <a:pPr>
              <a:defRPr/>
            </a:pPr>
            <a:r>
              <a:rPr lang="en-US" sz="2000"/>
              <a:t>定义Riccati变量: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q=</m:t>
                      </m:r>
                      <m:sSup>
                        <m:sSup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ZX</m:t>
                          </m:r>
                        </m:e>
                        <m:sup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-1</m:t>
                          </m:r>
                        </m:sup>
                      </m:sSup>
                    </m:oMath>
                  </m:oMathPara>
                </a14:m>
              </mc:Choice>
              <mc:Fallback/>
            </mc:AlternateContent>
            <a:endParaRPr sz="2000"/>
          </a:p>
          <a:p>
            <a:pPr>
              <a:defRPr/>
            </a:pPr>
            <a:endParaRPr sz="20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a:r>
              <a:rPr lang="en-US" sz="2000" b="0" i="1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引入Riccati的原因:因为 U</a:t>
            </a:r>
            <a:r>
              <a:rPr lang="en-US" sz="2000" b="0" i="1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是 </a:t>
            </a:r>
            <a:r>
              <a:rPr lang="en-US" sz="2000" b="0" i="1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2×2 四元数矩阵（16 个实分量），而 </a:t>
            </a:r>
            <a:r>
              <a:rPr lang="en-US" sz="2000" b="0" i="1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q</a:t>
            </a:r>
            <a:r>
              <a:rPr lang="en-US" sz="2000" b="0" i="1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只是一个四元数（4 个实分量）。Riccati方法在这里是用比值替代绝对值，压缩掉冗余的自由度。</a:t>
            </a:r>
            <a:endParaRPr sz="2000" b="0" i="0" u="none" strike="noStrike" cap="none" spc="0">
              <a:solidFill>
                <a:schemeClr val="tx1"/>
              </a:solidFill>
              <a:latin typeface="等线"/>
              <a:ea typeface="等线"/>
              <a:cs typeface="等线"/>
            </a:endParaRPr>
          </a:p>
          <a:p>
            <a:pPr>
              <a:defRPr/>
            </a:pPr>
            <a:endParaRPr sz="2000"/>
          </a:p>
          <a:p>
            <a:pPr>
              <a:defRPr/>
            </a:pPr>
            <a:r>
              <a:rPr lang="en-US" sz="2000"/>
              <a:t>求导</a:t>
            </a:r>
            <a:endParaRPr sz="2000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acc>
                        <m:accPr>
                          <m:chr m:val="̇"/>
                          <m:ctrlPr>
                            <a:rPr lang="en-US" sz="20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m:rPr>
                              <m:sty m:val="i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q</m:t>
                          </m:r>
                        </m:e>
                      </m:acc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acc>
                        <m:accPr>
                          <m:chr m:val="̇"/>
                          <m:ctrlPr>
                            <a:rPr lang="en-US" sz="20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m:rPr>
                              <m:sty m:val="i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Z</m:t>
                          </m:r>
                        </m:e>
                      </m:acc>
                      <m:sSup>
                        <m:sSup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p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-1</m:t>
                          </m:r>
                        </m:sup>
                      </m:sSup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p>
                        <m:sSup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ZX</m:t>
                          </m:r>
                        </m:e>
                        <m:sup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-1</m:t>
                          </m:r>
                        </m:sup>
                      </m:sSup>
                      <m:acc>
                        <m:accPr>
                          <m:chr m:val="̇"/>
                          <m:ctrlPr>
                            <a:rPr lang="en-US" sz="20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m:rPr>
                              <m:sty m:val="i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acc>
                      <m:sSup>
                        <m:sSup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p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-1</m:t>
                          </m:r>
                        </m:sup>
                      </m:sSup>
                    </m:oMath>
                  </m:oMathPara>
                </a14:m>
              </mc:Choice>
              <mc:Fallback/>
            </mc:AlternateContent>
            <a:endParaRPr sz="2000"/>
          </a:p>
          <a:p>
            <a:pPr>
              <a:defRPr/>
            </a:pPr>
            <a:r>
              <a:rPr lang="en-US" sz="2000"/>
              <a:t>代入:</a:t>
            </a:r>
            <a:endParaRPr sz="2000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acc>
                        <m:accPr>
                          <m:chr m:val="̇"/>
                          <m:ctrlPr>
                            <a:rPr lang="en-US" sz="20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m:rPr>
                              <m:sty m:val="i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q</m:t>
                          </m:r>
                        </m:e>
                      </m:acc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("/>
                          <m:endChr m:val=")"/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CX+DZ</m:t>
                          </m:r>
                        </m:e>
                      </m:d>
                      <m:sSup>
                        <m:sSup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p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-1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-</m:t>
                      </m:r>
                      <m:d>
                        <m:dPr>
                          <m:begChr m:val="("/>
                          <m:endChr m:val=")"/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ZX</m:t>
                              </m:r>
                            </m:e>
                            <m:sup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-1</m:t>
                              </m:r>
                            </m:sup>
                          </m:sSup>
                        </m:e>
                      </m:d>
                      <m:d>
                        <m:dPr>
                          <m:begChr m:val="("/>
                          <m:endChr m:val=")"/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AX+BZ</m:t>
                          </m:r>
                        </m:e>
                      </m:d>
                      <m:sSup>
                        <m:sSup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p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-1</m:t>
                          </m:r>
                        </m:sup>
                      </m:sSup>
                    </m:oMath>
                  </m:oMathPara>
                </a14:m>
              </mc:Choice>
              <mc:Fallback/>
            </mc:AlternateContent>
            <a:endParaRPr sz="2000" u="none" strike="noStrike" cap="none" spc="0">
              <a:solidFill>
                <a:schemeClr val="tx1"/>
              </a:solidFill>
              <a:latin typeface="Cambria Math"/>
              <a:ea typeface="Cambria Math"/>
              <a:cs typeface="Cambria Math"/>
            </a:endParaRPr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=C+D</m:t>
                      </m:r>
                      <m:d>
                        <m:dPr>
                          <m:begChr m:val="("/>
                          <m:endChr m:val=")"/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pPr>
                            <m:e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ZX</m:t>
                              </m:r>
                            </m:e>
                            <m:sup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-1</m:t>
                              </m:r>
                            </m:sup>
                          </m:sSup>
                        </m:e>
                      </m:d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-</m:t>
                      </m:r>
                      <m:d>
                        <m:dPr>
                          <m:begChr m:val="("/>
                          <m:endChr m:val=")"/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pPr>
                            <m:e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ZX</m:t>
                              </m:r>
                            </m:e>
                            <m:sup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-1</m:t>
                              </m:r>
                            </m:sup>
                          </m:sSup>
                        </m:e>
                      </m:d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A-</m:t>
                      </m:r>
                      <m:d>
                        <m:dPr>
                          <m:begChr m:val="("/>
                          <m:endChr m:val=")"/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pPr>
                            <m:e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ZX</m:t>
                              </m:r>
                            </m:e>
                            <m:sup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-1</m:t>
                              </m:r>
                            </m:sup>
                          </m:sSup>
                        </m:e>
                      </m:d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B</m:t>
                      </m:r>
                      <m:d>
                        <m:dPr>
                          <m:begChr m:val="("/>
                          <m:endChr m:val=")"/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pPr>
                            <m:e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ZX</m:t>
                              </m:r>
                            </m:e>
                            <m:sup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-1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</mc:Choice>
              <mc:Fallback/>
            </mc:AlternateContent>
            <a:endParaRPr sz="2000" u="none" strike="noStrike" cap="none" spc="0">
              <a:solidFill>
                <a:schemeClr val="tx1"/>
              </a:solidFill>
              <a:latin typeface="Cambria Math"/>
              <a:ea typeface="Cambria Math"/>
              <a:cs typeface="Cambria Math"/>
            </a:endParaRPr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=C+Dq-qA-qBq</m:t>
                      </m:r>
                    </m:oMath>
                  </m:oMathPara>
                </a14:m>
              </mc:Choice>
              <mc:Fallback/>
            </mc:AlternateContent>
            <a:endParaRPr sz="2000" u="none" strike="noStrike" cap="none" spc="0">
              <a:solidFill>
                <a:schemeClr val="tx1"/>
              </a:solidFill>
              <a:latin typeface="Cambria Math"/>
              <a:ea typeface="Cambria Math"/>
              <a:cs typeface="Cambria Math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4183742" name=""/>
          <p:cNvSpPr txBox="1"/>
          <p:nvPr/>
        </p:nvSpPr>
        <p:spPr bwMode="auto">
          <a:xfrm rot="0" flipH="0" flipV="0">
            <a:off x="548608" y="1023053"/>
            <a:ext cx="11023596" cy="418839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000"/>
              <a:t>Riccati ODE:</a:t>
            </a:r>
            <a:endParaRPr sz="2000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acc>
                        <m:accPr>
                          <m:chr m:val="̇"/>
                          <m:ctrlPr>
                            <a:rPr lang="en-US" sz="20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m:rPr>
                              <m:sty m:val="i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q</m:t>
                          </m:r>
                        </m:e>
                      </m:acc>
                      <m:d>
                        <m:dPr>
                          <m:begChr m:val="("/>
                          <m:endChr m:val=")"/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=C</m:t>
                      </m:r>
                      <m:d>
                        <m:dPr>
                          <m:begChr m:val="("/>
                          <m:endChr m:val=")"/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+D</m:t>
                      </m:r>
                      <m:d>
                        <m:dPr>
                          <m:begChr m:val="("/>
                          <m:endChr m:val=")"/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q</m:t>
                      </m:r>
                      <m:d>
                        <m:dPr>
                          <m:begChr m:val="("/>
                          <m:endChr m:val=")"/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-q</m:t>
                      </m:r>
                      <m:d>
                        <m:dPr>
                          <m:begChr m:val="("/>
                          <m:endChr m:val=")"/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d>
                        <m:dPr>
                          <m:begChr m:val="("/>
                          <m:endChr m:val=")"/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-q</m:t>
                      </m:r>
                      <m:d>
                        <m:dPr>
                          <m:begChr m:val="("/>
                          <m:endChr m:val=")"/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B</m:t>
                      </m:r>
                      <m:d>
                        <m:dPr>
                          <m:begChr m:val="("/>
                          <m:endChr m:val=")"/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q</m:t>
                      </m:r>
                      <m:d>
                        <m:dPr>
                          <m:begChr m:val="("/>
                          <m:endChr m:val=")"/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     q</m:t>
                      </m:r>
                      <m:d>
                        <m:dPr>
                          <m:begChr m:val="("/>
                          <m:endChr m:val=")"/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=0</m:t>
                      </m:r>
                    </m:oMath>
                  </m:oMathPara>
                </a14:m>
              </mc:Choice>
              <mc:Fallback/>
            </mc:AlternateContent>
            <a:endParaRPr sz="2000"/>
          </a:p>
          <a:p>
            <a:pPr>
              <a:defRPr/>
            </a:pPr>
            <a:endParaRPr sz="2000"/>
          </a:p>
          <a:p>
            <a:pPr>
              <a:defRPr/>
            </a:pPr>
            <a:endParaRPr sz="2000"/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三段演化步骤的差异仅体现在 A(t) B(t) C(t) D(t) 的时变系数中（由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,E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和门控函数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±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 决定），ODE 形式不变。</a:t>
            </a:r>
            <a:endParaRPr sz="2000"/>
          </a:p>
          <a:p>
            <a:pPr>
              <a:defRPr/>
            </a:pPr>
            <a:endParaRPr sz="20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cs typeface="等线"/>
              </a:rPr>
              <a:t>补充一点:</a:t>
            </a:r>
            <a:endParaRPr sz="20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X(t)的可逆性：Sp(2) 矩阵满足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p>
                        <m:sSup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UU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†</m:t>
                          </m:r>
                        </m:sup>
                      </m:sSup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=I</m:t>
                      </m:r>
                    </m:oMath>
                  </m:oMathPara>
                </a14:m>
              </mc:Choice>
              <mc:Fallback/>
            </mc:AlternateContent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，展开左上角得</a:t>
            </a:r>
            <a:endParaRPr sz="20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p>
                        <m:sSupPr>
                          <m:ctrlPr>
                            <a:rPr lang="en-US" sz="200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m:rPr/>
                            <a:rPr lang="en-US" sz="20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|</m:t>
                          </m:r>
                          <m:r>
                            <m:rPr>
                              <m:sty m:val="i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|</m:t>
                          </m:r>
                        </m:e>
                        <m:sup>
                          <m:r>
                            <m:rPr>
                              <m:sty m:val="i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p>
                        <m:sSupPr>
                          <m:ctrlPr>
                            <a:rPr lang="en-US" sz="200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m:rPr/>
                            <a:rPr lang="en-US" sz="20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|</m:t>
                          </m:r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Z|</m:t>
                          </m:r>
                        </m:e>
                        <m:sup>
                          <m:r>
                            <m:rPr>
                              <m:sty m:val="i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=1</m:t>
                      </m:r>
                    </m:oMath>
                  </m:oMathPara>
                </a14:m>
              </mc:Choice>
              <mc:Fallback/>
            </mc:AlternateContent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   初始 X(0)=1 (|X|=1,因为U(0)=I,因此X(0)为1)。若 X(t)-&gt;0，则需 Z-&gt;1，</a:t>
            </a:r>
            <a:endParaRPr sz="20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此时q发散——这是 Riccati 坐标图的边界奇点，而非物理奇点。类比球面投影,类似北极点</a:t>
            </a:r>
            <a:endParaRPr sz="2000"/>
          </a:p>
          <a:p>
            <a:pPr>
              <a:defRPr/>
            </a:pPr>
            <a:endParaRPr sz="20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a:endParaRPr sz="20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0082194" name=""/>
          <p:cNvSpPr txBox="1"/>
          <p:nvPr/>
        </p:nvSpPr>
        <p:spPr bwMode="auto">
          <a:xfrm rot="0" flipH="0" flipV="0">
            <a:off x="583888" y="1005416"/>
            <a:ext cx="11113946" cy="448448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zh-CN" sz="2000" b="1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总流程</a:t>
            </a:r>
            <a:r>
              <a:rPr lang="en-US" sz="2000" b="1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:</a:t>
            </a:r>
            <a:endParaRPr lang="zh-CN" sz="18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a:r>
              <a:rPr lang="zh-CN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 1. Riccati ODE (4 分量)                                 </a:t>
            </a:r>
            <a:endParaRPr lang="zh-CN" sz="18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a:r>
              <a:rPr lang="zh-CN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   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q̇ = C + Dq − qA − qBq,   q(0) = 0</m:t>
                      </m:r>
                    </m:oMath>
                  </m:oMathPara>
                </a14:m>
              </mc:Choice>
              <mc:Fallback/>
            </mc:AlternateContent>
            <a:r>
              <a:rPr lang="zh-CN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 </a:t>
            </a:r>
            <a:r>
              <a:rPr lang="zh-CN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→ 数值积分得到 q(t)                                   </a:t>
            </a:r>
            <a:endParaRPr lang="zh-CN" sz="1800" b="0" i="0" u="none" strike="noStrike" cap="none" spc="0">
              <a:solidFill>
                <a:schemeClr val="tx1"/>
              </a:solidFill>
              <a:latin typeface="等线"/>
              <a:ea typeface="等线"/>
              <a:cs typeface="等线"/>
            </a:endParaRPr>
          </a:p>
          <a:p>
            <a:pPr>
              <a:defRPr/>
            </a:pPr>
            <a:endParaRPr lang="zh-CN" sz="18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a:r>
              <a:rPr lang="zh-CN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 2. X(t) 重建 (4 分量)                                   </a:t>
            </a:r>
            <a:endParaRPr lang="zh-CN" sz="18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a:r>
              <a:rPr lang="zh-CN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   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Ẋ = (A + Bq)X,   X(0) = 1</m:t>
                      </m:r>
                    </m:oMath>
                  </m:oMathPara>
                </a14:m>
              </mc:Choice>
              <mc:Fallback/>
            </mc:AlternateContent>
            <a:r>
              <a:rPr lang="zh-CN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  </a:t>
            </a:r>
            <a:r>
              <a:rPr lang="zh-CN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→ 与 q(t) 联立积分得到 X(t)                           </a:t>
            </a:r>
            <a:endParaRPr lang="zh-CN" sz="18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a:endParaRPr lang="zh-CN" sz="18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a:r>
              <a:rPr lang="zh-CN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 3. 构建 Sp(2) 矩阵                                      </a:t>
            </a:r>
            <a:endParaRPr lang="zh-CN" sz="18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a:r>
              <a:rPr lang="zh-CN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   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Z(t) = q(t)·X(t)</m:t>
                      </m:r>
                    </m:oMath>
                  </m:oMathPara>
                </a14:m>
              </mc:Choice>
              <mc:Fallback/>
            </mc:AlternateContent>
            <a:r>
              <a:rPr lang="zh-CN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,  Y,W 同理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.  最后组合出来</a:t>
            </a:r>
            <a:r>
              <a:rPr lang="zh-CN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 </a:t>
            </a:r>
            <a:r>
              <a:rPr lang="zh-CN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U(t) ∈ Sp(2)                         </a:t>
            </a:r>
            <a:endParaRPr lang="zh-CN" sz="18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a:endParaRPr lang="zh-CN" sz="18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a:r>
              <a:rPr lang="zh-CN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 4. Sp(2) → SO(5) 旋量覆盖映射                           </a:t>
            </a:r>
            <a:endParaRPr lang="zh-CN" sz="18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a:r>
              <a:rPr lang="zh-CN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  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 </m:t>
                      </m:r>
                      <m:sSub>
                        <m:sSubPr>
                          <m:ctrl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  <m:sub>
                          <m:r>
                            <m:rPr/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ij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(t) = </m:t>
                      </m:r>
                      <m:d>
                        <m:dPr>
                          <m:begChr m:val="("/>
                          <m:endChr m:val=")"/>
                          <m:ctrl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zh-CN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zh-CN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m:rPr>
                          <m:sty m:val="p"/>
                        </m:rPr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Tr(</m:t>
                      </m:r>
                      <m:sSub>
                        <m:sSubPr>
                          <m:ctrl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Γ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 U </m:t>
                      </m:r>
                      <m:sSub>
                        <m:sSubPr>
                          <m:ctrl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Γ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 </m:t>
                      </m:r>
                      <m:sSup>
                        <m:sSupPr>
                          <m:ctrl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†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  </m:t>
                      </m:r>
                    </m:oMath>
                  </m:oMathPara>
                </a14:m>
              </mc:Choice>
              <mc:Fallback/>
            </mc:AlternateContent>
            <a:r>
              <a:rPr lang="zh-CN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  </a:t>
            </a:r>
            <a:r>
              <a:rPr lang="zh-CN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→ 得到 Majorana 演化矩阵 R(t) ∈ SO(5)                </a:t>
            </a:r>
            <a:endParaRPr lang="zh-CN" sz="18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a:endParaRPr lang="zh-CN" sz="18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a:r>
              <a:rPr lang="zh-CN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 5. 提取 MZM 子空间 </a:t>
            </a:r>
            <a:r>
              <a:rPr lang="zh-CN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→ 得到 γ₁,γ₂,γ₃ 的 braiding 结果                     </a:t>
            </a:r>
            <a:endParaRPr lang="zh-CN" sz="18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8067403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58749" y="2142295"/>
            <a:ext cx="11140746" cy="3643259"/>
          </a:xfrm>
          <a:prstGeom prst="rect">
            <a:avLst/>
          </a:prstGeom>
        </p:spPr>
      </p:pic>
      <p:sp>
        <p:nvSpPr>
          <p:cNvPr id="1530353805" name=""/>
          <p:cNvSpPr txBox="1"/>
          <p:nvPr/>
        </p:nvSpPr>
        <p:spPr bwMode="auto">
          <a:xfrm rot="0" flipH="0" flipV="0">
            <a:off x="213471" y="952498"/>
            <a:ext cx="12253276" cy="1234234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Riccati的误差</a:t>
            </a:r>
            <a:r>
              <a:rPr lang="en-US"/>
              <a:t>:</a:t>
            </a:r>
            <a:endParaRPr lang="en-US"/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A:（直接传播）：数值求解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acc>
                        <m:accPr>
                          <m:chr m:val="̇"/>
                          <m:ctrlPr>
                            <a:rPr lang="en-US" sz="18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m:rPr>
                              <m:sty m:val="i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</m:acc>
                      <m:r>
                        <m:rPr>
                          <m:sty m:val="p"/>
                        </m:rPr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(t)</m:t>
                      </m:r>
                      <m:r>
                        <m:rPr>
                          <m:sty m:val="p"/>
                        </m:rPr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=K(t)</m:t>
                      </m:r>
                      <m:r>
                        <m:rPr>
                          <m:sty m:val="p"/>
                        </m:rPr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U(t)</m:t>
                      </m:r>
                    </m:oMath>
                  </m:oMathPara>
                </a14:m>
              </mc:Choice>
              <mc:Fallback/>
            </mc:AlternateContent>
            <a:r>
              <a:rPr lang="en-US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得到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U(t) 的 16 个实分量，从中提取</a:t>
            </a:r>
            <a:r>
              <a:rPr lang="en-US"/>
              <a:t>q</a:t>
            </a:r>
            <a:endParaRPr lang="en-US" sz="18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B:（Riccati ODE）：数值求解q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 , 然后逐时间点比较两种方法得到的q</a:t>
            </a:r>
            <a:endParaRPr lang="en-US" sz="18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a:endParaRPr/>
          </a:p>
        </p:txBody>
      </p:sp>
      <p:sp>
        <p:nvSpPr>
          <p:cNvPr id="295231371" name=""/>
          <p:cNvSpPr txBox="1"/>
          <p:nvPr/>
        </p:nvSpPr>
        <p:spPr bwMode="auto">
          <a:xfrm rot="0" flipH="0" flipV="0">
            <a:off x="1324721" y="352777"/>
            <a:ext cx="6455834" cy="46796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400" b="1"/>
              <a:t>第三部分</a:t>
            </a:r>
            <a:r>
              <a:rPr lang="en-US" sz="2400" b="1"/>
              <a:t>:验证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5991258" name=""/>
          <p:cNvSpPr txBox="1"/>
          <p:nvPr/>
        </p:nvSpPr>
        <p:spPr bwMode="auto">
          <a:xfrm rot="0" flipH="0" flipV="0">
            <a:off x="1174590" y="388055"/>
            <a:ext cx="10346109" cy="4366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200" b="1"/>
              <a:t>E</a:t>
            </a:r>
            <a:r>
              <a:rPr lang="en-US" sz="2200" b="1"/>
              <a:t>1=0和t1=0的极限情况: MZM</a:t>
            </a:r>
            <a:endParaRPr/>
          </a:p>
        </p:txBody>
      </p:sp>
      <p:pic>
        <p:nvPicPr>
          <p:cNvPr id="37515932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58812" y="1349374"/>
            <a:ext cx="10829925" cy="44767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209765" name=""/>
          <p:cNvSpPr txBox="1"/>
          <p:nvPr/>
        </p:nvSpPr>
        <p:spPr bwMode="auto">
          <a:xfrm rot="0" flipH="0" flipV="0">
            <a:off x="1335272" y="363681"/>
            <a:ext cx="8993138" cy="378264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/>
              <a:t>[A,q]项是纯旋转：</a:t>
            </a:r>
            <a:endParaRPr/>
          </a:p>
        </p:txBody>
      </p:sp>
      <p:pic>
        <p:nvPicPr>
          <p:cNvPr id="25224886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2075783" y="971899"/>
            <a:ext cx="9049263" cy="571291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4849895" name=""/>
          <p:cNvSpPr txBox="1"/>
          <p:nvPr/>
        </p:nvSpPr>
        <p:spPr bwMode="auto">
          <a:xfrm rot="0" flipH="0" flipV="0">
            <a:off x="1412916" y="405694"/>
            <a:ext cx="11535836" cy="4366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200"/>
              <a:t>E1=0 t1=0的MZM情况,对应论文fig.1(b): </a:t>
            </a:r>
            <a:endParaRPr lang="en-US"/>
          </a:p>
        </p:txBody>
      </p:sp>
      <p:pic>
        <p:nvPicPr>
          <p:cNvPr id="68655465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587916" y="946679"/>
            <a:ext cx="7273312" cy="4040728"/>
          </a:xfrm>
          <a:prstGeom prst="rect">
            <a:avLst/>
          </a:prstGeom>
        </p:spPr>
      </p:pic>
      <p:pic>
        <p:nvPicPr>
          <p:cNvPr id="1543426880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91953" y="1130299"/>
            <a:ext cx="4495962" cy="300628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9594613" name=""/>
          <p:cNvSpPr txBox="1"/>
          <p:nvPr/>
        </p:nvSpPr>
        <p:spPr bwMode="auto">
          <a:xfrm rot="0" flipH="0" flipV="0">
            <a:off x="707359" y="952498"/>
            <a:ext cx="11078332" cy="5203657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/>
              <a:t>ABS braid -&gt; 任意bloch旋转的验证:</a:t>
            </a: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E1=0 </m:t>
                      </m:r>
                      <m:r>
                        <m:rPr/>
                        <a:rPr>
                          <a:latin typeface="Cambria Math"/>
                          <a:ea typeface="Cambria Math"/>
                          <a:cs typeface="Cambria Math"/>
                        </a:rPr>
                        <m:t>→</m:t>
                      </m:r>
                      <m:sSub>
                        <m:sSubPr>
                          <m:ctrlPr>
                            <a:rPr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>
                              <a:latin typeface="Cambria Math"/>
                              <a:ea typeface="Cambria Math"/>
                              <a:cs typeface="Cambria Math"/>
                            </a:rPr>
                            <m:t>Σ</m:t>
                          </m:r>
                        </m:e>
                        <m:sub>
                          <m:r>
                            <m:rPr/>
                            <a:rPr>
                              <a:latin typeface="Cambria Math"/>
                              <a:ea typeface="Cambria Math"/>
                              <a:cs typeface="Cambria Math"/>
                            </a:rPr>
                            <m:t>12</m:t>
                          </m:r>
                        </m:sub>
                      </m:sSub>
                      <m:r>
                        <m:rPr/>
                        <a:rPr>
                          <a:latin typeface="Cambria Math"/>
                          <a:ea typeface="Cambria Math"/>
                          <a:cs typeface="Cambria Math"/>
                        </a:rPr>
                        <m:t>=0 </m:t>
                      </m:r>
                      <m:r>
                        <m:rPr/>
                        <a:rPr>
                          <a:latin typeface="Cambria Math"/>
                          <a:ea typeface="Cambria Math"/>
                          <a:cs typeface="Cambria Math"/>
                        </a:rPr>
                        <m:t>→ A=D</m:t>
                      </m:r>
                    </m:oMath>
                  </m:oMathPara>
                </a14:m>
              </mc:Choice>
              <mc:Fallback/>
            </mc:AlternateContent>
            <a:endParaRPr lang="en-US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acc>
                        <m:accPr>
                          <m:chr m:val="̇"/>
                          <m:ctrlPr>
                            <a:rPr lang="en-US" sz="18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m:rPr>
                              <m:sty m:val="i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q</m:t>
                          </m:r>
                        </m:e>
                      </m:acc>
                      <m:r>
                        <m:rPr>
                          <m:sty m:val="p"/>
                        </m:rPr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=C+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A,q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-qBq</m:t>
                      </m:r>
                    </m:oMath>
                  </m:oMathPara>
                </a14:m>
              </mc:Choice>
              <mc:Fallback/>
            </mc:AlternateContent>
            <a:endParaRPr lang="en-US"/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线性部分退化为纯四元数对易子（纯旋转）</a:t>
            </a:r>
            <a:r>
              <a:rPr lang="en-US"/>
              <a:t>, ancilla项因为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q=</m:t>
                      </m:r>
                      <m:sSup>
                        <m:sSupPr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ZX</m:t>
                          </m:r>
                        </m:e>
                        <m:sup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-1</m:t>
                          </m:r>
                        </m:sup>
                      </m:sSup>
                    </m:oMath>
                  </m:oMathPara>
                </a14:m>
              </mc:Choice>
              <mc:Fallback/>
            </mc:AlternateContent>
            <a:r>
              <a:rPr lang="en-US"/>
              <a:t>被吸收进了q里面</a:t>
            </a: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代入X(t)得到:</a:t>
            </a:r>
            <a:endParaRPr lang="en-US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acc>
                        <m:accPr>
                          <m:chr m:val="̇"/>
                          <m:ctrlPr>
                            <a:rPr lang="en-US" sz="18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m:rPr>
                              <m:sty m:val="i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  </m:t>
                          </m:r>
                        </m:e>
                      </m:acc>
                      <m:r>
                        <m:rPr>
                          <m:sty m:val="p"/>
                        </m:rPr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=AX+BZ=AX+B</m:t>
                      </m:r>
                      <m:d>
                        <m:dPr>
                          <m:begChr m:val="("/>
                          <m:endChr m:val=")"/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qZ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=(A+Bq)X</m:t>
                      </m:r>
                    </m:oMath>
                  </m:oMathPara>
                </a14:m>
              </mc:Choice>
              <mc:Fallback/>
            </mc:AlternateContent>
            <a:endParaRPr lang="en-US"/>
          </a:p>
          <a:p>
            <a:pPr>
              <a:defRPr/>
            </a:pPr>
            <a:r>
              <a:rPr lang="en-US"/>
              <a:t>因此可以得到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d>
                        <m:dPr>
                          <m:begChr m:val="{"/>
                          <m:endChr m:val=""/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γ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m:rPr/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sSub>
                        <m:sSubPr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γ</m:t>
                          </m:r>
                        </m:e>
                        <m:sub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,γ</m:t>
                          </m:r>
                        </m:e>
                        <m:sub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</m:t>
                          </m:r>
                        </m:sub>
                      </m:sSub>
                      <m:r>
                        <m:rPr/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}</m:t>
                      </m:r>
                    </m:oMath>
                  </m:oMathPara>
                </a14:m>
              </mc:Choice>
              <mc:Fallback/>
            </mc:AlternateContent>
            <a:r>
              <a:rPr lang="en-US"/>
              <a:t>空间上 (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γ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sub>
                      </m:sSub>
                      <m:sSub>
                        <m:sSubPr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,γ</m:t>
                          </m:r>
                        </m:e>
                        <m:sub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sub>
                      </m:sSub>
                      <m:r>
                        <m:rPr/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</mc:Choice>
              <mc:Fallback/>
            </mc:AlternateContent>
            <a:r>
              <a:rPr lang="en-US"/>
              <a:t>吸收到了q里面</a:t>
            </a:r>
            <a:r>
              <a:rPr lang="en-US"/>
              <a:t>:</a:t>
            </a:r>
            <a:endParaRPr lang="en-US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X</m:t>
                      </m:r>
                      <m:d>
                        <m:dPr>
                          <m:begChr m:val="("/>
                          <m:endChr m:val=")"/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=T exp(</m:t>
                      </m:r>
                      <m:nary>
                        <m:naryPr>
                          <m:chr m:val="∫"/>
                          <m:grow m:val="off"/>
                          <m:limLoc m:val="subSup"/>
                          <m:ctrlPr>
                            <a:rPr lang="en-US" sz="18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m:rPr>
                              <m:sty m:val="i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  <m:sup>
                          <m:r>
                            <m:rPr>
                              <m:sty m:val="i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p>
                        <m:e>
                          <m:sSub>
                            <m:sSubPr>
                              <m:ctrlPr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i"/>
                                </m:rPr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e>
                            <m:sub>
                              <m:r>
                                <m:rPr>
                                  <m:sty m:val="i"/>
                                </m:rPr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eff</m:t>
                              </m:r>
                              <m:d>
                                <m:dPr>
                                  <m:begChr m:val="("/>
                                  <m:endChr m:val=")"/>
                                  <m:ctrlPr>
                                    <a:rPr lang="en-US" sz="18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m:rPr/>
                                    <a:rPr lang="en-US" sz="18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s</m:t>
                                  </m:r>
                                </m:e>
                              </m:d>
                            </m:sub>
                          </m:sSub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ds</m:t>
                          </m:r>
                        </m:e>
                      </m:nary>
                      <m:r>
                        <m:rPr>
                          <m:sty m:val="p"/>
                        </m:rPr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   ,      </m:t>
                      </m:r>
                      <m:r>
                        <m:rPr>
                          <m:sty m:val="p"/>
                        </m:rPr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X</m:t>
                      </m:r>
                      <m:d>
                        <m:dPr>
                          <m:begChr m:val="("/>
                          <m:endChr m:val=")"/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=1</m:t>
                      </m:r>
                    </m:oMath>
                  </m:oMathPara>
                </a14:m>
              </mc:Choice>
              <mc:Fallback/>
            </mc:AlternateContent>
            <a:endParaRPr lang="en-US"/>
          </a:p>
          <a:p>
            <a:pPr>
              <a:defRPr/>
            </a:pPr>
            <a:r>
              <a:rPr lang="en-US"/>
              <a:t>其中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eff</m:t>
                          </m:r>
                        </m:sub>
                      </m:sSub>
                      <m:r>
                        <m:rPr/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=A+Bq ∈ su(2)</m:t>
                      </m:r>
                    </m:oMath>
                  </m:oMathPara>
                </a14:m>
              </mc:Choice>
              <mc:Fallback/>
            </mc:AlternateContent>
            <a:r>
              <a:rPr lang="en-US"/>
              <a:t>,可以具体表示成:</a:t>
            </a: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  <p:sp>
        <p:nvSpPr>
          <p:cNvPr id="268581184" name=""/>
          <p:cNvSpPr txBox="1"/>
          <p:nvPr/>
        </p:nvSpPr>
        <p:spPr bwMode="auto">
          <a:xfrm rot="0" flipH="0" flipV="0">
            <a:off x="1377638" y="423333"/>
            <a:ext cx="5750638" cy="4366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200" b="1"/>
              <a:t>E1=0, t1</a:t>
            </a:r>
            <a:r>
              <a:rPr lang="en-US" sz="2200" b="1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≠</a:t>
            </a:r>
            <a:r>
              <a:rPr lang="en-US" sz="2200" b="1"/>
              <a:t>0极限验证:</a:t>
            </a:r>
            <a:endParaRPr/>
          </a:p>
        </p:txBody>
      </p:sp>
      <p:pic>
        <p:nvPicPr>
          <p:cNvPr id="178997911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733912" y="4963583"/>
            <a:ext cx="4572000" cy="8381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8210083" name=""/>
          <p:cNvSpPr txBox="1"/>
          <p:nvPr/>
        </p:nvSpPr>
        <p:spPr bwMode="auto">
          <a:xfrm rot="0" flipH="0" flipV="0">
            <a:off x="407496" y="282220"/>
            <a:ext cx="11821631" cy="667473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/>
              <a:t>	得到有效哈密顿:</a:t>
            </a:r>
            <a:endParaRPr lang="en-US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eff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ctrl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  <m:r>
                        <m:rPr/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iK</m:t>
                          </m:r>
                        </m:e>
                        <m:sub>
                          <m:r>
                            <m:rPr/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eff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ctrl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  <m:r>
                        <m:rPr/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=i(A</m:t>
                      </m:r>
                      <m:d>
                        <m:dPr>
                          <m:begChr m:val="("/>
                          <m:endChr m:val=")"/>
                          <m:ctrl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  <m:r>
                        <m:rPr/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+B(t)q</m:t>
                      </m:r>
                      <m:d>
                        <m:dPr>
                          <m:begChr m:val="("/>
                          <m:endChr m:val=")"/>
                          <m:ctrl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  <m:r>
                        <m:rPr/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</mc:Choice>
              <mc:Fallback/>
            </mc:AlternateContent>
            <a:endParaRPr lang="en-US"/>
          </a:p>
          <a:p>
            <a:pPr>
              <a:defRPr/>
            </a:pPr>
            <a:r>
              <a:rPr lang="en-US"/>
              <a:t>对应的: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二次项生成封闭 su(2) -&gt; SO(3) 旋转。</a:t>
            </a: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具体闭包:</a:t>
            </a:r>
            <a:endParaRPr lang="en-US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d>
                        <m:dPr>
                          <m:begChr m:val="{"/>
                          <m:endChr m:val="}"/>
                          <m:ctrlPr>
                            <a:rPr lang="en-US" sz="18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i"/>
                                </m:rPr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γ</m:t>
                              </m:r>
                            </m:e>
                            <m:sub>
                              <m:r>
                                <m:rPr>
                                  <m:sty m:val="i"/>
                                </m:rPr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γ</m:t>
                              </m:r>
                            </m:e>
                            <m:sub>
                              <m:r>
                                <m:rPr/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,γ</m:t>
                              </m:r>
                            </m:e>
                            <m:sub>
                              <m:r>
                                <m:rPr/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γ</m:t>
                              </m:r>
                            </m:e>
                            <m:sub>
                              <m:r>
                                <m:rPr/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,γ</m:t>
                              </m:r>
                            </m:e>
                            <m:sub>
                              <m:r>
                                <m:rPr/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γ</m:t>
                              </m:r>
                            </m:e>
                            <m:sub>
                              <m:r>
                                <m:rPr/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</mc:Choice>
              <mc:Fallback/>
            </mc:AlternateContent>
            <a:endParaRPr lang="en-US"/>
          </a:p>
          <a:p>
            <a:pPr>
              <a:defRPr/>
            </a:pPr>
            <a:r>
              <a:rPr lang="en-US"/>
              <a:t>构成su(2)三元组,所有对易操作全在su(2)内.因此演化算符在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d>
                        <m:dPr>
                          <m:begChr m:val="{"/>
                          <m:endChr m:val="}"/>
                          <m:ctrlPr>
                            <a:rPr lang="en-US" sz="18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i"/>
                                </m:rPr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γ</m:t>
                              </m:r>
                            </m:e>
                            <m:sub>
                              <m:r>
                                <m:rPr>
                                  <m:sty m:val="i"/>
                                </m:rPr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,γ</m:t>
                              </m:r>
                            </m:e>
                            <m:sub>
                              <m:r>
                                <m:rPr/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,γ</m:t>
                              </m:r>
                            </m:e>
                            <m:sub>
                              <m:r>
                                <m:rPr/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</mc:Choice>
              <mc:Fallback/>
            </mc:AlternateContent>
            <a:r>
              <a:rPr lang="en-US"/>
              <a:t>这三个majorana的空间上满足SO(3)</a:t>
            </a: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在E1=0时,哈密顿中没有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γ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γ</m:t>
                          </m:r>
                        </m:e>
                        <m:sub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en-US"/>
              <a:t>,也就是没有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z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en-US"/>
              <a:t>方向（从A=D得到ancilla对称）.即在x-y平面内.t1和之前t2,t3不同，t2,t3对应的是A的分量，是移入/出QD，而t1是B的分量，表示majorana的间接耦合。</a:t>
            </a:r>
            <a:r>
              <a:rPr lang="en-US"/>
              <a:t>通过B给出了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y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endParaRPr lang="en-US"/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演化的解:</a:t>
            </a:r>
            <a:endParaRPr sz="1800"/>
          </a:p>
          <a:p>
            <a:pPr>
              <a:defRPr/>
            </a:pPr>
            <a:endParaRPr sz="1800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123</m:t>
                          </m:r>
                        </m:sub>
                      </m:sSub>
                      <m:r>
                        <m:rPr/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=exp(-iϕ</m:t>
                      </m:r>
                      <m:acc>
                        <m:accPr>
                          <m:chr m:val="̂"/>
                          <m:ctrlPr>
                            <a:rPr lang="en-US" sz="18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m:rPr>
                              <m:sty m:val="i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e>
                      </m:acc>
                      <m:r>
                        <m:rPr/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acc>
                        <m:accPr>
                          <m:chr m:val="⃑"/>
                          <m:ctrlPr>
                            <a:rPr lang="en-US" sz="18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m:rPr>
                              <m:sty m:val="i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σ</m:t>
                          </m:r>
                        </m:e>
                      </m:acc>
                      <m:r>
                        <m:rPr/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</mc:Choice>
              <mc:Fallback/>
            </mc:AlternateContent>
            <a:endParaRPr sz="1800" u="none" strike="noStrike" cap="none" spc="0">
              <a:solidFill>
                <a:schemeClr val="tx1"/>
              </a:solidFill>
              <a:latin typeface="Cambria Math"/>
              <a:ea typeface="Cambria Math"/>
              <a:cs typeface="Cambria Math"/>
            </a:endParaRPr>
          </a:p>
          <a:p>
            <a:pPr>
              <a:defRPr/>
            </a:pPr>
            <a:endParaRPr sz="1800" u="none" strike="noStrike" cap="none" spc="0">
              <a:solidFill>
                <a:schemeClr val="tx1"/>
              </a:solidFill>
              <a:latin typeface="Cambria Math"/>
              <a:ea typeface="Cambria Math"/>
              <a:cs typeface="Cambria Math"/>
            </a:endParaRPr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ϕ=</m:t>
                      </m:r>
                      <m:rad>
                        <m:radPr>
                          <m:degHide m:val="on"/>
                          <m:ctrlPr>
                            <a:rPr lang="zh-CN" sz="18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radPr>
                        <m:deg>
                          <m:r>
                            <m:rPr/>
                            <a:rPr sz="1800">
                              <a:latin typeface="Cambria Math"/>
                              <a:ea typeface="Cambria Math"/>
                              <a:cs typeface="Cambria Math"/>
                            </a:rPr>
                            <m:t/>
                          </m:r>
                        </m:deg>
                        <m:e>
                          <m:sSup>
                            <m:sSupPr>
                              <m:ctrlPr>
                                <a:rPr lang="zh-CN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("/>
                                  <m:endChr m:val=")"/>
                                  <m:ctrlPr>
                                    <a:rPr lang="zh-CN" sz="18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sz="1800" u="none" strike="noStrike" cap="none" spc="0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i"/>
                                        </m:rPr>
                                        <a:rPr lang="zh-CN" sz="1800" u="none" strike="noStrike" cap="none" spc="0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Φ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i"/>
                                        </m:rPr>
                                        <a:rPr lang="zh-CN" sz="1800" u="none" strike="noStrike" cap="none" spc="0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G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m:rPr/>
                                <a:rPr lang="zh-CN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m:rPr/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sSup>
                            <m:sSupPr>
                              <m:ctrlPr>
                                <a:rPr lang="zh-CN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("/>
                                  <m:endChr m:val=")"/>
                                  <m:ctrlPr>
                                    <a:rPr lang="zh-CN" sz="18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sz="1800" u="none" strike="noStrike" cap="none" spc="0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/>
                                        <a:rPr lang="zh-CN" sz="1800" u="none" strike="noStrike" cap="none" spc="0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Φ</m:t>
                                      </m:r>
                                    </m:e>
                                    <m:sub>
                                      <m:r>
                                        <m:rPr/>
                                        <a:rPr lang="zh-CN" sz="1800" u="none" strike="noStrike" cap="none" spc="0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D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m:rPr/>
                                <a:rPr lang="zh-CN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m:rPr>
                          <m:sty m:val="p"/>
                        </m:rPr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   </m:t>
                      </m:r>
                      <m:acc>
                        <m:accPr>
                          <m:chr m:val="̂"/>
                          <m:ctrlPr>
                            <a:rPr lang="zh-CN" sz="18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m:rPr>
                              <m:sty m:val="i"/>
                            </m:r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zh-CN" sz="18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sty m:val="i"/>
                            </m:r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i"/>
                                </m:rPr>
                                <a:rPr lang="zh-CN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Φ</m:t>
                              </m:r>
                            </m:e>
                            <m:sub>
                              <m:r>
                                <m:rPr>
                                  <m:sty m:val="i"/>
                                </m:rPr>
                                <a:rPr lang="zh-CN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G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zh-CN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,Φ</m:t>
                              </m:r>
                            </m:e>
                            <m:sub>
                              <m:r>
                                <m:rPr/>
                                <a:rPr lang="zh-CN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D</m:t>
                              </m:r>
                            </m:sub>
                          </m:sSub>
                          <m:r>
                            <m:rPr/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m:rPr/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  <m:r>
                            <m:rPr/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i"/>
                            </m:r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ϕ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=(cos </m:t>
                      </m:r>
                      <m:r>
                        <m:rPr>
                          <m:sty m:val="p"/>
                        </m:rPr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α</m:t>
                      </m:r>
                      <m:r>
                        <m:rPr>
                          <m:sty m:val="p"/>
                        </m:rPr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,sin </m:t>
                      </m:r>
                      <m:r>
                        <m:rPr>
                          <m:sty m:val="p"/>
                        </m:rPr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α,0</m:t>
                      </m:r>
                      <m:r>
                        <m:rPr>
                          <m:sty m:val="p"/>
                        </m:rPr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  ,  </m:t>
                      </m:r>
                      <m:sSub>
                        <m:sSubPr>
                          <m:ctrl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Φ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G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zh-CN" sz="18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sty m:val="i"/>
                            </m:r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π</m:t>
                          </m:r>
                        </m:num>
                        <m:den>
                          <m:r>
                            <m:rPr>
                              <m:sty m:val="i"/>
                            </m:r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 ,  </m:t>
                      </m:r>
                      <m:sSub>
                        <m:sSubPr>
                          <m:ctrl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Φ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grow m:val="off"/>
                          <m:limLoc m:val="subSup"/>
                          <m:ctrlPr>
                            <a:rPr lang="zh-CN" sz="18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m:rPr>
                              <m:sty m:val="i"/>
                            </m:r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  <m:sup>
                          <m:r>
                            <m:rPr>
                              <m:sty m:val="i"/>
                            </m:r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p>
                        <m:e>
                          <m:r>
                            <m:rPr>
                              <m:sty m:val="i"/>
                            </m:r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D(s)ds</m:t>
                          </m:r>
                        </m:e>
                      </m:nary>
                    </m:oMath>
                  </m:oMathPara>
                </a14:m>
              </mc:Choice>
              <mc:Fallback/>
            </mc:AlternateContent>
            <a:endParaRPr sz="1800"/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其中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func>
                        <m:funcPr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tan</m:t>
                          </m:r>
                        </m:fName>
                        <m:e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α=</m:t>
                          </m:r>
                          <m:f>
                            <m:fPr>
                              <m:ctrlPr>
                                <a:rPr lang="en-US" sz="1800" b="0" i="1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8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i"/>
                                    </m:rPr>
                                    <a:rPr lang="en-US" sz="18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Φ</m:t>
                                  </m:r>
                                </m:e>
                                <m:sub>
                                  <m:r>
                                    <m:rPr>
                                      <m:sty m:val="i"/>
                                    </m:rPr>
                                    <a:rPr lang="en-US" sz="18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D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18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i"/>
                                    </m:rPr>
                                    <a:rPr lang="en-US" sz="18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Φ</m:t>
                                  </m:r>
                                </m:e>
                                <m:sub>
                                  <m:r>
                                    <m:rPr>
                                      <m:sty m:val="i"/>
                                    </m:rPr>
                                    <a:rPr lang="en-US" sz="18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G</m:t>
                                  </m:r>
                                </m:sub>
                              </m:sSub>
                            </m:den>
                          </m:f>
                        </m:e>
                      </m:func>
                    </m:oMath>
                  </m:oMathPara>
                </a14:m>
              </mc:Choice>
              <mc:Fallback/>
            </mc:AlternateContent>
            <a:endParaRPr sz="1800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Φ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zh-CN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 是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t1</a:t>
            </a:r>
            <a:r>
              <a:rPr lang="zh-CN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 和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τ</m:t>
                      </m:r>
                    </m:oMath>
                  </m:oMathPara>
                </a14:m>
              </mc:Choice>
              <mc:Fallback/>
            </mc:AlternateContent>
            <a:r>
              <a:rPr lang="zh-CN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 的连续函数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-&gt;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ϕ</m:t>
                      </m:r>
                    </m:oMath>
                  </m:oMathPara>
                </a14:m>
              </mc:Choice>
              <mc:Fallback/>
            </mc:AlternateContent>
            <a:r>
              <a:rPr lang="zh-CN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 扫描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[</m:t>
                      </m:r>
                      <m:f>
                        <m:fPr>
                          <m:ctrl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π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m:rPr/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m:rPr>
                          <m:sty m:val="i"/>
                        </m:rPr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∞]</m:t>
                      </m:r>
                    </m:oMath>
                  </m:oMathPara>
                </a14:m>
              </mc:Choice>
              <mc:Fallback/>
            </mc:AlternateContent>
            <a:r>
              <a:rPr lang="en-US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α</m:t>
                      </m:r>
                    </m:oMath>
                  </m:oMathPara>
                </a14:m>
              </mc:Choice>
              <mc:Fallback/>
            </mc:AlternateContent>
            <a:r>
              <a:rPr lang="zh-CN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扫描 [0,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π</m:t>
                      </m:r>
                    </m:oMath>
                  </m:oMathPara>
                </a14:m>
              </mc:Choice>
              <mc:Fallback/>
            </mc:AlternateContent>
            <a:r>
              <a:rPr lang="zh-CN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/2]。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 在上面的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σ</m:t>
                      </m:r>
                    </m:oMath>
                  </m:oMathPara>
                </a14:m>
              </mc:Choice>
              <mc:Fallback/>
            </mc:AlternateContent>
            <a:r>
              <a:rPr lang="en-US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的约定下，意味着t1打开了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y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endParaRPr lang="en-US" sz="1800" b="0" i="0" u="none" strike="noStrike" cap="none" spc="0">
              <a:solidFill>
                <a:schemeClr val="tx1"/>
              </a:solidFill>
              <a:latin typeface="等线"/>
              <a:ea typeface="等线"/>
              <a:cs typeface="等线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但是想要实现完整的SO（3）的旋转，需要让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ϕ,α</m:t>
                      </m:r>
                    </m:oMath>
                  </m:oMathPara>
                </a14:m>
              </mc:Choice>
              <mc:Fallback/>
            </mc:AlternateContent>
            <a:r>
              <a:rPr lang="en-US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独立变化，也就是给出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i"/>
                        </m:rPr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↔ </m:t>
                      </m:r>
                      <m:sSub>
                        <m:sSubPr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i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i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z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en-US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项或者是t1分步变换等，这样可以调节所有参数。</a:t>
            </a:r>
            <a:endParaRPr sz="18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a:endParaRPr lang="en-US"/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0588357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399039" y="904591"/>
            <a:ext cx="11533187" cy="53546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3729533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312448" y="1758042"/>
            <a:ext cx="11533187" cy="4942794"/>
          </a:xfrm>
          <a:prstGeom prst="rect">
            <a:avLst/>
          </a:prstGeom>
        </p:spPr>
      </p:pic>
      <p:sp>
        <p:nvSpPr>
          <p:cNvPr id="880990878" name=""/>
          <p:cNvSpPr txBox="1"/>
          <p:nvPr/>
        </p:nvSpPr>
        <p:spPr bwMode="auto">
          <a:xfrm rot="0" flipH="0" flipV="0">
            <a:off x="1387227" y="380999"/>
            <a:ext cx="8463398" cy="378264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右图E</a:t>
            </a:r>
            <a:r>
              <a:rPr lang="en-US"/>
              <a:t>=0.01图只绘制了600个终点，终点是覆盖SO（3）球面的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925739" name=""/>
          <p:cNvSpPr txBox="1"/>
          <p:nvPr/>
        </p:nvSpPr>
        <p:spPr bwMode="auto">
          <a:xfrm rot="0" flipH="0" flipV="0">
            <a:off x="654444" y="970138"/>
            <a:ext cx="11006666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620244462" name=""/>
          <p:cNvSpPr txBox="1"/>
          <p:nvPr/>
        </p:nvSpPr>
        <p:spPr bwMode="auto">
          <a:xfrm rot="0" flipH="0" flipV="0">
            <a:off x="566248" y="1023054"/>
            <a:ext cx="3388828" cy="3733037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一般情况下</a:t>
            </a:r>
            <a:r>
              <a:rPr lang="en-US"/>
              <a:t>:</a:t>
            </a:r>
            <a:endParaRPr lang="en-US"/>
          </a:p>
          <a:p>
            <a:pPr>
              <a:defRPr/>
            </a:pPr>
            <a:endParaRPr/>
          </a:p>
          <a:p>
            <a:pPr>
              <a:defRPr/>
            </a:pP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按论文 Fig 1 的 参数设置:E1=0.01meV，</a:t>
            </a:r>
            <a:endParaRPr lang="en-US" sz="1800" b="0" i="0" u="none" strike="noStrike" cap="none" spc="0">
              <a:solidFill>
                <a:schemeClr val="tx1"/>
              </a:solidFill>
              <a:latin typeface="等线"/>
              <a:ea typeface="等线"/>
              <a:cs typeface="等线"/>
            </a:endParaRPr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en-US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=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en-US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=0.3 meV。</a:t>
            </a:r>
            <a:endParaRPr lang="en-US" sz="18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横轴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τ</m:t>
                      </m:r>
                      <m:r>
                        <m:rPr>
                          <m:sty m:val="p"/>
                        </m:rPr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 =0∼12</m:t>
                      </m:r>
                    </m:oMath>
                  </m:oMathPara>
                </a14:m>
              </mc:Choice>
              <mc:Fallback/>
            </mc:AlternateContent>
            <a:r>
              <a:rPr lang="en-US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  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（单位 100/meV，与论文一致），纵轴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lg</m:t>
                      </m:r>
                      <m:d>
                        <m:dPr>
                          <m:begChr m:val="("/>
                          <m:endChr m:val=")"/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8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8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t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8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18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/>
                                    <a:rPr lang="en-US" sz="18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E</m:t>
                                  </m:r>
                                </m:e>
                                <m:sub>
                                  <m:r>
                                    <m:rPr/>
                                    <a:rPr lang="en-US" sz="18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m:rPr/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=-1∼1</m:t>
                      </m:r>
                    </m:oMath>
                  </m:oMathPara>
                </a14:m>
              </mc:Choice>
              <mc:Fallback/>
            </mc:AlternateContent>
            <a:r>
              <a:rPr lang="en-US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，</a:t>
            </a:r>
            <a:endParaRPr lang="en-US" sz="1800" b="0" i="0" u="none" strike="noStrike" cap="none" spc="0">
              <a:solidFill>
                <a:schemeClr val="tx1"/>
              </a:solidFill>
              <a:latin typeface="等线"/>
              <a:ea typeface="等线"/>
              <a:cs typeface="等线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即 t1/E1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 从0.1到10。双次 swap（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6τ</m:t>
                      </m:r>
                    </m:oMath>
                  </m:oMathPara>
                </a14:m>
              </mc:Choice>
              <mc:Fallback/>
            </mc:AlternateContent>
            <a:r>
              <a:rPr lang="en-US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）。</a:t>
            </a:r>
            <a:endParaRPr lang="en-US" sz="1800" b="0" i="0" u="none" strike="noStrike" cap="none" spc="0">
              <a:solidFill>
                <a:schemeClr val="tx1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199172242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089303" y="775475"/>
            <a:ext cx="7805443" cy="55097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4641678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47699" y="1494895"/>
            <a:ext cx="10896599" cy="3762374"/>
          </a:xfrm>
          <a:prstGeom prst="rect">
            <a:avLst/>
          </a:prstGeom>
        </p:spPr>
      </p:pic>
      <p:sp>
        <p:nvSpPr>
          <p:cNvPr id="659074632" name=""/>
          <p:cNvSpPr txBox="1"/>
          <p:nvPr/>
        </p:nvSpPr>
        <p:spPr bwMode="auto">
          <a:xfrm rot="0" flipH="0" flipV="0">
            <a:off x="1335272" y="346363"/>
            <a:ext cx="10055192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3633892" name=""/>
          <p:cNvSpPr txBox="1"/>
          <p:nvPr/>
        </p:nvSpPr>
        <p:spPr bwMode="auto">
          <a:xfrm rot="0" flipH="0" flipV="0">
            <a:off x="1089428" y="281709"/>
            <a:ext cx="9651056" cy="7246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U</m:t>
                      </m:r>
                      <m:d>
                        <m:dPr>
                          <m:begChr m:val="("/>
                          <m:endChr m:val=")"/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6τ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=T exp(i</m:t>
                      </m:r>
                      <m:nary>
                        <m:naryPr>
                          <m:chr m:val="∫"/>
                          <m:grow m:val="off"/>
                          <m:limLoc m:val="subSup"/>
                          <m:ctrlPr>
                            <a:rPr lang="en-US" sz="18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m:rPr>
                              <m:sty m:val="i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  <m:sup>
                          <m:r>
                            <m:rPr>
                              <m:sty m:val="i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6τ</m:t>
                          </m:r>
                        </m:sup>
                        <m:e>
                          <m:sSub>
                            <m:sSubPr>
                              <m:ctrlPr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i"/>
                                </m:rPr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E</m:t>
                              </m:r>
                            </m:e>
                            <m:sub>
                              <m:r>
                                <m:rPr>
                                  <m:sty m:val="i"/>
                                </m:rPr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1,eff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z</m:t>
                          </m:r>
                        </m:sub>
                      </m:sSub>
                      <m:r>
                        <m:rPr/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  <m:sub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1,eff</m:t>
                          </m:r>
                        </m:sub>
                      </m:sSub>
                      <m:sSub>
                        <m:sSubPr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σ</m:t>
                          </m:r>
                        </m:e>
                        <m:sub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y</m:t>
                          </m:r>
                        </m:sub>
                      </m:sSub>
                      <m:r>
                        <m:rPr/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Ωσ</m:t>
                          </m:r>
                        </m:e>
                        <m:sub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sub>
                      </m:sSub>
                      <m:r>
                        <m:rPr/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</mc:Choice>
              <mc:Fallback/>
            </mc:AlternateContent>
            <a:endParaRPr/>
          </a:p>
        </p:txBody>
      </p:sp>
      <p:graphicFrame>
        <p:nvGraphicFramePr>
          <p:cNvPr id="1315580634" name=""/>
          <p:cNvGraphicFramePr>
            <a:graphicFrameLocks xmlns:a="http://schemas.openxmlformats.org/drawingml/2006/main"/>
          </p:cNvGraphicFramePr>
          <p:nvPr/>
        </p:nvGraphicFramePr>
        <p:xfrm>
          <a:off x="2031999" y="938645"/>
          <a:ext cx="8127999" cy="1525954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2031999"/>
                <a:gridCol w="2031999"/>
                <a:gridCol w="2031999"/>
                <a:gridCol w="2031999"/>
              </a:tblGrid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区域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sSub>
                                  <m:sSubPr>
                                    <m:ctrlPr>
                                      <a:rPr lang="zh-CN" sz="1800" u="none" strike="noStrike" cap="none" spc="0">
                                        <a:solidFill>
                                          <a:schemeClr val="lt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b"/>
                                      </m:rPr>
                                      <a:rPr lang="zh-CN" sz="1800" u="none" strike="noStrike" cap="none" spc="0">
                                        <a:solidFill>
                                          <a:schemeClr val="lt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m:rPr>
                                        <m:sty m:val="b"/>
                                      </m:rPr>
                                      <a:rPr lang="zh-CN" sz="1800" u="none" strike="noStrike" cap="none" spc="0">
                                        <a:solidFill>
                                          <a:schemeClr val="lt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eff</m:t>
                                    </m:r>
                                  </m:sub>
                                </m:sSub>
                              </m:oMath>
                            </m:oMathPara>
                          </a14:m>
                        </mc:Choice>
                        <mc:Fallback/>
                      </mc:AlternateContent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进动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振幅</a:t>
                      </a:r>
                      <a:endParaRPr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sSub>
                                  <m:sSubPr>
                                    <m:ctrlPr>
                                      <a:rPr lang="zh-CN" sz="1800" u="none" strike="noStrike" cap="none" spc="0">
                                        <a:solidFill>
                                          <a:schemeClr val="dk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sz="1800" u="none" strike="noStrike" cap="none" spc="0">
                                        <a:solidFill>
                                          <a:schemeClr val="dk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t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zh-CN" sz="1800" u="none" strike="noStrike" cap="none" spc="0">
                                        <a:solidFill>
                                          <a:schemeClr val="dk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sty m:val="i"/>
                                  </m:rPr>
                                  <a:rPr lang="zh-CN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≪</m:t>
                                </m:r>
                                <m:sSub>
                                  <m:sSubPr>
                                    <m:ctrlPr>
                                      <a:rPr lang="zh-CN" sz="1800" u="none" strike="noStrike" cap="none" spc="0">
                                        <a:solidFill>
                                          <a:schemeClr val="dk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i"/>
                                      </m:rPr>
                                      <a:rPr lang="zh-CN" sz="1800" u="none" strike="noStrike" cap="none" spc="0">
                                        <a:solidFill>
                                          <a:schemeClr val="dk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E</m:t>
                                    </m:r>
                                  </m:e>
                                  <m:sub>
                                    <m:r>
                                      <m:rPr>
                                        <m:sty m:val="i"/>
                                      </m:rPr>
                                      <a:rPr lang="zh-CN" sz="1800" u="none" strike="noStrike" cap="none" spc="0">
                                        <a:solidFill>
                                          <a:schemeClr val="dk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</mc:Choice>
                        <mc:Fallback/>
                      </mc:AlternateContent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r>
                                  <m:rPr>
                                    <m:sty m:val="p"/>
                                  </m:rPr>
                                  <a:rPr lang="zh-CN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≈</m:t>
                                </m:r>
                                <m:sSub>
                                  <m:sSubPr>
                                    <m:ctrlPr>
                                      <a:rPr lang="zh-CN" sz="1800" u="none" strike="noStrike" cap="none" spc="0">
                                        <a:solidFill>
                                          <a:schemeClr val="dk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sz="1800" u="none" strike="noStrike" cap="none" spc="0">
                                        <a:solidFill>
                                          <a:schemeClr val="dk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E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zh-CN" sz="1800" u="none" strike="noStrike" cap="none" spc="0">
                                        <a:solidFill>
                                          <a:schemeClr val="dk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zh-CN" sz="1800" u="none" strike="noStrike" cap="none" spc="0">
                                        <a:solidFill>
                                          <a:schemeClr val="dk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sz="1800" u="none" strike="noStrike" cap="none" spc="0">
                                        <a:solidFill>
                                          <a:schemeClr val="dk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σ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zh-CN" sz="1800" u="none" strike="noStrike" cap="none" spc="0">
                                        <a:solidFill>
                                          <a:schemeClr val="dk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z</m:t>
                                    </m:r>
                                  </m:sub>
                                </m:sSub>
                              </m:oMath>
                            </m:oMathPara>
                          </a14:m>
                        </mc:Choice>
                        <mc:Fallback/>
                      </mc:AlternateContent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近z轴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大</a:t>
                      </a:r>
                      <a:endParaRPr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sSub>
                                  <m:sSubPr>
                                    <m:ctrlPr>
                                      <a:rPr lang="zh-CN" sz="1800" u="none" strike="noStrike" cap="none" spc="0">
                                        <a:solidFill>
                                          <a:schemeClr val="dk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sz="1800" u="none" strike="noStrike" cap="none" spc="0">
                                        <a:solidFill>
                                          <a:schemeClr val="dk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t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zh-CN" sz="1800" u="none" strike="noStrike" cap="none" spc="0">
                                        <a:solidFill>
                                          <a:schemeClr val="dk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sty m:val="i"/>
                                  </m:rPr>
                                  <a:rPr lang="zh-CN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≫</m:t>
                                </m:r>
                                <m:sSub>
                                  <m:sSubPr>
                                    <m:ctrlPr>
                                      <a:rPr lang="zh-CN" sz="1800" u="none" strike="noStrike" cap="none" spc="0">
                                        <a:solidFill>
                                          <a:schemeClr val="dk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i"/>
                                      </m:rPr>
                                      <a:rPr lang="zh-CN" sz="1800" u="none" strike="noStrike" cap="none" spc="0">
                                        <a:solidFill>
                                          <a:schemeClr val="dk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E</m:t>
                                    </m:r>
                                  </m:e>
                                  <m:sub>
                                    <m:r>
                                      <m:rPr>
                                        <m:sty m:val="i"/>
                                      </m:rPr>
                                      <a:rPr lang="zh-CN" sz="1800" u="none" strike="noStrike" cap="none" spc="0">
                                        <a:solidFill>
                                          <a:schemeClr val="dk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</mc:Choice>
                        <mc:Fallback/>
                      </mc:AlternateContent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r>
                                  <m:rPr>
                                    <m:sty m:val="p"/>
                                  </m:rPr>
                                  <a:rPr lang="zh-CN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≈</m:t>
                                </m:r>
                                <m:sSub>
                                  <m:sSubPr>
                                    <m:ctrlPr>
                                      <a:rPr lang="zh-CN" sz="1800" u="none" strike="noStrike" cap="none" spc="0">
                                        <a:solidFill>
                                          <a:schemeClr val="dk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sz="1800" u="none" strike="noStrike" cap="none" spc="0">
                                        <a:solidFill>
                                          <a:schemeClr val="dk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t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zh-CN" sz="1800" u="none" strike="noStrike" cap="none" spc="0">
                                        <a:solidFill>
                                          <a:schemeClr val="dk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zh-CN" sz="1800" u="none" strike="noStrike" cap="none" spc="0">
                                        <a:solidFill>
                                          <a:schemeClr val="dk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sz="1800" u="none" strike="noStrike" cap="none" spc="0">
                                        <a:solidFill>
                                          <a:schemeClr val="dk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σ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zh-CN" sz="1800" u="none" strike="noStrike" cap="none" spc="0">
                                        <a:solidFill>
                                          <a:schemeClr val="dk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y</m:t>
                                    </m:r>
                                  </m:sub>
                                </m:sSub>
                              </m:oMath>
                            </m:oMathPara>
                          </a14:m>
                        </mc:Choice>
                        <mc:Fallback/>
                      </mc:AlternateContent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近y轴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小</a:t>
                      </a:r>
                      <a:endParaRPr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sSub>
                                  <m:sSubPr>
                                    <m:ctrlPr>
                                      <a:rPr lang="zh-CN" sz="1800" u="none" strike="noStrike" cap="none" spc="0">
                                        <a:solidFill>
                                          <a:schemeClr val="dk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sz="1800" u="none" strike="noStrike" cap="none" spc="0">
                                        <a:solidFill>
                                          <a:schemeClr val="dk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t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zh-CN" sz="1800" u="none" strike="noStrike" cap="none" spc="0">
                                        <a:solidFill>
                                          <a:schemeClr val="dk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sty m:val="i"/>
                                  </m:rPr>
                                  <a:rPr lang="zh-CN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≈</m:t>
                                </m:r>
                                <m:sSub>
                                  <m:sSubPr>
                                    <m:ctrlPr>
                                      <a:rPr lang="zh-CN" sz="1800" u="none" strike="noStrike" cap="none" spc="0">
                                        <a:solidFill>
                                          <a:schemeClr val="dk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i"/>
                                      </m:rPr>
                                      <a:rPr lang="zh-CN" sz="1800" u="none" strike="noStrike" cap="none" spc="0">
                                        <a:solidFill>
                                          <a:schemeClr val="dk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E</m:t>
                                    </m:r>
                                  </m:e>
                                  <m:sub>
                                    <m:r>
                                      <m:rPr>
                                        <m:sty m:val="i"/>
                                      </m:rPr>
                                      <a:rPr lang="zh-CN" sz="1800" u="none" strike="noStrike" cap="none" spc="0">
                                        <a:solidFill>
                                          <a:schemeClr val="dk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</mc:Choice>
                        <mc:Fallback/>
                      </mc:AlternateContent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都有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45</a:t>
                      </a: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r>
                                  <m:rPr>
                                    <m:sty m:val="p"/>
                                  </m:rPr>
                                  <a:rPr lang="en-US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°</m:t>
                                </m:r>
                              </m:oMath>
                            </m:oMathPara>
                          </a14:m>
                        </mc:Choice>
                        <mc:Fallback/>
                      </mc:AlternateContent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共振</a:t>
                      </a:r>
                      <a:endParaRPr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72025743" name=""/>
          <p:cNvSpPr txBox="1"/>
          <p:nvPr/>
        </p:nvSpPr>
        <p:spPr bwMode="auto">
          <a:xfrm rot="0" flipH="0" flipV="0">
            <a:off x="763772" y="2632226"/>
            <a:ext cx="11448294" cy="332055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对应的</a:t>
            </a:r>
            <a:r>
              <a:rPr lang="en-US"/>
              <a:t>，在我们的riccati ode里面， E1=0对应了A=D,现在不为0时：</a:t>
            </a:r>
            <a:endParaRPr lang="en-US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A-D=</m:t>
                      </m:r>
                      <m:sSub>
                        <m:sSubPr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i</m:t>
                      </m:r>
                    </m:oMath>
                  </m:oMathPara>
                </a14:m>
              </mc:Choice>
              <mc:Fallback/>
            </mc:AlternateContent>
            <a:r>
              <a:rPr lang="en-US"/>
              <a:t>,打破了</a:t>
            </a:r>
            <a:r>
              <a:rPr lang="en-US"/>
              <a:t>对称。进一步，由qBq项进行放大</a:t>
            </a:r>
            <a:r>
              <a:rPr lang="en-US"/>
              <a:t>.  (完整证明参考qbq.md）</a:t>
            </a:r>
            <a:endParaRPr lang="en-US"/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/>
              <a:t>简单说明如下：令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q=αi +βj+γk</m:t>
                      </m:r>
                    </m:oMath>
                  </m:oMathPara>
                </a14:m>
              </mc:Choice>
              <mc:Fallback/>
            </mc:AlternateContent>
            <a:r>
              <a:rPr lang="en-US"/>
              <a:t> ,完整展开qBq后，其中含有E1的分量为：</a:t>
            </a:r>
            <a:endParaRPr lang="en-US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=γ(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18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b="0" i="1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i"/>
                                </m:rPr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e>
                            <m:sub>
                              <m:r>
                                <m:rPr>
                                  <m:sty m:val="i"/>
                                </m:rPr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m:rPr/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α +(</m:t>
                      </m:r>
                      <m:sSub>
                        <m:sSubPr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  <m:sub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m:rPr/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18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b="0" i="1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i"/>
                                </m:rPr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e>
                            <m:sub>
                              <m:r>
                                <m:rPr>
                                  <m:sty m:val="i"/>
                                </m:rPr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m:rPr/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)β)</m:t>
                      </m:r>
                      <m:sSub>
                        <m:sSubPr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d>
                            <m:dPr>
                              <m:begChr m:val="("/>
                              <m:endChr m:val=")"/>
                              <m:ctrlPr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qBq</m:t>
                              </m:r>
                            </m:e>
                          </m:d>
                        </m:e>
                        <m:sub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endParaRPr lang="en-US"/>
          </a:p>
          <a:p>
            <a:pPr>
              <a:defRPr/>
            </a:pPr>
            <a:r>
              <a:rPr/>
              <a:t>而</a:t>
            </a:r>
            <a:r>
              <a:rPr lang="en-US"/>
              <a:t>在E1=0情形下的通解中，虽然可以写出如下式: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acc>
                        <m:accPr>
                          <m:chr m:val="̇"/>
                          <m:ctrlPr>
                            <a:rPr lang="en-US" sz="180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m:rPr>
                              <m:sty m:val="i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γ  </m:t>
                          </m:r>
                        </m:e>
                      </m:acc>
                      <m:r>
                        <m:rPr>
                          <m:sty m:val="p"/>
                        </m:rPr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18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b="0" i="1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i"/>
                                </m:rPr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e>
                            <m:sub>
                              <m:r>
                                <m:rPr>
                                  <m:sty m:val="i"/>
                                </m:rPr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β-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18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b="0" i="1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i"/>
                                </m:rPr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e>
                            <m:sub>
                              <m:r>
                                <m:rPr>
                                  <m:sty m:val="i"/>
                                </m:rPr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α</m:t>
                      </m:r>
                    </m:oMath>
                  </m:oMathPara>
                </a14:m>
              </mc:Choice>
              <mc:Fallback/>
            </mc:AlternateContent>
            <a:r>
              <a:rPr lang="en-US" b="1"/>
              <a:t>,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但此时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α,β</m:t>
                      </m:r>
                    </m:oMath>
                  </m:oMathPara>
                </a14:m>
              </mc:Choice>
              <mc:Fallback/>
            </mc:AlternateContent>
            <a:r>
              <a:rPr lang="en-US" sz="1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在A=D下等比例增长，因此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acc>
                        <m:accPr>
                          <m:chr m:val="̇"/>
                          <m:ctrlPr>
                            <a:rPr lang="en-US" sz="18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m:rPr>
                              <m:sty m:val="i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γ   </m:t>
                          </m:r>
                        </m:e>
                      </m:acc>
                      <m:r>
                        <m:rPr>
                          <m:sty m:val="b"/>
                        </m:rPr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≡ 0 , γ</m:t>
                      </m:r>
                      <m:r>
                        <m:rPr>
                          <m:sty m:val="b"/>
                        </m:rPr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≡0</m:t>
                      </m:r>
                    </m:oMath>
                  </m:oMathPara>
                </a14:m>
              </mc:Choice>
              <mc:Fallback/>
            </mc:AlternateContent>
            <a:r>
              <a:rPr lang="en-US" b="1"/>
              <a:t> </a:t>
            </a:r>
            <a:r>
              <a:rPr lang="en-US" b="0"/>
              <a:t>只有在E1不为0时，导数不恒为0.</a:t>
            </a:r>
            <a:endParaRPr b="0"/>
          </a:p>
          <a:p>
            <a:pPr>
              <a:defRPr/>
            </a:pPr>
            <a:r>
              <a:rPr lang="en-US"/>
              <a:t>最终合并，得到:</a:t>
            </a: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b="1"/>
          </a:p>
          <a:p>
            <a:pPr>
              <a:defRPr/>
            </a:pPr>
            <a:endParaRPr/>
          </a:p>
        </p:txBody>
      </p:sp>
      <p:pic>
        <p:nvPicPr>
          <p:cNvPr id="179200587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415077" y="5075093"/>
            <a:ext cx="4895849" cy="10001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Arial"/>
        <a:cs typeface="Arial"/>
      </a:majorFont>
      <a:minorFont>
        <a:latin typeface="等线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Arial"/>
        <a:cs typeface="Arial"/>
      </a:majorFont>
      <a:minorFont>
        <a:latin typeface="等线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26</Slides>
  <Notes>26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董洋</dc:creator>
  <cp:lastModifiedBy/>
  <cp:revision>428</cp:revision>
  <dcterms:created xsi:type="dcterms:W3CDTF">2020-08-21T00:34:25Z</dcterms:created>
  <dcterms:modified xsi:type="dcterms:W3CDTF">2026-06-16T19:09:14Z</dcterms:modified>
</cp:coreProperties>
</file>