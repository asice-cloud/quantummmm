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hyperlink" Target="https://ncatlab.org/nlab/show/Yang-Baxter+equ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6850" y="1322962"/>
            <a:ext cx="9144000" cy="2187001"/>
          </a:xfrm>
        </p:spPr>
        <p:txBody>
          <a:bodyPr>
            <a:normAutofit fontScale="90000"/>
          </a:bodyPr>
          <a:p>
            <a:r>
              <a:rPr lang="en-US">
                <a:latin typeface="FantasqueSansM Nerd Font Propo" panose="020B0609020204030204" charset="0"/>
                <a:cs typeface="FantasqueSansM Nerd Font Propo" panose="020B0609020204030204" charset="0"/>
              </a:rPr>
              <a:t>From Yang-Baxter to Kitaev(1D)</a:t>
            </a:r>
            <a:endParaRPr lang="en-US">
              <a:latin typeface="FantasqueSansM Nerd Font Propo" panose="020B0609020204030204" charset="0"/>
              <a:cs typeface="FantasqueSansM Nerd Font Propo" panose="020B0609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931347" y="3176841"/>
            <a:ext cx="309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/>
              <a:t>Contents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3200"/>
              <a:t>1. Solution of Yang-Baxter Equation</a:t>
            </a:r>
            <a:endParaRPr lang="en-US" sz="3200"/>
          </a:p>
          <a:p>
            <a:r>
              <a:rPr lang="zh-CN" altLang="en-US" i="1">
                <a:latin typeface="思源黑體" panose="020B0500000000000000" charset="-120"/>
                <a:ea typeface="思源黑體" panose="020B0500000000000000" charset="-120"/>
                <a:cs typeface="思源黑體" panose="020B0500000000000000" charset="-120"/>
              </a:rPr>
              <a:t>根据</a:t>
            </a:r>
            <a:r>
              <a:rPr lang="en-US" altLang="zh-CN" i="1">
                <a:latin typeface="思源黑體" panose="020B0500000000000000" charset="-120"/>
                <a:ea typeface="思源黑體" panose="020B0500000000000000" charset="-120"/>
                <a:cs typeface="思源黑體" panose="020B0500000000000000" charset="-120"/>
              </a:rPr>
              <a:t>SU(2)</a:t>
            </a:r>
            <a:r>
              <a:rPr lang="zh-CN" altLang="en-US" i="1">
                <a:latin typeface="思源黑體" panose="020B0500000000000000" charset="-120"/>
                <a:ea typeface="思源黑體" panose="020B0500000000000000" charset="-120"/>
                <a:cs typeface="思源黑體" panose="020B0500000000000000" charset="-120"/>
              </a:rPr>
              <a:t>对称下的解推广到一般情况</a:t>
            </a:r>
            <a:endParaRPr lang="en-US" i="1">
              <a:latin typeface="思源黑體" panose="020B0500000000000000" charset="-120"/>
              <a:ea typeface="思源黑體" panose="020B0500000000000000" charset="-120"/>
              <a:cs typeface="思源黑體" panose="020B0500000000000000" charset="-120"/>
            </a:endParaRPr>
          </a:p>
          <a:p>
            <a:r>
              <a:rPr lang="en-US" sz="3200"/>
              <a:t>2. Insert R to chain</a:t>
            </a:r>
            <a:endParaRPr lang="en-US" sz="3200"/>
          </a:p>
          <a:p>
            <a:r>
              <a:rPr lang="zh-CN" altLang="en-US" i="1"/>
              <a:t>由</a:t>
            </a:r>
            <a:r>
              <a:rPr lang="en-US" altLang="zh-CN" i="1"/>
              <a:t>YBE</a:t>
            </a:r>
            <a:r>
              <a:rPr lang="zh-CN" altLang="en-US" i="1"/>
              <a:t>和辫子群的关系将</a:t>
            </a:r>
            <a:r>
              <a:rPr lang="en-US" altLang="zh-CN" i="1"/>
              <a:t>R</a:t>
            </a:r>
            <a:r>
              <a:rPr lang="zh-CN" altLang="en-US" i="1"/>
              <a:t>嵌入到全链得到</a:t>
            </a:r>
            <a:r>
              <a:rPr lang="en-US" altLang="zh-CN" i="1"/>
              <a:t>R</a:t>
            </a:r>
            <a:r>
              <a:rPr lang="en-US" altLang="zh-CN" i="1" baseline="-25000"/>
              <a:t>i  </a:t>
            </a:r>
            <a:r>
              <a:rPr lang="zh-CN" altLang="en-US" i="1">
                <a:sym typeface="+mn-ea"/>
              </a:rPr>
              <a:t>，</a:t>
            </a:r>
            <a:r>
              <a:rPr lang="zh-CN" altLang="en-US" i="1"/>
              <a:t>进而得到</a:t>
            </a:r>
            <a:r>
              <a:rPr lang="en-US" altLang="zh-CN" i="1"/>
              <a:t>R</a:t>
            </a:r>
            <a:r>
              <a:rPr lang="en-US" altLang="zh-CN" i="1" baseline="-25000"/>
              <a:t>i,i+1</a:t>
            </a:r>
            <a:endParaRPr lang="en-US" i="1"/>
          </a:p>
          <a:p>
            <a:r>
              <a:rPr lang="en-US" sz="3200"/>
              <a:t>3. R to Kitaev </a:t>
            </a:r>
            <a:endParaRPr lang="en-US" sz="3200"/>
          </a:p>
          <a:p>
            <a:r>
              <a:rPr lang="zh-CN" altLang="en-US" i="1"/>
              <a:t>通过</a:t>
            </a:r>
            <a:r>
              <a:rPr lang="en-US" altLang="zh-CN" i="1"/>
              <a:t>Jordan-Wigner</a:t>
            </a:r>
            <a:r>
              <a:rPr lang="zh-CN" altLang="en-US" i="1"/>
              <a:t>变换将</a:t>
            </a:r>
            <a:r>
              <a:rPr lang="en-US" altLang="zh-CN" i="1"/>
              <a:t>R</a:t>
            </a:r>
            <a:r>
              <a:rPr lang="zh-CN" altLang="en-US" i="1"/>
              <a:t>的形式和</a:t>
            </a:r>
            <a:r>
              <a:rPr lang="en-US" altLang="zh-CN" i="1"/>
              <a:t>Kitaev</a:t>
            </a:r>
            <a:r>
              <a:rPr lang="zh-CN" altLang="en-US" i="1"/>
              <a:t>对应</a:t>
            </a:r>
            <a:endParaRPr lang="zh-CN" altLang="en-US" i="1"/>
          </a:p>
          <a:p>
            <a:r>
              <a:rPr lang="en-US" sz="3200"/>
              <a:t>4. Appendix</a:t>
            </a:r>
            <a:endParaRPr lang="en-US" sz="3200"/>
          </a:p>
          <a:p>
            <a:r>
              <a:rPr lang="zh-CN" altLang="en-US" sz="2000" i="1"/>
              <a:t>附录给出了YBE的解的约束</a:t>
            </a:r>
            <a:endParaRPr lang="zh-CN" altLang="en-US" sz="20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1. Solution of YBE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800" i="1"/>
              <a:t>借鉴文献</a:t>
            </a:r>
            <a:r>
              <a:rPr lang="en-US" altLang="en-US" sz="1800" i="1"/>
              <a:t>The Dynamical Yang-Baxter Equation, Representation Theory, and Quantum Integrable Systems</a:t>
            </a:r>
            <a:r>
              <a:rPr lang="zh-CN" altLang="en-US" sz="1800" i="1"/>
              <a:t>以及</a:t>
            </a:r>
            <a:r>
              <a:rPr lang="en-US" altLang="en-US" sz="1800" i="1"/>
              <a:t>nLab</a:t>
            </a:r>
            <a:r>
              <a:rPr lang="en-US" altLang="en-US" sz="1800" i="1">
                <a:sym typeface="+mn-ea"/>
              </a:rPr>
              <a:t> </a:t>
            </a:r>
            <a:r>
              <a:rPr lang="en-US" altLang="en-US" sz="1800" i="1">
                <a:sym typeface="+mn-ea"/>
                <a:hlinkClick r:id="rId1" action="ppaction://hlinkfile"/>
              </a:rPr>
              <a:t>https://ncatlab.org/nlab/show/Yang-Baxter+equation</a:t>
            </a:r>
            <a:endParaRPr lang="en-US" altLang="zh-CN" sz="1800" i="1">
              <a:hlinkClick r:id="rId1" action="ppaction://hlinkfile"/>
            </a:endParaRPr>
          </a:p>
          <a:p>
            <a:endParaRPr lang="zh-CN" altLang="en-US"/>
          </a:p>
          <a:p>
            <a:r>
              <a:rPr lang="en-US" altLang="en-US"/>
              <a:t>Quantum dynamical ybe (QDYBE)</a:t>
            </a:r>
            <a:r>
              <a:rPr lang="zh-CN" altLang="en-US"/>
              <a:t>的定义为：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文献给出了一个</a:t>
            </a:r>
            <a:r>
              <a:rPr lang="en-US" altLang="zh-CN"/>
              <a:t>general form</a:t>
            </a:r>
            <a:r>
              <a:rPr lang="zh-CN" altLang="en-US"/>
              <a:t>是形如：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5" y="3327400"/>
            <a:ext cx="7638415" cy="11982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5" y="5297170"/>
            <a:ext cx="7159625" cy="822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7700" y="276860"/>
                <a:ext cx="10515600" cy="5900420"/>
              </a:xfrm>
            </p:spPr>
            <p:txBody>
              <a:bodyPr/>
              <a:p>
                <a:r>
                  <a:rPr lang="zh-CN" altLang="en-US"/>
                  <a:t>如果</a:t>
                </a:r>
                <a:r>
                  <a:rPr lang="en-US" altLang="zh-CN"/>
                  <a:t>R</a:t>
                </a:r>
                <a:r>
                  <a:rPr lang="zh-CN" altLang="en-US"/>
                  <a:t>在</a:t>
                </a:r>
                <a:r>
                  <a:rPr lang="en-US" altLang="zh-CN"/>
                  <a:t>SU(2)</a:t>
                </a:r>
                <a:r>
                  <a:rPr lang="zh-CN" altLang="en-US"/>
                  <a:t>作用下保持不变，即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(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𝑈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⨂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𝑈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)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𝑅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(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𝑈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†⨂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𝑈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†)=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𝑅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, 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𝑈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∈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𝑆𝑈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(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2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)</m:t>
                    </m:r>
                  </m:oMath>
                </a14:m>
                <a:r>
                  <a:rPr lang="en-US" altLang="zh-CN"/>
                  <a:t> , 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得出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𝑅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=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𝑎</m:t>
                    </m:r>
                    <m:sSub>
                      <m:sSub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+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𝑏</m:t>
                    </m:r>
                    <m:sSub>
                      <m:sSub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Noto Sans Math" charset="0"/>
                    <a:cs typeface="Noto Sans Math" charset="0"/>
                  </a:rPr>
                  <a:t>的形式，</a:t>
                </a:r>
                <a:r>
                  <a:rPr lang="en-US" altLang="zh-CN">
                    <a:latin typeface="Noto Sans Math" charset="0"/>
                    <a:cs typeface="Noto Sans Math" charset="0"/>
                  </a:rPr>
                  <a:t>P</a:t>
                </a:r>
                <a:r>
                  <a:rPr lang="zh-CN" altLang="en-US">
                    <a:latin typeface="Noto Sans Math" charset="0"/>
                    <a:cs typeface="Noto Sans Math" charset="0"/>
                  </a:rPr>
                  <a:t>对应着投影到对称、反对称部分，即</a:t>
                </a:r>
                <a:r>
                  <a:rPr lang="en-US" altLang="zh-CN">
                    <a:latin typeface="Noto Sans Math" charset="0"/>
                    <a:cs typeface="Noto Sans Math" charset="0"/>
                  </a:rPr>
                  <a:t>SU(2)</a:t>
                </a:r>
                <a:r>
                  <a:rPr lang="zh-CN" altLang="en-US">
                    <a:latin typeface="Noto Sans Math" charset="0"/>
                    <a:cs typeface="Noto Sans Math" charset="0"/>
                  </a:rPr>
                  <a:t>群的分解</a:t>
                </a:r>
                <a:r>
                  <a:rPr lang="en-US" altLang="zh-CN">
                    <a:latin typeface="Noto Sans Math" charset="0"/>
                    <a:cs typeface="Noto Sans Math" charset="0"/>
                  </a:rPr>
                  <a:t>(2*2=3+1)</a:t>
                </a:r>
                <a:endParaRPr lang="en-US" altLang="zh-CN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endParaRPr lang="en-US" altLang="zh-CN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latin typeface="Noto Sans Math" charset="0"/>
                    <a:cs typeface="Noto Sans Math" charset="0"/>
                  </a:rPr>
                  <a:t>借助这个例子，将</a:t>
                </a:r>
                <a:r>
                  <a:rPr lang="en-US" altLang="zh-CN">
                    <a:latin typeface="Noto Sans Math" charset="0"/>
                    <a:cs typeface="Noto Sans Math" charset="0"/>
                  </a:rPr>
                  <a:t>R</a:t>
                </a:r>
                <a:r>
                  <a:rPr lang="zh-CN" altLang="en-US">
                    <a:latin typeface="Noto Sans Math" charset="0"/>
                    <a:cs typeface="Noto Sans Math" charset="0"/>
                  </a:rPr>
                  <a:t>写成了</a:t>
                </a:r>
                <a:endParaRPr lang="zh-CN" altLang="en-US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𝑅</m:t>
                      </m:r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=</m:t>
                      </m:r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𝑎𝐼</m:t>
                      </m:r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+</m:t>
                      </m:r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𝑏</m:t>
                      </m:r>
                      <m:sSup>
                        <m:sSupPr>
                          <m:ctrlP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⨂</m:t>
                      </m:r>
                      <m:sSup>
                        <m:sSupPr>
                          <m:ctrlP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+</m:t>
                      </m:r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𝑐</m:t>
                      </m:r>
                      <m:sSup>
                        <m:sSupPr>
                          <m:ctrlP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𝑦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⨂</m:t>
                          </m:r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𝑦</m:t>
                          </m:r>
                        </m:sup>
                      </m:sSup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+</m:t>
                      </m:r>
                      <m:r>
                        <a:rPr lang="en-US" altLang="zh-CN" i="1">
                          <a:latin typeface="Noto Sans Math" charset="0"/>
                          <a:cs typeface="Noto Sans Math" charset="0"/>
                        </a:rPr>
                        <m:t>𝑑</m:t>
                      </m:r>
                      <m:sSup>
                        <m:sSupPr>
                          <m:ctrlP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𝑧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⨂</m:t>
                          </m:r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Noto Sans Math" charset="0"/>
                              <a:cs typeface="Noto Sans Math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latin typeface="Noto Sans Math" charset="0"/>
                    <a:cs typeface="Noto Sans Math" charset="0"/>
                  </a:rPr>
                  <a:t>的形式</a:t>
                </a:r>
                <a:r>
                  <a:rPr lang="en-US" altLang="zh-CN">
                    <a:latin typeface="Noto Sans Math" charset="0"/>
                    <a:cs typeface="Noto Sans Math" charset="0"/>
                  </a:rPr>
                  <a:t>(</a:t>
                </a:r>
                <a:r>
                  <a:rPr lang="zh-CN" altLang="en-US">
                    <a:latin typeface="Noto Sans Math" charset="0"/>
                    <a:cs typeface="Noto Sans Math" charset="0"/>
                  </a:rPr>
                  <a:t>下文都会把张量积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𝜎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⨂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𝜎</m:t>
                    </m:r>
                  </m:oMath>
                </a14:m>
                <a:r>
                  <a:rPr lang="zh-CN" altLang="en-US">
                    <a:latin typeface="Noto Sans Math" charset="0"/>
                    <a:cs typeface="Noto Sans Math" charset="0"/>
                  </a:rPr>
                  <a:t>简写做了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𝜎𝜎</m:t>
                    </m:r>
                  </m:oMath>
                </a14:m>
                <a:r>
                  <a:rPr lang="en-US" altLang="zh-CN">
                    <a:latin typeface="Noto Sans Math" charset="0"/>
                    <a:cs typeface="Noto Sans Math" charset="0"/>
                  </a:rPr>
                  <a:t>) , </a:t>
                </a:r>
                <a:r>
                  <a:rPr lang="zh-CN" altLang="en-US">
                    <a:latin typeface="Noto Sans Math" charset="0"/>
                    <a:cs typeface="Noto Sans Math" charset="0"/>
                  </a:rPr>
                  <a:t>然后考虑满足</a:t>
                </a:r>
                <a:r>
                  <a:rPr lang="en-US" altLang="en-US">
                    <a:latin typeface="Noto Sans Math" charset="0"/>
                    <a:cs typeface="Noto Sans Math" charset="0"/>
                  </a:rPr>
                  <a:t>QDYBE</a:t>
                </a:r>
                <a:r>
                  <a:rPr lang="zh-CN" altLang="en-US">
                    <a:latin typeface="Noto Sans Math" charset="0"/>
                    <a:cs typeface="Noto Sans Math" charset="0"/>
                  </a:rPr>
                  <a:t>的约束</a:t>
                </a:r>
                <a:r>
                  <a:rPr lang="en-US" altLang="en-US">
                    <a:latin typeface="Noto Sans Math" charset="0"/>
                    <a:cs typeface="Noto Sans Math" charset="0"/>
                  </a:rPr>
                  <a:t>(</a:t>
                </a:r>
                <a:r>
                  <a:rPr lang="zh-CN" altLang="en-US">
                    <a:latin typeface="Noto Sans Math" charset="0"/>
                    <a:cs typeface="Noto Sans Math" charset="0"/>
                  </a:rPr>
                  <a:t>在最后面部分给出）。相比之前的四元数模型，是将控制门形式改写成了现在的相互作用形式。然后根据</a:t>
                </a:r>
                <a:endParaRPr lang="zh-CN" altLang="en-US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Noto Sans Math" charset="0"/>
                  <a:cs typeface="Noto Sans Math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Noto Sans Math" charset="0"/>
                  <a:cs typeface="Noto Sans Math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276860"/>
                <a:ext cx="10515600" cy="590042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" y="3429000"/>
            <a:ext cx="10088880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2. </a:t>
            </a:r>
            <a:r>
              <a:rPr lang="zh-CN" altLang="en-US"/>
              <a:t>推广</a:t>
            </a:r>
            <a:r>
              <a:rPr lang="en-US"/>
              <a:t>R</a:t>
            </a:r>
            <a:r>
              <a:rPr lang="zh-CN" altLang="en-US"/>
              <a:t>到全链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 b="1"/>
                  <a:t>首先是从</a:t>
                </a:r>
                <a:r>
                  <a:rPr lang="en-US" altLang="zh-CN" b="1"/>
                  <a:t>R</a:t>
                </a:r>
                <a:r>
                  <a:rPr lang="en-US" altLang="zh-CN" b="1" baseline="-25000"/>
                  <a:t>i</a:t>
                </a:r>
                <a:r>
                  <a:rPr lang="zh-CN" altLang="en-US" b="1"/>
                  <a:t>到</a:t>
                </a:r>
                <a:r>
                  <a:rPr lang="en-US" altLang="zh-CN" b="1"/>
                  <a:t>R</a:t>
                </a:r>
                <a:r>
                  <a:rPr lang="en-US" altLang="zh-CN" b="1" baseline="-25000"/>
                  <a:t>i,i+1</a:t>
                </a:r>
                <a:endParaRPr lang="en-US" altLang="zh-CN" b="1"/>
              </a:p>
              <a:p>
                <a:pPr marL="0" indent="0">
                  <a:buNone/>
                </a:pPr>
                <a:r>
                  <a:rPr lang="zh-CN" altLang="en-US"/>
                  <a:t>格点体系的全</a:t>
                </a:r>
                <a:r>
                  <a:rPr lang="en-US" altLang="en-US"/>
                  <a:t> Hilbert </a:t>
                </a:r>
                <a:r>
                  <a:rPr lang="zh-CN" altLang="en-US"/>
                  <a:t>空间为单点态空间</a:t>
                </a:r>
                <a:r>
                  <a:rPr lang="en-US" altLang="zh-CN"/>
                  <a:t>V</a:t>
                </a:r>
                <a:r>
                  <a:rPr lang="zh-CN" altLang="en-US"/>
                  <a:t>的张量积</a:t>
                </a:r>
                <a:r>
                  <a:rPr lang="en-US" altLang="zh-CN"/>
                  <a:t>V</a:t>
                </a:r>
                <a14:m>
                  <m:oMath xmlns:m="http://schemas.openxmlformats.org/officeDocument/2006/math">
                    <m:r>
                      <a:rPr lang="en-US" altLang="zh-CN" i="1" baseline="30000">
                        <a:latin typeface="Noto Sans Math" charset="0"/>
                        <a:cs typeface="Noto Sans Math" charset="0"/>
                      </a:rPr>
                      <m:t>⨂</m:t>
                    </m:r>
                  </m:oMath>
                </a14:m>
                <a:r>
                  <a:rPr lang="en-US" altLang="zh-CN" baseline="30000"/>
                  <a:t>L</a:t>
                </a:r>
                <a:r>
                  <a:rPr lang="en-US" altLang="zh-CN"/>
                  <a:t>, </a:t>
                </a:r>
                <a:r>
                  <a:rPr lang="zh-CN" altLang="en-US"/>
                  <a:t>任意的作用在两点上的算符</a:t>
                </a:r>
                <a:r>
                  <a:rPr lang="en-US" altLang="zh-CN"/>
                  <a:t>R,</a:t>
                </a:r>
                <a:r>
                  <a:rPr lang="zh-CN" altLang="en-US"/>
                  <a:t>写作</a:t>
                </a:r>
                <a:endParaRPr lang="zh-CN" altLang="en-US"/>
              </a:p>
              <a:p>
                <a:pPr marL="0" indent="0">
                  <a:buNone/>
                </a:pPr>
                <a:r>
                  <a:rPr lang="en-US" altLang="zh-CN"/>
                  <a:t>R: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𝑉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⨂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𝑉</m:t>
                    </m:r>
                  </m:oMath>
                </a14:m>
                <a:r>
                  <a:rPr lang="en-US" altLang="zh-CN"/>
                  <a:t> -&gt;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𝑉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⨂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𝑉</m:t>
                    </m:r>
                  </m:oMath>
                </a14:m>
                <a:r>
                  <a:rPr lang="en-US" altLang="zh-CN"/>
                  <a:t>  </a:t>
                </a:r>
                <a:r>
                  <a:rPr lang="zh-CN" altLang="en-US"/>
                  <a:t>，</a:t>
                </a:r>
                <a:r>
                  <a:rPr lang="en-US" altLang="zh-CN"/>
                  <a:t>可唯一嵌入到全链为局域算符</a:t>
                </a:r>
                <a:r>
                  <a:rPr lang="zh-CN" altLang="en-US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Noto Sans Math" charset="0"/>
                          </a:rPr>
                          <m:t>𝑖</m:t>
                        </m:r>
                        <m:r>
                          <a:rPr lang="en-US" i="1">
                            <a:latin typeface="Noto Sans Math" charset="0"/>
                          </a:rPr>
                          <m:t>,</m:t>
                        </m:r>
                        <m:r>
                          <a:rPr lang="en-US" i="1">
                            <a:latin typeface="Noto Sans Math" charset="0"/>
                          </a:rPr>
                          <m:t>𝑖</m:t>
                        </m:r>
                        <m:r>
                          <a:rPr lang="en-US" i="1">
                            <a:latin typeface="Noto Sans Math" charset="0"/>
                          </a:rPr>
                          <m:t>+</m:t>
                        </m:r>
                        <m:r>
                          <a:rPr lang="en-US" i="1">
                            <a:latin typeface="Noto Sans Math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𝐼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⨂(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𝑖−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1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⨂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𝑅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⨂</m:t>
                    </m:r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𝐼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⨂(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𝑛−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𝑖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−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1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)</m:t>
                        </m:r>
                      </m:sup>
                    </m:sSup>
                  </m:oMath>
                </a14:m>
                <a:endParaRPr lang="zh-CN" altLang="en-US"/>
              </a:p>
              <a:p>
                <a:pPr marL="0" indent="0">
                  <a:buNone/>
                </a:pPr>
                <a:r>
                  <a:rPr lang="zh-CN" altLang="en-US"/>
                  <a:t>作用在第</a:t>
                </a:r>
                <a:r>
                  <a:rPr lang="en-US" altLang="en-US"/>
                  <a:t> i, i+1 </a:t>
                </a:r>
                <a:r>
                  <a:rPr lang="zh-CN" altLang="en-US"/>
                  <a:t>位用张量积表示</a:t>
                </a:r>
                <a:r>
                  <a:rPr lang="en-US" altLang="en-US"/>
                  <a:t>,</a:t>
                </a:r>
                <a:r>
                  <a:rPr lang="zh-CN" altLang="en-US"/>
                  <a:t>是局域两体算符。</a:t>
                </a:r>
                <a:endParaRPr lang="zh-CN" altLang="en-US"/>
              </a:p>
              <a:p>
                <a:pPr marL="0" indent="0">
                  <a:buNone/>
                </a:pPr>
                <a:endParaRPr lang="zh-CN" altLang="en-US"/>
              </a:p>
              <a:p>
                <a:pPr marL="0" indent="0">
                  <a:buNone/>
                </a:pPr>
                <a:r>
                  <a:rPr lang="zh-CN" altLang="en-US"/>
                  <a:t>如果</a:t>
                </a:r>
                <a:r>
                  <a:rPr lang="en-US" altLang="zh-CN"/>
                  <a:t>R</a:t>
                </a:r>
                <a:r>
                  <a:rPr lang="zh-CN" altLang="en-US"/>
                  <a:t>满足</a:t>
                </a:r>
                <a:r>
                  <a:rPr lang="en-US" altLang="en-US"/>
                  <a:t> Yang–Baxter </a:t>
                </a:r>
                <a:r>
                  <a:rPr lang="zh-CN" altLang="en-US"/>
                  <a:t>方程，则这些局域嵌入满足局域</a:t>
                </a:r>
                <a:r>
                  <a:rPr lang="en-US" altLang="en-US"/>
                  <a:t> YBE,YBE</a:t>
                </a:r>
                <a:r>
                  <a:rPr lang="zh-CN" altLang="en-US"/>
                  <a:t>，从而给出</a:t>
                </a:r>
                <a:r>
                  <a:rPr lang="en-US" altLang="en-US"/>
                  <a:t> braid‑group </a:t>
                </a:r>
                <a:r>
                  <a:rPr lang="zh-CN" altLang="en-US"/>
                  <a:t>的表示和可积传输矩阵的局部生成元</a:t>
                </a:r>
                <a:r>
                  <a:rPr lang="en-US" altLang="zh-CN"/>
                  <a:t>,</a:t>
                </a:r>
                <a:r>
                  <a:rPr lang="zh-CN" altLang="en-US"/>
                  <a:t>也就是上文</a:t>
                </a:r>
                <a:r>
                  <a:rPr lang="en-US" altLang="zh-CN"/>
                  <a:t>Braid representations</a:t>
                </a:r>
                <a:r>
                  <a:rPr lang="zh-CN" altLang="en-US"/>
                  <a:t>代数依据</a:t>
                </a:r>
                <a:r>
                  <a:rPr lang="en-US" altLang="zh-CN"/>
                  <a:t>.</a:t>
                </a:r>
                <a:endParaRPr lang="en-US" altLang="zh-CN"/>
              </a:p>
              <a:p>
                <a:pPr marL="0" indent="0">
                  <a:buNone/>
                </a:pPr>
                <a:endParaRPr lang="en-US" altLang="zh-CN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409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使用</a:t>
            </a:r>
            <a:r>
              <a:rPr lang="en-US" altLang="zh-CN"/>
              <a:t>Jordan-Wigner</a:t>
            </a:r>
            <a:r>
              <a:rPr lang="zh-CN" altLang="en-US"/>
              <a:t>变换到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这一部分在</a:t>
                </a:r>
                <a:r>
                  <a:rPr lang="en-US" altLang="en-US"/>
                  <a:t> Jordan–Wigner</a:t>
                </a:r>
                <a:r>
                  <a:rPr lang="zh-CN" altLang="en-US"/>
                  <a:t>映射与链上求和约定下，证明对于</a:t>
                </a:r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  <a:p>
                <a:r>
                  <a:rPr lang="zh-CN" altLang="en-US"/>
                  <a:t>在现在的模型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 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𝑅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=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𝑎𝐼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+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𝑏</m:t>
                    </m:r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⨂</m:t>
                    </m:r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+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𝑐</m:t>
                    </m:r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⨂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𝑦</m:t>
                        </m:r>
                      </m:sup>
                    </m:sSup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+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𝑑</m:t>
                    </m:r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𝑧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⨂</m:t>
                        </m:r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Noto Sans Math" charset="0"/>
                            <a:cs typeface="Noto Sans Math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US" altLang="zh-CN" i="1">
                    <a:latin typeface="Noto Sans Math" charset="0"/>
                    <a:cs typeface="Noto Sans Math" charset="0"/>
                  </a:rPr>
                  <a:t> </a:t>
                </a:r>
                <a:r>
                  <a:rPr lang="zh-CN" altLang="en-US"/>
                  <a:t>下，得到</a:t>
                </a:r>
                <a:endParaRPr lang="zh-CN" altLang="en-US"/>
              </a:p>
              <a:p>
                <a:pPr marL="0" indent="0">
                  <a:buNone/>
                </a:pPr>
                <a:r>
                  <a:rPr lang="en-US" altLang="zh-CN">
                    <a:latin typeface="Noto Sans Math" charset="0"/>
                    <a:cs typeface="Noto Sans Math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𝑡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∝(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𝑏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+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𝑐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) , 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𝛥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∝(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𝑏−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𝑐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),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𝜇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的</m:t>
                    </m:r>
                  </m:oMath>
                </a14:m>
                <a:r>
                  <a:rPr lang="zh-CN" altLang="en-US"/>
                  <a:t>线性部分由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𝑎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,</m:t>
                    </m:r>
                    <m:r>
                      <a:rPr lang="en-US" altLang="zh-CN" i="1">
                        <a:latin typeface="Noto Sans Math" charset="0"/>
                        <a:cs typeface="Noto Sans Math" charset="0"/>
                      </a:rPr>
                      <m:t>𝑑</m:t>
                    </m:r>
                  </m:oMath>
                </a14:m>
                <a:r>
                  <a:rPr lang="zh-CN" altLang="en-US"/>
                  <a:t>给出（可被重整化）</a:t>
                </a:r>
                <a:endParaRPr lang="zh-CN" altLang="en-US"/>
              </a:p>
              <a:p>
                <a:pPr marL="0" indent="0">
                  <a:buNone/>
                </a:pPr>
                <a:r>
                  <a:rPr lang="zh-CN" altLang="en-US" i="1">
                    <a:latin typeface="Noto Sans Math" charset="0"/>
                    <a:cs typeface="Noto Sans Math" charset="0"/>
                  </a:rPr>
                  <a:t>并给出常数因子在常见归一化下的具体值。</a:t>
                </a:r>
                <a:endParaRPr lang="zh-CN" altLang="en-US" i="1">
                  <a:latin typeface="Noto Sans Math" charset="0"/>
                  <a:cs typeface="Noto Sans Math" charset="0"/>
                </a:endParaRPr>
              </a:p>
              <a:p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409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70" y="2363470"/>
            <a:ext cx="977646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WPS Presentation</Application>
  <PresentationFormat>宽屏</PresentationFormat>
  <Paragraphs>59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Liberation Sans</vt:lpstr>
      <vt:lpstr>FantasqueSansM Nerd Font Propo</vt:lpstr>
      <vt:lpstr>思源黑體</vt:lpstr>
      <vt:lpstr>Noto Sans Math</vt:lpstr>
      <vt:lpstr>Microsoft YaHei</vt:lpstr>
      <vt:lpstr>思源黑体</vt:lpstr>
      <vt:lpstr>Arial Unicode MS</vt:lpstr>
      <vt:lpstr>Arial Black</vt:lpstr>
      <vt:lpstr>SimSun</vt:lpstr>
      <vt:lpstr>SimSun</vt:lpstr>
      <vt:lpstr>AurulentSansM Nerd Font</vt:lpstr>
      <vt:lpstr>Office Theme</vt:lpstr>
      <vt:lpstr>From Yang-Baxter to Kitaev(1D)</vt:lpstr>
      <vt:lpstr>Contents</vt:lpstr>
      <vt:lpstr>1. Solution of YBE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没有名字</cp:lastModifiedBy>
  <cp:revision>39</cp:revision>
  <dcterms:created xsi:type="dcterms:W3CDTF">2026-03-30T16:30:35Z</dcterms:created>
  <dcterms:modified xsi:type="dcterms:W3CDTF">2026-03-30T16:30:35Z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1033-12.1.2.24730</vt:lpwstr>
  </property>
  <property fmtid="{D5CDD505-2E9C-101B-9397-08002B2CF9AE}" pid="3" name="ICV">
    <vt:lpwstr>95B87286B5874217B0A0CEBF0C253FC4_13</vt:lpwstr>
  </property>
</Properties>
</file>